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32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7559675" cy="10691813"/>
  <p:embeddedFontLst>
    <p:embeddedFont>
      <p:font typeface="Arimo Bold"/>
    </p:embeddedFont>
    <p:embeddedFont>
      <p:font typeface="Corben"/>
      <p:regular r:id="rId15"/>
    </p:embeddedFont>
    <p:embeddedFont>
      <p:font typeface="Microsoft YaHei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_1_Corben_Regular.fntdata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30AF55-8ED3-48EE-91E0-FEEF75DF57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8C9E1D-0E7C-4551-B716-74F009CC6E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401840-7800-4DFE-A753-24D9B559F7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D1BEC-8FF4-4025-AB66-699A2D304E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559B46-7331-4E9C-B111-3F4890B429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FDCB87-6D5F-4F60-8294-CD9D3BB9D3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E641E1-6F45-46F9-9B46-AA8A8E0CC3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BAFBC6-C17E-4571-A903-46DB7651D1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3C0998-46CA-4862-AA9B-243A77A562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7DC1BF-CE75-45BE-8C08-3EAE0FB7DA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D7C40F-FCDE-4A04-BEB3-E543367585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sv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 descr="preencoded.png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Group 3"/>
          <p:cNvGrpSpPr/>
          <p:nvPr/>
        </p:nvGrpSpPr>
        <p:grpSpPr>
          <a:xfrm>
            <a:off x="0" y="0"/>
            <a:ext cx="18287640" cy="10477080"/>
            <a:chOff x="0" y="0"/>
            <a:chExt cx="18287640" cy="10477080"/>
          </a:xfrm>
        </p:grpSpPr>
        <p:sp>
          <p:nvSpPr>
            <p:cNvPr id="63" name="Freeform 4"/>
            <p:cNvSpPr/>
            <p:nvPr/>
          </p:nvSpPr>
          <p:spPr>
            <a:xfrm>
              <a:off x="0" y="0"/>
              <a:ext cx="18287640" cy="1047708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477080"/>
                <a:gd name="textAreaBottom" fmla="*/ 10477440 h 10477080"/>
              </a:gdLst>
              <a:ahLst/>
              <a:cxnLst/>
              <a:rect l="textAreaLeft" t="textAreaTop" r="textAreaRight" b="textAreaBottom"/>
              <a:pathLst>
                <a:path w="23940655" h="13716000">
                  <a:moveTo>
                    <a:pt x="0" y="0"/>
                  </a:moveTo>
                  <a:lnTo>
                    <a:pt x="23940655" y="0"/>
                  </a:lnTo>
                  <a:lnTo>
                    <a:pt x="2394065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Freeform 5" descr="preencoded.png"/>
          <p:cNvSpPr/>
          <p:nvPr/>
        </p:nvSpPr>
        <p:spPr>
          <a:xfrm>
            <a:off x="0" y="0"/>
            <a:ext cx="6857640" cy="10286640"/>
          </a:xfrm>
          <a:custGeom>
            <a:avLst/>
            <a:gdLst>
              <a:gd name="textAreaLeft" fmla="*/ 0 w 6857640"/>
              <a:gd name="textAreaRight" fmla="*/ 6858000 w 685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5" name="Group 6"/>
          <p:cNvGrpSpPr/>
          <p:nvPr/>
        </p:nvGrpSpPr>
        <p:grpSpPr>
          <a:xfrm>
            <a:off x="7813800" y="2018520"/>
            <a:ext cx="9445320" cy="2039040"/>
            <a:chOff x="7813800" y="2018520"/>
            <a:chExt cx="9445320" cy="2039040"/>
          </a:xfrm>
        </p:grpSpPr>
        <p:sp>
          <p:nvSpPr>
            <p:cNvPr id="66" name="Freeform 7"/>
            <p:cNvSpPr/>
            <p:nvPr/>
          </p:nvSpPr>
          <p:spPr>
            <a:xfrm>
              <a:off x="7813800" y="2040120"/>
              <a:ext cx="9445320" cy="2017440"/>
            </a:xfrm>
            <a:custGeom>
              <a:avLst/>
              <a:gdLst>
                <a:gd name="textAreaLeft" fmla="*/ 0 w 9445320"/>
                <a:gd name="textAreaRight" fmla="*/ 9445680 w 9445320"/>
                <a:gd name="textAreaTop" fmla="*/ 0 h 2017440"/>
                <a:gd name="textAreaBottom" fmla="*/ 2017800 h 2017440"/>
              </a:gdLst>
              <a:ahLst/>
              <a:cxnLst/>
              <a:rect l="textAreaLeft" t="textAreaTop" r="textAreaRight" b="textAreaBottom"/>
              <a:pathLst>
                <a:path w="12594035" h="2690542">
                  <a:moveTo>
                    <a:pt x="0" y="0"/>
                  </a:moveTo>
                  <a:lnTo>
                    <a:pt x="12594035" y="0"/>
                  </a:lnTo>
                  <a:lnTo>
                    <a:pt x="12594035" y="2690542"/>
                  </a:lnTo>
                  <a:lnTo>
                    <a:pt x="0" y="269054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TextBox 8"/>
            <p:cNvSpPr/>
            <p:nvPr/>
          </p:nvSpPr>
          <p:spPr>
            <a:xfrm>
              <a:off x="7813800" y="2018520"/>
              <a:ext cx="9445320" cy="203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7495"/>
                </a:lnSpc>
              </a:pPr>
              <a:r>
                <a:rPr lang="en-US" sz="5980" b="0" u="none" strike="noStrike">
                  <a:solidFill>
                    <a:srgbClr val="1b1b27"/>
                  </a:solidFill>
                  <a:effectLst/>
                  <a:uFillTx/>
                  <a:latin typeface="Corben"/>
                  <a:ea typeface="Corben"/>
                </a:rPr>
                <a:t>AI  RESUME  ANALYZER</a:t>
              </a:r>
              <a:endParaRPr lang="en-IN" sz="598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roup 9"/>
          <p:cNvGrpSpPr/>
          <p:nvPr/>
        </p:nvGrpSpPr>
        <p:grpSpPr>
          <a:xfrm>
            <a:off x="7850160" y="4698360"/>
            <a:ext cx="9445320" cy="666360"/>
            <a:chOff x="7850160" y="4698360"/>
            <a:chExt cx="9445320" cy="666360"/>
          </a:xfrm>
        </p:grpSpPr>
        <p:sp>
          <p:nvSpPr>
            <p:cNvPr id="69" name="Freeform 10"/>
            <p:cNvSpPr/>
            <p:nvPr/>
          </p:nvSpPr>
          <p:spPr>
            <a:xfrm>
              <a:off x="7850160" y="4798080"/>
              <a:ext cx="9445320" cy="566640"/>
            </a:xfrm>
            <a:custGeom>
              <a:avLst/>
              <a:gdLst>
                <a:gd name="textAreaLeft" fmla="*/ 0 w 9445320"/>
                <a:gd name="textAreaRight" fmla="*/ 9445680 w 9445320"/>
                <a:gd name="textAreaTop" fmla="*/ 0 h 566640"/>
                <a:gd name="textAreaBottom" fmla="*/ 567000 h 566640"/>
              </a:gdLst>
              <a:ahLst/>
              <a:cxnLst/>
              <a:rect l="textAreaLeft" t="textAreaTop" r="textAreaRight" b="textAreaBottom"/>
              <a:pathLst>
                <a:path w="12594035" h="755848">
                  <a:moveTo>
                    <a:pt x="0" y="0"/>
                  </a:moveTo>
                  <a:lnTo>
                    <a:pt x="12594035" y="0"/>
                  </a:lnTo>
                  <a:lnTo>
                    <a:pt x="12594035" y="755848"/>
                  </a:lnTo>
                  <a:lnTo>
                    <a:pt x="0" y="75584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TextBox 11"/>
            <p:cNvSpPr/>
            <p:nvPr/>
          </p:nvSpPr>
          <p:spPr>
            <a:xfrm>
              <a:off x="7850160" y="4698360"/>
              <a:ext cx="9445320" cy="66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4436"/>
                </a:lnSpc>
              </a:pPr>
              <a:r>
                <a:rPr lang="en-US" sz="275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Presented By: </a:t>
              </a:r>
              <a:endParaRPr lang="en-IN" sz="27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1" name="Group 12"/>
          <p:cNvGrpSpPr/>
          <p:nvPr/>
        </p:nvGrpSpPr>
        <p:grpSpPr>
          <a:xfrm>
            <a:off x="7850160" y="5583960"/>
            <a:ext cx="9445320" cy="666720"/>
            <a:chOff x="7850160" y="5583960"/>
            <a:chExt cx="9445320" cy="666720"/>
          </a:xfrm>
        </p:grpSpPr>
        <p:sp>
          <p:nvSpPr>
            <p:cNvPr id="72" name="Freeform 13"/>
            <p:cNvSpPr/>
            <p:nvPr/>
          </p:nvSpPr>
          <p:spPr>
            <a:xfrm>
              <a:off x="7850160" y="5684040"/>
              <a:ext cx="9445320" cy="566640"/>
            </a:xfrm>
            <a:custGeom>
              <a:avLst/>
              <a:gdLst>
                <a:gd name="textAreaLeft" fmla="*/ 0 w 9445320"/>
                <a:gd name="textAreaRight" fmla="*/ 9445680 w 9445320"/>
                <a:gd name="textAreaTop" fmla="*/ 0 h 566640"/>
                <a:gd name="textAreaBottom" fmla="*/ 567000 h 566640"/>
              </a:gdLst>
              <a:ahLst/>
              <a:cxnLst/>
              <a:rect l="textAreaLeft" t="textAreaTop" r="textAreaRight" b="textAreaBottom"/>
              <a:pathLst>
                <a:path w="12594035" h="755848">
                  <a:moveTo>
                    <a:pt x="0" y="0"/>
                  </a:moveTo>
                  <a:lnTo>
                    <a:pt x="12594035" y="0"/>
                  </a:lnTo>
                  <a:lnTo>
                    <a:pt x="12594035" y="755848"/>
                  </a:lnTo>
                  <a:lnTo>
                    <a:pt x="0" y="75584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14"/>
            <p:cNvSpPr/>
            <p:nvPr/>
          </p:nvSpPr>
          <p:spPr>
            <a:xfrm>
              <a:off x="7850160" y="5583960"/>
              <a:ext cx="9445320" cy="66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4436"/>
                </a:lnSpc>
              </a:pPr>
              <a:r>
                <a:rPr lang="en-US" sz="2750" b="1" u="none" strike="noStrike">
                  <a:solidFill>
                    <a:srgbClr val="0097b2"/>
                  </a:solidFill>
                  <a:effectLst/>
                  <a:uFillTx/>
                  <a:latin typeface="Arimo Bold"/>
                  <a:ea typeface="Arimo Bold"/>
                </a:rPr>
                <a:t>          Durga Devi (Reg. No: 23PL005)</a:t>
              </a:r>
              <a:endParaRPr lang="en-IN" sz="27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2" descr="preencoded.png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76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7" name="Group 5"/>
          <p:cNvGrpSpPr/>
          <p:nvPr/>
        </p:nvGrpSpPr>
        <p:grpSpPr>
          <a:xfrm>
            <a:off x="987480" y="596880"/>
            <a:ext cx="7088040" cy="1471680"/>
            <a:chOff x="987480" y="596880"/>
            <a:chExt cx="7088040" cy="1471680"/>
          </a:xfrm>
        </p:grpSpPr>
        <p:sp>
          <p:nvSpPr>
            <p:cNvPr id="78" name="Freeform 6"/>
            <p:cNvSpPr/>
            <p:nvPr/>
          </p:nvSpPr>
          <p:spPr>
            <a:xfrm>
              <a:off x="987480" y="611280"/>
              <a:ext cx="7088040" cy="1457280"/>
            </a:xfrm>
            <a:custGeom>
              <a:avLst/>
              <a:gdLst>
                <a:gd name="textAreaLeft" fmla="*/ 0 w 7088040"/>
                <a:gd name="textAreaRight" fmla="*/ 7088400 w 7088040"/>
                <a:gd name="textAreaTop" fmla="*/ 0 h 1457280"/>
                <a:gd name="textAreaBottom" fmla="*/ 1457640 h 1457280"/>
              </a:gdLst>
              <a:ahLst/>
              <a:cxnLst/>
              <a:rect l="textAreaLeft" t="textAreaTop" r="textAreaRight" b="textAreaBottom"/>
              <a:pathLst>
                <a:path w="9450984" h="1943528">
                  <a:moveTo>
                    <a:pt x="0" y="0"/>
                  </a:moveTo>
                  <a:lnTo>
                    <a:pt x="9450984" y="0"/>
                  </a:lnTo>
                  <a:lnTo>
                    <a:pt x="9450984" y="1943528"/>
                  </a:lnTo>
                  <a:lnTo>
                    <a:pt x="0" y="194352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extBox 7"/>
            <p:cNvSpPr/>
            <p:nvPr/>
          </p:nvSpPr>
          <p:spPr>
            <a:xfrm>
              <a:off x="987480" y="596880"/>
              <a:ext cx="7088040" cy="147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5862"/>
                </a:lnSpc>
              </a:pPr>
              <a:r>
                <a:rPr lang="en-US" sz="4700" b="0" u="none" strike="noStrike">
                  <a:solidFill>
                    <a:srgbClr val="000000"/>
                  </a:solidFill>
                  <a:effectLst/>
                  <a:uFillTx/>
                  <a:latin typeface="Corben"/>
                  <a:ea typeface="Corben"/>
                </a:rPr>
                <a:t>INTRODUCTION</a:t>
              </a:r>
              <a:endParaRPr lang="en-IN" sz="4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0" name="Group 8"/>
          <p:cNvGrpSpPr/>
          <p:nvPr/>
        </p:nvGrpSpPr>
        <p:grpSpPr>
          <a:xfrm>
            <a:off x="987480" y="2487960"/>
            <a:ext cx="5254560" cy="2367000"/>
            <a:chOff x="987480" y="2487960"/>
            <a:chExt cx="5254560" cy="2367000"/>
          </a:xfrm>
        </p:grpSpPr>
        <p:sp>
          <p:nvSpPr>
            <p:cNvPr id="81" name="Freeform 9"/>
            <p:cNvSpPr/>
            <p:nvPr/>
          </p:nvSpPr>
          <p:spPr>
            <a:xfrm>
              <a:off x="992160" y="2492640"/>
              <a:ext cx="5245200" cy="2357280"/>
            </a:xfrm>
            <a:custGeom>
              <a:avLst/>
              <a:gdLst>
                <a:gd name="textAreaLeft" fmla="*/ 0 w 5245200"/>
                <a:gd name="textAreaRight" fmla="*/ 5245560 w 5245200"/>
                <a:gd name="textAreaTop" fmla="*/ 0 h 2357280"/>
                <a:gd name="textAreaBottom" fmla="*/ 2357640 h 2357280"/>
              </a:gdLst>
              <a:ahLst/>
              <a:cxnLst/>
              <a:rect l="textAreaLeft" t="textAreaTop" r="textAreaRight" b="textAreaBottom"/>
              <a:pathLst>
                <a:path w="6993890" h="3143631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984881"/>
                  </a:lnTo>
                  <a:cubicBezTo>
                    <a:pt x="6993890" y="3072638"/>
                    <a:pt x="6922643" y="3143631"/>
                    <a:pt x="6834759" y="3143631"/>
                  </a:cubicBezTo>
                  <a:lnTo>
                    <a:pt x="159131" y="3143631"/>
                  </a:lnTo>
                  <a:cubicBezTo>
                    <a:pt x="71247" y="3143631"/>
                    <a:pt x="0" y="3072511"/>
                    <a:pt x="0" y="2984881"/>
                  </a:cubicBezTo>
                  <a:close/>
                </a:path>
              </a:pathLst>
            </a:custGeom>
            <a:gradFill rotWithShape="0">
              <a:gsLst>
                <a:gs pos="0">
                  <a:srgbClr val="cdffd8">
                    <a:alpha val="44000"/>
                  </a:srgbClr>
                </a:gs>
                <a:gs pos="100000">
                  <a:srgbClr val="94b9ff">
                    <a:alpha val="44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Freeform 10"/>
            <p:cNvSpPr/>
            <p:nvPr/>
          </p:nvSpPr>
          <p:spPr>
            <a:xfrm>
              <a:off x="987480" y="2487960"/>
              <a:ext cx="5254560" cy="2367000"/>
            </a:xfrm>
            <a:custGeom>
              <a:avLst/>
              <a:gdLst>
                <a:gd name="textAreaLeft" fmla="*/ 0 w 5254560"/>
                <a:gd name="textAreaRight" fmla="*/ 5254920 w 5254560"/>
                <a:gd name="textAreaTop" fmla="*/ 0 h 2367000"/>
                <a:gd name="textAreaBottom" fmla="*/ 2367360 h 2367000"/>
              </a:gdLst>
              <a:ahLst/>
              <a:cxnLst/>
              <a:rect l="textAreaLeft" t="textAreaTop" r="textAreaRight" b="textAreaBottom"/>
              <a:pathLst>
                <a:path w="7006590" h="3156331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2991231"/>
                  </a:lnTo>
                  <a:lnTo>
                    <a:pt x="7000240" y="2991231"/>
                  </a:lnTo>
                  <a:lnTo>
                    <a:pt x="7006590" y="2991231"/>
                  </a:lnTo>
                  <a:cubicBezTo>
                    <a:pt x="7006590" y="3082417"/>
                    <a:pt x="6932422" y="3156331"/>
                    <a:pt x="6841109" y="3156331"/>
                  </a:cubicBezTo>
                  <a:lnTo>
                    <a:pt x="6841109" y="3149981"/>
                  </a:lnTo>
                  <a:lnTo>
                    <a:pt x="6841109" y="3156331"/>
                  </a:lnTo>
                  <a:lnTo>
                    <a:pt x="165481" y="3156331"/>
                  </a:lnTo>
                  <a:lnTo>
                    <a:pt x="165481" y="3149981"/>
                  </a:lnTo>
                  <a:lnTo>
                    <a:pt x="165481" y="3156331"/>
                  </a:lnTo>
                  <a:cubicBezTo>
                    <a:pt x="74041" y="3156331"/>
                    <a:pt x="0" y="3082417"/>
                    <a:pt x="0" y="299123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991231"/>
                  </a:lnTo>
                  <a:lnTo>
                    <a:pt x="6350" y="2991231"/>
                  </a:lnTo>
                  <a:lnTo>
                    <a:pt x="12700" y="2991231"/>
                  </a:lnTo>
                  <a:cubicBezTo>
                    <a:pt x="12700" y="3075432"/>
                    <a:pt x="81153" y="3143631"/>
                    <a:pt x="165481" y="3143631"/>
                  </a:cubicBezTo>
                  <a:lnTo>
                    <a:pt x="6841109" y="3143631"/>
                  </a:lnTo>
                  <a:cubicBezTo>
                    <a:pt x="6925564" y="3143631"/>
                    <a:pt x="6993890" y="3075432"/>
                    <a:pt x="6993890" y="2991231"/>
                  </a:cubicBezTo>
                  <a:lnTo>
                    <a:pt x="6993890" y="165100"/>
                  </a:lnTo>
                  <a:cubicBezTo>
                    <a:pt x="6993890" y="80899"/>
                    <a:pt x="6925437" y="12700"/>
                    <a:pt x="6841109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7ad">
                    <a:alpha val="44000"/>
                  </a:srgbClr>
                </a:gs>
                <a:gs pos="100000">
                  <a:srgbClr val="ffa9f9">
                    <a:alpha val="44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3" name="Group 11"/>
          <p:cNvGrpSpPr/>
          <p:nvPr/>
        </p:nvGrpSpPr>
        <p:grpSpPr>
          <a:xfrm>
            <a:off x="1285200" y="2696400"/>
            <a:ext cx="4659120" cy="2007720"/>
            <a:chOff x="1285200" y="2696400"/>
            <a:chExt cx="4659120" cy="2007720"/>
          </a:xfrm>
        </p:grpSpPr>
        <p:sp>
          <p:nvSpPr>
            <p:cNvPr id="84" name="Freeform 12"/>
            <p:cNvSpPr/>
            <p:nvPr/>
          </p:nvSpPr>
          <p:spPr>
            <a:xfrm>
              <a:off x="1285200" y="2703600"/>
              <a:ext cx="4659120" cy="2000520"/>
            </a:xfrm>
            <a:custGeom>
              <a:avLst/>
              <a:gdLst>
                <a:gd name="textAreaLeft" fmla="*/ 0 w 4659120"/>
                <a:gd name="textAreaRight" fmla="*/ 4659480 w 4659120"/>
                <a:gd name="textAreaTop" fmla="*/ 0 h 2000520"/>
                <a:gd name="textAreaBottom" fmla="*/ 2000880 h 2000520"/>
              </a:gdLst>
              <a:ahLst/>
              <a:cxnLst/>
              <a:rect l="textAreaLeft" t="textAreaTop" r="textAreaRight" b="textAreaBottom"/>
              <a:pathLst>
                <a:path w="6212483" h="2667901">
                  <a:moveTo>
                    <a:pt x="0" y="0"/>
                  </a:moveTo>
                  <a:lnTo>
                    <a:pt x="6212483" y="0"/>
                  </a:lnTo>
                  <a:lnTo>
                    <a:pt x="6212483" y="2667901"/>
                  </a:lnTo>
                  <a:lnTo>
                    <a:pt x="0" y="2667901"/>
                  </a:lnTo>
                  <a:close/>
                </a:path>
              </a:pathLst>
            </a:custGeom>
            <a:gradFill rotWithShape="0">
              <a:gsLst>
                <a:gs pos="0">
                  <a:srgbClr val="fff7ad">
                    <a:alpha val="0"/>
                  </a:srgbClr>
                </a:gs>
                <a:gs pos="100000">
                  <a:srgbClr val="ffa9f9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13"/>
            <p:cNvSpPr/>
            <p:nvPr/>
          </p:nvSpPr>
          <p:spPr>
            <a:xfrm>
              <a:off x="1285200" y="2696400"/>
              <a:ext cx="4659120" cy="200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436"/>
                </a:lnSpc>
              </a:pPr>
              <a:r>
                <a:rPr lang="en-US" sz="2750" b="0" u="none" strike="noStrike">
                  <a:solidFill>
                    <a:srgbClr val="404155"/>
                  </a:solidFill>
                  <a:effectLst/>
                  <a:uFillTx/>
                  <a:latin typeface="Corben"/>
                  <a:ea typeface="Corben"/>
                </a:rPr>
                <a:t>The AI Resume Analyzer is a web-based application designed to improve the recruitment process.</a:t>
              </a:r>
              <a:endParaRPr lang="en-IN" sz="27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6" name="Group 14"/>
          <p:cNvGrpSpPr/>
          <p:nvPr/>
        </p:nvGrpSpPr>
        <p:grpSpPr>
          <a:xfrm>
            <a:off x="6516360" y="2487960"/>
            <a:ext cx="5254560" cy="2367000"/>
            <a:chOff x="6516360" y="2487960"/>
            <a:chExt cx="5254560" cy="2367000"/>
          </a:xfrm>
        </p:grpSpPr>
        <p:sp>
          <p:nvSpPr>
            <p:cNvPr id="87" name="Freeform 15"/>
            <p:cNvSpPr/>
            <p:nvPr/>
          </p:nvSpPr>
          <p:spPr>
            <a:xfrm>
              <a:off x="6521040" y="2492640"/>
              <a:ext cx="5245200" cy="2357280"/>
            </a:xfrm>
            <a:custGeom>
              <a:avLst/>
              <a:gdLst>
                <a:gd name="textAreaLeft" fmla="*/ 0 w 5245200"/>
                <a:gd name="textAreaRight" fmla="*/ 5245560 w 5245200"/>
                <a:gd name="textAreaTop" fmla="*/ 0 h 2357280"/>
                <a:gd name="textAreaBottom" fmla="*/ 2357640 h 2357280"/>
              </a:gdLst>
              <a:ahLst/>
              <a:cxnLst/>
              <a:rect l="textAreaLeft" t="textAreaTop" r="textAreaRight" b="textAreaBottom"/>
              <a:pathLst>
                <a:path w="6993890" h="3143631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984881"/>
                  </a:lnTo>
                  <a:cubicBezTo>
                    <a:pt x="6993890" y="3072638"/>
                    <a:pt x="6922643" y="3143631"/>
                    <a:pt x="6834759" y="3143631"/>
                  </a:cubicBezTo>
                  <a:lnTo>
                    <a:pt x="159131" y="3143631"/>
                  </a:lnTo>
                  <a:cubicBezTo>
                    <a:pt x="71247" y="3143631"/>
                    <a:pt x="0" y="3072511"/>
                    <a:pt x="0" y="2984881"/>
                  </a:cubicBezTo>
                  <a:close/>
                </a:path>
              </a:pathLst>
            </a:custGeom>
            <a:gradFill rotWithShape="0">
              <a:gsLst>
                <a:gs pos="0">
                  <a:srgbClr val="cdffd8">
                    <a:alpha val="44000"/>
                  </a:srgbClr>
                </a:gs>
                <a:gs pos="100000">
                  <a:srgbClr val="94b9ff">
                    <a:alpha val="44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eform 16"/>
            <p:cNvSpPr/>
            <p:nvPr/>
          </p:nvSpPr>
          <p:spPr>
            <a:xfrm>
              <a:off x="6516360" y="2487960"/>
              <a:ext cx="5254560" cy="2367000"/>
            </a:xfrm>
            <a:custGeom>
              <a:avLst/>
              <a:gdLst>
                <a:gd name="textAreaLeft" fmla="*/ 0 w 5254560"/>
                <a:gd name="textAreaRight" fmla="*/ 5254920 w 5254560"/>
                <a:gd name="textAreaTop" fmla="*/ 0 h 2367000"/>
                <a:gd name="textAreaBottom" fmla="*/ 2367360 h 2367000"/>
              </a:gdLst>
              <a:ahLst/>
              <a:cxnLst/>
              <a:rect l="textAreaLeft" t="textAreaTop" r="textAreaRight" b="textAreaBottom"/>
              <a:pathLst>
                <a:path w="7006590" h="3156331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2991231"/>
                  </a:lnTo>
                  <a:lnTo>
                    <a:pt x="7000240" y="2991231"/>
                  </a:lnTo>
                  <a:lnTo>
                    <a:pt x="7006590" y="2991231"/>
                  </a:lnTo>
                  <a:cubicBezTo>
                    <a:pt x="7006590" y="3082417"/>
                    <a:pt x="6932422" y="3156331"/>
                    <a:pt x="6841109" y="3156331"/>
                  </a:cubicBezTo>
                  <a:lnTo>
                    <a:pt x="6841109" y="3149981"/>
                  </a:lnTo>
                  <a:lnTo>
                    <a:pt x="6841109" y="3156331"/>
                  </a:lnTo>
                  <a:lnTo>
                    <a:pt x="165481" y="3156331"/>
                  </a:lnTo>
                  <a:lnTo>
                    <a:pt x="165481" y="3149981"/>
                  </a:lnTo>
                  <a:lnTo>
                    <a:pt x="165481" y="3156331"/>
                  </a:lnTo>
                  <a:cubicBezTo>
                    <a:pt x="74041" y="3156331"/>
                    <a:pt x="0" y="3082417"/>
                    <a:pt x="0" y="299123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991231"/>
                  </a:lnTo>
                  <a:lnTo>
                    <a:pt x="6350" y="2991231"/>
                  </a:lnTo>
                  <a:lnTo>
                    <a:pt x="12700" y="2991231"/>
                  </a:lnTo>
                  <a:cubicBezTo>
                    <a:pt x="12700" y="3075432"/>
                    <a:pt x="81153" y="3143631"/>
                    <a:pt x="165481" y="3143631"/>
                  </a:cubicBezTo>
                  <a:lnTo>
                    <a:pt x="6841109" y="3143631"/>
                  </a:lnTo>
                  <a:cubicBezTo>
                    <a:pt x="6925564" y="3143631"/>
                    <a:pt x="6993890" y="3075432"/>
                    <a:pt x="6993890" y="2991231"/>
                  </a:cubicBezTo>
                  <a:lnTo>
                    <a:pt x="6993890" y="165100"/>
                  </a:lnTo>
                  <a:cubicBezTo>
                    <a:pt x="6993890" y="80899"/>
                    <a:pt x="6925437" y="12700"/>
                    <a:pt x="6841109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8bfdf">
                <a:alpha val="4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9" name="Group 17"/>
          <p:cNvGrpSpPr/>
          <p:nvPr/>
        </p:nvGrpSpPr>
        <p:grpSpPr>
          <a:xfrm>
            <a:off x="6517440" y="2553480"/>
            <a:ext cx="5254560" cy="2156040"/>
            <a:chOff x="6517440" y="2553480"/>
            <a:chExt cx="5254560" cy="2156040"/>
          </a:xfrm>
        </p:grpSpPr>
        <p:sp>
          <p:nvSpPr>
            <p:cNvPr id="90" name="Freeform 18"/>
            <p:cNvSpPr/>
            <p:nvPr/>
          </p:nvSpPr>
          <p:spPr>
            <a:xfrm>
              <a:off x="6517440" y="2560680"/>
              <a:ext cx="5254560" cy="2148840"/>
            </a:xfrm>
            <a:custGeom>
              <a:avLst/>
              <a:gdLst>
                <a:gd name="textAreaLeft" fmla="*/ 0 w 5254560"/>
                <a:gd name="textAreaRight" fmla="*/ 5254920 w 5254560"/>
                <a:gd name="textAreaTop" fmla="*/ 0 h 2148840"/>
                <a:gd name="textAreaBottom" fmla="*/ 2149200 h 2148840"/>
              </a:gdLst>
              <a:ahLst/>
              <a:cxnLst/>
              <a:rect l="textAreaLeft" t="textAreaTop" r="textAreaRight" b="textAreaBottom"/>
              <a:pathLst>
                <a:path w="7006630" h="2865765">
                  <a:moveTo>
                    <a:pt x="0" y="0"/>
                  </a:moveTo>
                  <a:lnTo>
                    <a:pt x="7006630" y="0"/>
                  </a:lnTo>
                  <a:lnTo>
                    <a:pt x="7006630" y="2865765"/>
                  </a:lnTo>
                  <a:lnTo>
                    <a:pt x="0" y="2865765"/>
                  </a:lnTo>
                  <a:close/>
                </a:path>
              </a:pathLst>
            </a:custGeom>
            <a:gradFill rotWithShape="0">
              <a:gsLst>
                <a:gs pos="0">
                  <a:srgbClr val="f4f5f8">
                    <a:alpha val="0"/>
                  </a:srgbClr>
                </a:gs>
                <a:gs pos="100000">
                  <a:srgbClr val="dcec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TextBox 19"/>
            <p:cNvSpPr/>
            <p:nvPr/>
          </p:nvSpPr>
          <p:spPr>
            <a:xfrm>
              <a:off x="6517440" y="2553480"/>
              <a:ext cx="5254560" cy="2156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436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3436"/>
                </a:lnSpc>
              </a:pPr>
              <a:r>
                <a:rPr lang="en-US" sz="2750" b="0" u="none" strike="noStrike">
                  <a:solidFill>
                    <a:srgbClr val="404155"/>
                  </a:solidFill>
                  <a:effectLst/>
                  <a:uFillTx/>
                  <a:latin typeface="Corben"/>
                  <a:ea typeface="Corben"/>
                </a:rPr>
                <a:t>It provides unbiased resume evaluation and scoring.</a:t>
              </a:r>
              <a:endParaRPr lang="en-IN" sz="27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2" name="Group 20"/>
          <p:cNvGrpSpPr/>
          <p:nvPr/>
        </p:nvGrpSpPr>
        <p:grpSpPr>
          <a:xfrm>
            <a:off x="12047760" y="2446200"/>
            <a:ext cx="5254560" cy="2367000"/>
            <a:chOff x="12047760" y="2446200"/>
            <a:chExt cx="5254560" cy="2367000"/>
          </a:xfrm>
        </p:grpSpPr>
        <p:sp>
          <p:nvSpPr>
            <p:cNvPr id="93" name="Freeform 21"/>
            <p:cNvSpPr/>
            <p:nvPr/>
          </p:nvSpPr>
          <p:spPr>
            <a:xfrm>
              <a:off x="12052440" y="2451240"/>
              <a:ext cx="5245200" cy="2357280"/>
            </a:xfrm>
            <a:custGeom>
              <a:avLst/>
              <a:gdLst>
                <a:gd name="textAreaLeft" fmla="*/ 0 w 5245200"/>
                <a:gd name="textAreaRight" fmla="*/ 5245560 w 5245200"/>
                <a:gd name="textAreaTop" fmla="*/ 0 h 2357280"/>
                <a:gd name="textAreaBottom" fmla="*/ 2357640 h 2357280"/>
              </a:gdLst>
              <a:ahLst/>
              <a:cxnLst/>
              <a:rect l="textAreaLeft" t="textAreaTop" r="textAreaRight" b="textAreaBottom"/>
              <a:pathLst>
                <a:path w="6993890" h="3143631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984881"/>
                  </a:lnTo>
                  <a:cubicBezTo>
                    <a:pt x="6993890" y="3072638"/>
                    <a:pt x="6922643" y="3143631"/>
                    <a:pt x="6834759" y="3143631"/>
                  </a:cubicBezTo>
                  <a:lnTo>
                    <a:pt x="159131" y="3143631"/>
                  </a:lnTo>
                  <a:cubicBezTo>
                    <a:pt x="71247" y="3143631"/>
                    <a:pt x="0" y="3072511"/>
                    <a:pt x="0" y="2984881"/>
                  </a:cubicBezTo>
                  <a:close/>
                </a:path>
              </a:pathLst>
            </a:custGeom>
            <a:gradFill rotWithShape="0">
              <a:gsLst>
                <a:gs pos="0">
                  <a:srgbClr val="cdffd8">
                    <a:alpha val="44000"/>
                  </a:srgbClr>
                </a:gs>
                <a:gs pos="100000">
                  <a:srgbClr val="94b9ff">
                    <a:alpha val="44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Freeform 22"/>
            <p:cNvSpPr/>
            <p:nvPr/>
          </p:nvSpPr>
          <p:spPr>
            <a:xfrm>
              <a:off x="12047760" y="2446200"/>
              <a:ext cx="5254560" cy="2367000"/>
            </a:xfrm>
            <a:custGeom>
              <a:avLst/>
              <a:gdLst>
                <a:gd name="textAreaLeft" fmla="*/ 0 w 5254560"/>
                <a:gd name="textAreaRight" fmla="*/ 5254920 w 5254560"/>
                <a:gd name="textAreaTop" fmla="*/ 0 h 2367000"/>
                <a:gd name="textAreaBottom" fmla="*/ 2367360 h 2367000"/>
              </a:gdLst>
              <a:ahLst/>
              <a:cxnLst/>
              <a:rect l="textAreaLeft" t="textAreaTop" r="textAreaRight" b="textAreaBottom"/>
              <a:pathLst>
                <a:path w="7006590" h="3156331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2991231"/>
                  </a:lnTo>
                  <a:lnTo>
                    <a:pt x="7000240" y="2991231"/>
                  </a:lnTo>
                  <a:lnTo>
                    <a:pt x="7006590" y="2991231"/>
                  </a:lnTo>
                  <a:cubicBezTo>
                    <a:pt x="7006590" y="3082417"/>
                    <a:pt x="6932422" y="3156331"/>
                    <a:pt x="6841109" y="3156331"/>
                  </a:cubicBezTo>
                  <a:lnTo>
                    <a:pt x="6841109" y="3149981"/>
                  </a:lnTo>
                  <a:lnTo>
                    <a:pt x="6841109" y="3156331"/>
                  </a:lnTo>
                  <a:lnTo>
                    <a:pt x="165481" y="3156331"/>
                  </a:lnTo>
                  <a:lnTo>
                    <a:pt x="165481" y="3149981"/>
                  </a:lnTo>
                  <a:lnTo>
                    <a:pt x="165481" y="3156331"/>
                  </a:lnTo>
                  <a:cubicBezTo>
                    <a:pt x="74041" y="3156331"/>
                    <a:pt x="0" y="3082417"/>
                    <a:pt x="0" y="299123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991231"/>
                  </a:lnTo>
                  <a:lnTo>
                    <a:pt x="6350" y="2991231"/>
                  </a:lnTo>
                  <a:lnTo>
                    <a:pt x="12700" y="2991231"/>
                  </a:lnTo>
                  <a:cubicBezTo>
                    <a:pt x="12700" y="3075432"/>
                    <a:pt x="81153" y="3143631"/>
                    <a:pt x="165481" y="3143631"/>
                  </a:cubicBezTo>
                  <a:lnTo>
                    <a:pt x="6841109" y="3143631"/>
                  </a:lnTo>
                  <a:cubicBezTo>
                    <a:pt x="6925564" y="3143631"/>
                    <a:pt x="6993890" y="3075432"/>
                    <a:pt x="6993890" y="2991231"/>
                  </a:cubicBezTo>
                  <a:lnTo>
                    <a:pt x="6993890" y="165100"/>
                  </a:lnTo>
                  <a:cubicBezTo>
                    <a:pt x="6993890" y="80899"/>
                    <a:pt x="6925437" y="12700"/>
                    <a:pt x="6841109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8bfdf">
                <a:alpha val="4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" name="Group 23"/>
          <p:cNvGrpSpPr/>
          <p:nvPr/>
        </p:nvGrpSpPr>
        <p:grpSpPr>
          <a:xfrm>
            <a:off x="12343320" y="2810880"/>
            <a:ext cx="4659120" cy="1778760"/>
            <a:chOff x="12343320" y="2810880"/>
            <a:chExt cx="4659120" cy="1778760"/>
          </a:xfrm>
        </p:grpSpPr>
        <p:sp>
          <p:nvSpPr>
            <p:cNvPr id="96" name="Freeform 24"/>
            <p:cNvSpPr/>
            <p:nvPr/>
          </p:nvSpPr>
          <p:spPr>
            <a:xfrm>
              <a:off x="12343320" y="2818080"/>
              <a:ext cx="4659120" cy="1771560"/>
            </a:xfrm>
            <a:custGeom>
              <a:avLst/>
              <a:gdLst>
                <a:gd name="textAreaLeft" fmla="*/ 0 w 4659120"/>
                <a:gd name="textAreaRight" fmla="*/ 4659480 w 4659120"/>
                <a:gd name="textAreaTop" fmla="*/ 0 h 1771560"/>
                <a:gd name="textAreaBottom" fmla="*/ 1771920 h 1771560"/>
              </a:gdLst>
              <a:ahLst/>
              <a:cxnLst/>
              <a:rect l="textAreaLeft" t="textAreaTop" r="textAreaRight" b="textAreaBottom"/>
              <a:pathLst>
                <a:path w="6212483" h="2362597">
                  <a:moveTo>
                    <a:pt x="0" y="0"/>
                  </a:moveTo>
                  <a:lnTo>
                    <a:pt x="6212483" y="0"/>
                  </a:lnTo>
                  <a:lnTo>
                    <a:pt x="6212483" y="2362597"/>
                  </a:lnTo>
                  <a:lnTo>
                    <a:pt x="0" y="236259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TextBox 25"/>
            <p:cNvSpPr/>
            <p:nvPr/>
          </p:nvSpPr>
          <p:spPr>
            <a:xfrm>
              <a:off x="12343320" y="2810880"/>
              <a:ext cx="4659120" cy="177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436"/>
                </a:lnSpc>
              </a:pPr>
              <a:r>
                <a:rPr lang="en-US" sz="2750" b="0" u="none" strike="noStrike">
                  <a:solidFill>
                    <a:srgbClr val="404155"/>
                  </a:solidFill>
                  <a:effectLst/>
                  <a:uFillTx/>
                  <a:latin typeface="Corben"/>
                  <a:ea typeface="Corben"/>
                </a:rPr>
                <a:t>The system helps recruiters streamline their hiring process.</a:t>
              </a:r>
              <a:endParaRPr lang="en-IN" sz="27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" name="Group 26"/>
          <p:cNvGrpSpPr/>
          <p:nvPr/>
        </p:nvGrpSpPr>
        <p:grpSpPr>
          <a:xfrm>
            <a:off x="987480" y="5129280"/>
            <a:ext cx="5254560" cy="2809800"/>
            <a:chOff x="987480" y="5129280"/>
            <a:chExt cx="5254560" cy="2809800"/>
          </a:xfrm>
        </p:grpSpPr>
        <p:sp>
          <p:nvSpPr>
            <p:cNvPr id="99" name="Freeform 27"/>
            <p:cNvSpPr/>
            <p:nvPr/>
          </p:nvSpPr>
          <p:spPr>
            <a:xfrm>
              <a:off x="992160" y="5133960"/>
              <a:ext cx="5245200" cy="2800440"/>
            </a:xfrm>
            <a:custGeom>
              <a:avLst/>
              <a:gdLst>
                <a:gd name="textAreaLeft" fmla="*/ 0 w 5245200"/>
                <a:gd name="textAreaRight" fmla="*/ 5245560 w 5245200"/>
                <a:gd name="textAreaTop" fmla="*/ 0 h 2800440"/>
                <a:gd name="textAreaBottom" fmla="*/ 2800800 h 2800440"/>
              </a:gdLst>
              <a:ahLst/>
              <a:cxnLst/>
              <a:rect l="textAreaLeft" t="textAreaTop" r="textAreaRight" b="textAreaBottom"/>
              <a:pathLst>
                <a:path w="6993890" h="373418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3575431"/>
                  </a:lnTo>
                  <a:cubicBezTo>
                    <a:pt x="6993890" y="3663061"/>
                    <a:pt x="6922643" y="3734181"/>
                    <a:pt x="6834886" y="3734181"/>
                  </a:cubicBezTo>
                  <a:lnTo>
                    <a:pt x="159004" y="3734181"/>
                  </a:lnTo>
                  <a:cubicBezTo>
                    <a:pt x="71120" y="3734181"/>
                    <a:pt x="0" y="3663061"/>
                    <a:pt x="0" y="3575431"/>
                  </a:cubicBezTo>
                  <a:close/>
                </a:path>
              </a:pathLst>
            </a:custGeom>
            <a:gradFill rotWithShape="0">
              <a:gsLst>
                <a:gs pos="0">
                  <a:srgbClr val="cdffd8">
                    <a:alpha val="44000"/>
                  </a:srgbClr>
                </a:gs>
                <a:gs pos="100000">
                  <a:srgbClr val="94b9ff">
                    <a:alpha val="44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Freeform 28"/>
            <p:cNvSpPr/>
            <p:nvPr/>
          </p:nvSpPr>
          <p:spPr>
            <a:xfrm>
              <a:off x="987480" y="5129280"/>
              <a:ext cx="5254560" cy="2809800"/>
            </a:xfrm>
            <a:custGeom>
              <a:avLst/>
              <a:gdLst>
                <a:gd name="textAreaLeft" fmla="*/ 0 w 5254560"/>
                <a:gd name="textAreaRight" fmla="*/ 5254920 w 5254560"/>
                <a:gd name="textAreaTop" fmla="*/ 0 h 2809800"/>
                <a:gd name="textAreaBottom" fmla="*/ 2810160 h 2809800"/>
              </a:gdLst>
              <a:ahLst/>
              <a:cxnLst/>
              <a:rect l="textAreaLeft" t="textAreaTop" r="textAreaRight" b="textAreaBottom"/>
              <a:pathLst>
                <a:path w="7006590" h="3746881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3581781"/>
                  </a:lnTo>
                  <a:lnTo>
                    <a:pt x="7000240" y="3581781"/>
                  </a:lnTo>
                  <a:lnTo>
                    <a:pt x="7006590" y="3581781"/>
                  </a:lnTo>
                  <a:cubicBezTo>
                    <a:pt x="7006590" y="3672967"/>
                    <a:pt x="6932549" y="3746881"/>
                    <a:pt x="6841236" y="3746881"/>
                  </a:cubicBezTo>
                  <a:lnTo>
                    <a:pt x="6841236" y="3740531"/>
                  </a:lnTo>
                  <a:lnTo>
                    <a:pt x="6841236" y="3746881"/>
                  </a:lnTo>
                  <a:lnTo>
                    <a:pt x="165354" y="3746881"/>
                  </a:lnTo>
                  <a:lnTo>
                    <a:pt x="165354" y="3740531"/>
                  </a:lnTo>
                  <a:lnTo>
                    <a:pt x="165354" y="3746881"/>
                  </a:lnTo>
                  <a:cubicBezTo>
                    <a:pt x="74041" y="3746881"/>
                    <a:pt x="0" y="3672967"/>
                    <a:pt x="0" y="35817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81781"/>
                  </a:lnTo>
                  <a:lnTo>
                    <a:pt x="6350" y="3581781"/>
                  </a:lnTo>
                  <a:lnTo>
                    <a:pt x="12700" y="3581781"/>
                  </a:lnTo>
                  <a:cubicBezTo>
                    <a:pt x="12700" y="3665982"/>
                    <a:pt x="81026" y="3734181"/>
                    <a:pt x="165354" y="3734181"/>
                  </a:cubicBezTo>
                  <a:lnTo>
                    <a:pt x="6841236" y="3734181"/>
                  </a:lnTo>
                  <a:cubicBezTo>
                    <a:pt x="6925564" y="3734181"/>
                    <a:pt x="6993890" y="3665982"/>
                    <a:pt x="6993890" y="3581781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236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8bfdf">
                <a:alpha val="4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1" name="Group 29"/>
          <p:cNvGrpSpPr/>
          <p:nvPr/>
        </p:nvGrpSpPr>
        <p:grpSpPr>
          <a:xfrm>
            <a:off x="1285560" y="5663160"/>
            <a:ext cx="4659120" cy="1880280"/>
            <a:chOff x="1285560" y="5663160"/>
            <a:chExt cx="4659120" cy="1880280"/>
          </a:xfrm>
        </p:grpSpPr>
        <p:sp>
          <p:nvSpPr>
            <p:cNvPr id="102" name="Freeform 30"/>
            <p:cNvSpPr/>
            <p:nvPr/>
          </p:nvSpPr>
          <p:spPr>
            <a:xfrm>
              <a:off x="1285560" y="5670360"/>
              <a:ext cx="4659120" cy="1873080"/>
            </a:xfrm>
            <a:custGeom>
              <a:avLst/>
              <a:gdLst>
                <a:gd name="textAreaLeft" fmla="*/ 0 w 4659120"/>
                <a:gd name="textAreaRight" fmla="*/ 4659480 w 4659120"/>
                <a:gd name="textAreaTop" fmla="*/ 0 h 1873080"/>
                <a:gd name="textAreaBottom" fmla="*/ 1873440 h 1873080"/>
              </a:gdLst>
              <a:ahLst/>
              <a:cxnLst/>
              <a:rect l="textAreaLeft" t="textAreaTop" r="textAreaRight" b="textAreaBottom"/>
              <a:pathLst>
                <a:path w="6212483" h="2498042">
                  <a:moveTo>
                    <a:pt x="0" y="0"/>
                  </a:moveTo>
                  <a:lnTo>
                    <a:pt x="6212483" y="0"/>
                  </a:lnTo>
                  <a:lnTo>
                    <a:pt x="6212483" y="2498042"/>
                  </a:lnTo>
                  <a:lnTo>
                    <a:pt x="0" y="249804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TextBox 31"/>
            <p:cNvSpPr/>
            <p:nvPr/>
          </p:nvSpPr>
          <p:spPr>
            <a:xfrm>
              <a:off x="1285560" y="5663160"/>
              <a:ext cx="4659120" cy="1880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436"/>
                </a:lnSpc>
              </a:pPr>
              <a:r>
                <a:rPr lang="en-US" sz="2750" b="0" u="none" strike="noStrike">
                  <a:solidFill>
                    <a:srgbClr val="404155"/>
                  </a:solidFill>
                  <a:effectLst/>
                  <a:uFillTx/>
                  <a:latin typeface="Corben"/>
                  <a:ea typeface="Corben"/>
                </a:rPr>
                <a:t>Job seekers receive valuable insights to enhance their resumes.</a:t>
              </a:r>
              <a:endParaRPr lang="en-IN" sz="27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4" name="Group 32"/>
          <p:cNvGrpSpPr/>
          <p:nvPr/>
        </p:nvGrpSpPr>
        <p:grpSpPr>
          <a:xfrm>
            <a:off x="6516360" y="5129280"/>
            <a:ext cx="5254560" cy="2809800"/>
            <a:chOff x="6516360" y="5129280"/>
            <a:chExt cx="5254560" cy="2809800"/>
          </a:xfrm>
        </p:grpSpPr>
        <p:sp>
          <p:nvSpPr>
            <p:cNvPr id="105" name="Freeform 33"/>
            <p:cNvSpPr/>
            <p:nvPr/>
          </p:nvSpPr>
          <p:spPr>
            <a:xfrm>
              <a:off x="6521040" y="5133960"/>
              <a:ext cx="5245200" cy="2800440"/>
            </a:xfrm>
            <a:custGeom>
              <a:avLst/>
              <a:gdLst>
                <a:gd name="textAreaLeft" fmla="*/ 0 w 5245200"/>
                <a:gd name="textAreaRight" fmla="*/ 5245560 w 5245200"/>
                <a:gd name="textAreaTop" fmla="*/ 0 h 2800440"/>
                <a:gd name="textAreaBottom" fmla="*/ 2800800 h 2800440"/>
              </a:gdLst>
              <a:ahLst/>
              <a:cxnLst/>
              <a:rect l="textAreaLeft" t="textAreaTop" r="textAreaRight" b="textAreaBottom"/>
              <a:pathLst>
                <a:path w="6993890" h="373418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3575431"/>
                  </a:lnTo>
                  <a:cubicBezTo>
                    <a:pt x="6993890" y="3663061"/>
                    <a:pt x="6922643" y="3734181"/>
                    <a:pt x="6834886" y="3734181"/>
                  </a:cubicBezTo>
                  <a:lnTo>
                    <a:pt x="159004" y="3734181"/>
                  </a:lnTo>
                  <a:cubicBezTo>
                    <a:pt x="71120" y="3734181"/>
                    <a:pt x="0" y="3663061"/>
                    <a:pt x="0" y="3575431"/>
                  </a:cubicBezTo>
                  <a:close/>
                </a:path>
              </a:pathLst>
            </a:custGeom>
            <a:gradFill rotWithShape="0">
              <a:gsLst>
                <a:gs pos="0">
                  <a:srgbClr val="cdffd8">
                    <a:alpha val="44000"/>
                  </a:srgbClr>
                </a:gs>
                <a:gs pos="100000">
                  <a:srgbClr val="94b9ff">
                    <a:alpha val="44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eform 34"/>
            <p:cNvSpPr/>
            <p:nvPr/>
          </p:nvSpPr>
          <p:spPr>
            <a:xfrm>
              <a:off x="6516360" y="5129280"/>
              <a:ext cx="5254560" cy="2809800"/>
            </a:xfrm>
            <a:custGeom>
              <a:avLst/>
              <a:gdLst>
                <a:gd name="textAreaLeft" fmla="*/ 0 w 5254560"/>
                <a:gd name="textAreaRight" fmla="*/ 5254920 w 5254560"/>
                <a:gd name="textAreaTop" fmla="*/ 0 h 2809800"/>
                <a:gd name="textAreaBottom" fmla="*/ 2810160 h 2809800"/>
              </a:gdLst>
              <a:ahLst/>
              <a:cxnLst/>
              <a:rect l="textAreaLeft" t="textAreaTop" r="textAreaRight" b="textAreaBottom"/>
              <a:pathLst>
                <a:path w="7006590" h="3746881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3581781"/>
                  </a:lnTo>
                  <a:lnTo>
                    <a:pt x="7000240" y="3581781"/>
                  </a:lnTo>
                  <a:lnTo>
                    <a:pt x="7006590" y="3581781"/>
                  </a:lnTo>
                  <a:cubicBezTo>
                    <a:pt x="7006590" y="3672967"/>
                    <a:pt x="6932549" y="3746881"/>
                    <a:pt x="6841236" y="3746881"/>
                  </a:cubicBezTo>
                  <a:lnTo>
                    <a:pt x="6841236" y="3740531"/>
                  </a:lnTo>
                  <a:lnTo>
                    <a:pt x="6841236" y="3746881"/>
                  </a:lnTo>
                  <a:lnTo>
                    <a:pt x="165354" y="3746881"/>
                  </a:lnTo>
                  <a:lnTo>
                    <a:pt x="165354" y="3740531"/>
                  </a:lnTo>
                  <a:lnTo>
                    <a:pt x="165354" y="3746881"/>
                  </a:lnTo>
                  <a:cubicBezTo>
                    <a:pt x="74041" y="3746881"/>
                    <a:pt x="0" y="3672967"/>
                    <a:pt x="0" y="35817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81781"/>
                  </a:lnTo>
                  <a:lnTo>
                    <a:pt x="6350" y="3581781"/>
                  </a:lnTo>
                  <a:lnTo>
                    <a:pt x="12700" y="3581781"/>
                  </a:lnTo>
                  <a:cubicBezTo>
                    <a:pt x="12700" y="3665982"/>
                    <a:pt x="81026" y="3734181"/>
                    <a:pt x="165354" y="3734181"/>
                  </a:cubicBezTo>
                  <a:lnTo>
                    <a:pt x="6841236" y="3734181"/>
                  </a:lnTo>
                  <a:cubicBezTo>
                    <a:pt x="6925564" y="3734181"/>
                    <a:pt x="6993890" y="3665982"/>
                    <a:pt x="6993890" y="3581781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236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8bfdf">
                <a:alpha val="4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7" name="Group 35"/>
          <p:cNvGrpSpPr/>
          <p:nvPr/>
        </p:nvGrpSpPr>
        <p:grpSpPr>
          <a:xfrm>
            <a:off x="6815520" y="5578920"/>
            <a:ext cx="4659120" cy="1880280"/>
            <a:chOff x="6815520" y="5578920"/>
            <a:chExt cx="4659120" cy="1880280"/>
          </a:xfrm>
        </p:grpSpPr>
        <p:sp>
          <p:nvSpPr>
            <p:cNvPr id="108" name="Freeform 36"/>
            <p:cNvSpPr/>
            <p:nvPr/>
          </p:nvSpPr>
          <p:spPr>
            <a:xfrm>
              <a:off x="6815520" y="5586120"/>
              <a:ext cx="4659120" cy="1873080"/>
            </a:xfrm>
            <a:custGeom>
              <a:avLst/>
              <a:gdLst>
                <a:gd name="textAreaLeft" fmla="*/ 0 w 4659120"/>
                <a:gd name="textAreaRight" fmla="*/ 4659480 w 4659120"/>
                <a:gd name="textAreaTop" fmla="*/ 0 h 1873080"/>
                <a:gd name="textAreaBottom" fmla="*/ 1873440 h 1873080"/>
              </a:gdLst>
              <a:ahLst/>
              <a:cxnLst/>
              <a:rect l="textAreaLeft" t="textAreaTop" r="textAreaRight" b="textAreaBottom"/>
              <a:pathLst>
                <a:path w="6212483" h="2498042">
                  <a:moveTo>
                    <a:pt x="0" y="0"/>
                  </a:moveTo>
                  <a:lnTo>
                    <a:pt x="6212483" y="0"/>
                  </a:lnTo>
                  <a:lnTo>
                    <a:pt x="6212483" y="2498042"/>
                  </a:lnTo>
                  <a:lnTo>
                    <a:pt x="0" y="249804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TextBox 37"/>
            <p:cNvSpPr/>
            <p:nvPr/>
          </p:nvSpPr>
          <p:spPr>
            <a:xfrm>
              <a:off x="6815520" y="5578920"/>
              <a:ext cx="4659120" cy="1880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436"/>
                </a:lnSpc>
              </a:pPr>
              <a:r>
                <a:rPr lang="en-US" sz="2750" b="0" u="none" strike="noStrike">
                  <a:solidFill>
                    <a:srgbClr val="404155"/>
                  </a:solidFill>
                  <a:effectLst/>
                  <a:uFillTx/>
                  <a:latin typeface="Corben"/>
                  <a:ea typeface="Corben"/>
                </a:rPr>
                <a:t>It extracts key details such as qualifications, skills, and experience from resumes.</a:t>
              </a:r>
              <a:endParaRPr lang="en-IN" sz="27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0" name="Group 38"/>
          <p:cNvGrpSpPr/>
          <p:nvPr/>
        </p:nvGrpSpPr>
        <p:grpSpPr>
          <a:xfrm>
            <a:off x="12045240" y="5129280"/>
            <a:ext cx="5254560" cy="2809800"/>
            <a:chOff x="12045240" y="5129280"/>
            <a:chExt cx="5254560" cy="2809800"/>
          </a:xfrm>
        </p:grpSpPr>
        <p:sp>
          <p:nvSpPr>
            <p:cNvPr id="111" name="Freeform 39"/>
            <p:cNvSpPr/>
            <p:nvPr/>
          </p:nvSpPr>
          <p:spPr>
            <a:xfrm>
              <a:off x="12050280" y="5133960"/>
              <a:ext cx="5245200" cy="2800440"/>
            </a:xfrm>
            <a:custGeom>
              <a:avLst/>
              <a:gdLst>
                <a:gd name="textAreaLeft" fmla="*/ 0 w 5245200"/>
                <a:gd name="textAreaRight" fmla="*/ 5245560 w 5245200"/>
                <a:gd name="textAreaTop" fmla="*/ 0 h 2800440"/>
                <a:gd name="textAreaBottom" fmla="*/ 2800800 h 2800440"/>
              </a:gdLst>
              <a:ahLst/>
              <a:cxnLst/>
              <a:rect l="textAreaLeft" t="textAreaTop" r="textAreaRight" b="textAreaBottom"/>
              <a:pathLst>
                <a:path w="6993890" h="373418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3575431"/>
                  </a:lnTo>
                  <a:cubicBezTo>
                    <a:pt x="6993890" y="3663061"/>
                    <a:pt x="6922643" y="3734181"/>
                    <a:pt x="6834886" y="3734181"/>
                  </a:cubicBezTo>
                  <a:lnTo>
                    <a:pt x="159004" y="3734181"/>
                  </a:lnTo>
                  <a:cubicBezTo>
                    <a:pt x="71120" y="3734181"/>
                    <a:pt x="0" y="3663061"/>
                    <a:pt x="0" y="3575431"/>
                  </a:cubicBezTo>
                  <a:close/>
                </a:path>
              </a:pathLst>
            </a:custGeom>
            <a:gradFill rotWithShape="0">
              <a:gsLst>
                <a:gs pos="0">
                  <a:srgbClr val="cdffd8">
                    <a:alpha val="44000"/>
                  </a:srgbClr>
                </a:gs>
                <a:gs pos="100000">
                  <a:srgbClr val="94b9ff">
                    <a:alpha val="44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Freeform 40"/>
            <p:cNvSpPr/>
            <p:nvPr/>
          </p:nvSpPr>
          <p:spPr>
            <a:xfrm>
              <a:off x="12045240" y="5129280"/>
              <a:ext cx="5254560" cy="2809800"/>
            </a:xfrm>
            <a:custGeom>
              <a:avLst/>
              <a:gdLst>
                <a:gd name="textAreaLeft" fmla="*/ 0 w 5254560"/>
                <a:gd name="textAreaRight" fmla="*/ 5254920 w 5254560"/>
                <a:gd name="textAreaTop" fmla="*/ 0 h 2809800"/>
                <a:gd name="textAreaBottom" fmla="*/ 2810160 h 2809800"/>
              </a:gdLst>
              <a:ahLst/>
              <a:cxnLst/>
              <a:rect l="textAreaLeft" t="textAreaTop" r="textAreaRight" b="textAreaBottom"/>
              <a:pathLst>
                <a:path w="7006590" h="3746881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3581781"/>
                  </a:lnTo>
                  <a:lnTo>
                    <a:pt x="7000240" y="3581781"/>
                  </a:lnTo>
                  <a:lnTo>
                    <a:pt x="7006590" y="3581781"/>
                  </a:lnTo>
                  <a:cubicBezTo>
                    <a:pt x="7006590" y="3672967"/>
                    <a:pt x="6932549" y="3746881"/>
                    <a:pt x="6841236" y="3746881"/>
                  </a:cubicBezTo>
                  <a:lnTo>
                    <a:pt x="6841236" y="3740531"/>
                  </a:lnTo>
                  <a:lnTo>
                    <a:pt x="6841236" y="3746881"/>
                  </a:lnTo>
                  <a:lnTo>
                    <a:pt x="165354" y="3746881"/>
                  </a:lnTo>
                  <a:lnTo>
                    <a:pt x="165354" y="3740531"/>
                  </a:lnTo>
                  <a:lnTo>
                    <a:pt x="165354" y="3746881"/>
                  </a:lnTo>
                  <a:cubicBezTo>
                    <a:pt x="74041" y="3746881"/>
                    <a:pt x="0" y="3672967"/>
                    <a:pt x="0" y="35817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81781"/>
                  </a:lnTo>
                  <a:lnTo>
                    <a:pt x="6350" y="3581781"/>
                  </a:lnTo>
                  <a:lnTo>
                    <a:pt x="12700" y="3581781"/>
                  </a:lnTo>
                  <a:cubicBezTo>
                    <a:pt x="12700" y="3665982"/>
                    <a:pt x="81026" y="3734181"/>
                    <a:pt x="165354" y="3734181"/>
                  </a:cubicBezTo>
                  <a:lnTo>
                    <a:pt x="6841236" y="3734181"/>
                  </a:lnTo>
                  <a:cubicBezTo>
                    <a:pt x="6925564" y="3734181"/>
                    <a:pt x="6993890" y="3665982"/>
                    <a:pt x="6993890" y="3581781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236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8bfdf">
                <a:alpha val="4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3" name="Group 41"/>
          <p:cNvGrpSpPr/>
          <p:nvPr/>
        </p:nvGrpSpPr>
        <p:grpSpPr>
          <a:xfrm>
            <a:off x="12343320" y="5259600"/>
            <a:ext cx="4659120" cy="2519280"/>
            <a:chOff x="12343320" y="5259600"/>
            <a:chExt cx="4659120" cy="2519280"/>
          </a:xfrm>
        </p:grpSpPr>
        <p:sp>
          <p:nvSpPr>
            <p:cNvPr id="114" name="Freeform 42"/>
            <p:cNvSpPr/>
            <p:nvPr/>
          </p:nvSpPr>
          <p:spPr>
            <a:xfrm>
              <a:off x="12343320" y="5266800"/>
              <a:ext cx="4659120" cy="2512080"/>
            </a:xfrm>
            <a:custGeom>
              <a:avLst/>
              <a:gdLst>
                <a:gd name="textAreaLeft" fmla="*/ 0 w 4659120"/>
                <a:gd name="textAreaRight" fmla="*/ 4659480 w 4659120"/>
                <a:gd name="textAreaTop" fmla="*/ 0 h 2512080"/>
                <a:gd name="textAreaBottom" fmla="*/ 2512440 h 2512080"/>
              </a:gdLst>
              <a:ahLst/>
              <a:cxnLst/>
              <a:rect l="textAreaLeft" t="textAreaTop" r="textAreaRight" b="textAreaBottom"/>
              <a:pathLst>
                <a:path w="6212483" h="3349823">
                  <a:moveTo>
                    <a:pt x="0" y="0"/>
                  </a:moveTo>
                  <a:lnTo>
                    <a:pt x="6212483" y="0"/>
                  </a:lnTo>
                  <a:lnTo>
                    <a:pt x="6212483" y="3349823"/>
                  </a:lnTo>
                  <a:lnTo>
                    <a:pt x="0" y="334982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TextBox 43"/>
            <p:cNvSpPr/>
            <p:nvPr/>
          </p:nvSpPr>
          <p:spPr>
            <a:xfrm>
              <a:off x="12343320" y="5259600"/>
              <a:ext cx="4659120" cy="251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436"/>
                </a:lnSpc>
              </a:pPr>
              <a:r>
                <a:rPr lang="en-US" sz="2750" b="0" u="none" strike="noStrike">
                  <a:solidFill>
                    <a:srgbClr val="404155"/>
                  </a:solidFill>
                  <a:effectLst/>
                  <a:uFillTx/>
                  <a:latin typeface="Corben"/>
                  <a:ea typeface="Corben"/>
                </a:rPr>
                <a:t>The system uses Natural Language Processing (NLP) to analyze resumes and a Rule-Based Algorithm to generate resume scores.</a:t>
              </a:r>
              <a:endParaRPr lang="en-IN" sz="27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6" name="Group 44"/>
          <p:cNvGrpSpPr/>
          <p:nvPr/>
        </p:nvGrpSpPr>
        <p:grpSpPr>
          <a:xfrm>
            <a:off x="987480" y="8213400"/>
            <a:ext cx="16312680" cy="1038240"/>
            <a:chOff x="987480" y="8213400"/>
            <a:chExt cx="16312680" cy="1038240"/>
          </a:xfrm>
        </p:grpSpPr>
        <p:sp>
          <p:nvSpPr>
            <p:cNvPr id="117" name="Freeform 45"/>
            <p:cNvSpPr/>
            <p:nvPr/>
          </p:nvSpPr>
          <p:spPr>
            <a:xfrm>
              <a:off x="992160" y="8218080"/>
              <a:ext cx="16303320" cy="1028520"/>
            </a:xfrm>
            <a:custGeom>
              <a:avLst/>
              <a:gdLst>
                <a:gd name="textAreaLeft" fmla="*/ 0 w 16303320"/>
                <a:gd name="textAreaRight" fmla="*/ 16303680 w 16303320"/>
                <a:gd name="textAreaTop" fmla="*/ 0 h 1028520"/>
                <a:gd name="textAreaBottom" fmla="*/ 1028880 h 1028520"/>
              </a:gdLst>
              <a:ahLst/>
              <a:cxnLst/>
              <a:rect l="textAreaLeft" t="textAreaTop" r="textAreaRight" b="textAreaBottom"/>
              <a:pathLst>
                <a:path w="21738082" h="1371981">
                  <a:moveTo>
                    <a:pt x="0" y="158750"/>
                  </a:moveTo>
                  <a:cubicBezTo>
                    <a:pt x="0" y="71120"/>
                    <a:pt x="71755" y="0"/>
                    <a:pt x="160147" y="0"/>
                  </a:cubicBezTo>
                  <a:lnTo>
                    <a:pt x="21577936" y="0"/>
                  </a:lnTo>
                  <a:cubicBezTo>
                    <a:pt x="21666327" y="0"/>
                    <a:pt x="21738082" y="71120"/>
                    <a:pt x="21738082" y="158750"/>
                  </a:cubicBezTo>
                  <a:lnTo>
                    <a:pt x="21738082" y="1213231"/>
                  </a:lnTo>
                  <a:cubicBezTo>
                    <a:pt x="21738082" y="1300861"/>
                    <a:pt x="21666327" y="1371981"/>
                    <a:pt x="21577936" y="1371981"/>
                  </a:cubicBezTo>
                  <a:lnTo>
                    <a:pt x="160147" y="1371981"/>
                  </a:lnTo>
                  <a:cubicBezTo>
                    <a:pt x="71755" y="1371981"/>
                    <a:pt x="0" y="1300861"/>
                    <a:pt x="0" y="1213231"/>
                  </a:cubicBezTo>
                  <a:close/>
                </a:path>
              </a:pathLst>
            </a:custGeom>
            <a:gradFill rotWithShape="0">
              <a:gsLst>
                <a:gs pos="0">
                  <a:srgbClr val="cdffd8">
                    <a:alpha val="44000"/>
                  </a:srgbClr>
                </a:gs>
                <a:gs pos="100000">
                  <a:srgbClr val="94b9ff">
                    <a:alpha val="44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Freeform 46"/>
            <p:cNvSpPr/>
            <p:nvPr/>
          </p:nvSpPr>
          <p:spPr>
            <a:xfrm>
              <a:off x="987480" y="8213400"/>
              <a:ext cx="16312680" cy="1038240"/>
            </a:xfrm>
            <a:custGeom>
              <a:avLst/>
              <a:gdLst>
                <a:gd name="textAreaLeft" fmla="*/ 0 w 16312680"/>
                <a:gd name="textAreaRight" fmla="*/ 16313040 w 1631268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21750782" h="1384681">
                  <a:moveTo>
                    <a:pt x="0" y="165100"/>
                  </a:moveTo>
                  <a:cubicBezTo>
                    <a:pt x="0" y="73914"/>
                    <a:pt x="74549" y="0"/>
                    <a:pt x="166497" y="0"/>
                  </a:cubicBezTo>
                  <a:lnTo>
                    <a:pt x="21584286" y="0"/>
                  </a:lnTo>
                  <a:lnTo>
                    <a:pt x="21584286" y="6350"/>
                  </a:lnTo>
                  <a:lnTo>
                    <a:pt x="21584286" y="0"/>
                  </a:lnTo>
                  <a:cubicBezTo>
                    <a:pt x="21676233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1219581"/>
                  </a:lnTo>
                  <a:lnTo>
                    <a:pt x="21744432" y="1219581"/>
                  </a:lnTo>
                  <a:lnTo>
                    <a:pt x="21750782" y="1219581"/>
                  </a:lnTo>
                  <a:cubicBezTo>
                    <a:pt x="21750782" y="1310894"/>
                    <a:pt x="21676233" y="1384681"/>
                    <a:pt x="21584286" y="1384681"/>
                  </a:cubicBezTo>
                  <a:lnTo>
                    <a:pt x="21584286" y="1378331"/>
                  </a:lnTo>
                  <a:lnTo>
                    <a:pt x="21584286" y="1384681"/>
                  </a:lnTo>
                  <a:lnTo>
                    <a:pt x="166497" y="1384681"/>
                  </a:lnTo>
                  <a:lnTo>
                    <a:pt x="166497" y="1378331"/>
                  </a:lnTo>
                  <a:lnTo>
                    <a:pt x="166497" y="1384681"/>
                  </a:lnTo>
                  <a:cubicBezTo>
                    <a:pt x="74549" y="1384681"/>
                    <a:pt x="0" y="1310767"/>
                    <a:pt x="0" y="12195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219581"/>
                  </a:lnTo>
                  <a:lnTo>
                    <a:pt x="6350" y="1219581"/>
                  </a:lnTo>
                  <a:lnTo>
                    <a:pt x="12700" y="1219581"/>
                  </a:lnTo>
                  <a:cubicBezTo>
                    <a:pt x="12700" y="1303655"/>
                    <a:pt x="81534" y="1371981"/>
                    <a:pt x="166497" y="1371981"/>
                  </a:cubicBezTo>
                  <a:lnTo>
                    <a:pt x="21584286" y="1371981"/>
                  </a:lnTo>
                  <a:cubicBezTo>
                    <a:pt x="21669248" y="1371981"/>
                    <a:pt x="21738082" y="1303655"/>
                    <a:pt x="21738082" y="1219581"/>
                  </a:cubicBezTo>
                  <a:lnTo>
                    <a:pt x="21738082" y="165100"/>
                  </a:lnTo>
                  <a:cubicBezTo>
                    <a:pt x="21738082" y="81026"/>
                    <a:pt x="21669248" y="12700"/>
                    <a:pt x="21584286" y="12700"/>
                  </a:cubicBezTo>
                  <a:lnTo>
                    <a:pt x="166497" y="12700"/>
                  </a:lnTo>
                  <a:lnTo>
                    <a:pt x="166497" y="6350"/>
                  </a:lnTo>
                  <a:lnTo>
                    <a:pt x="166497" y="12700"/>
                  </a:lnTo>
                  <a:cubicBezTo>
                    <a:pt x="81534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b8bfdf">
                <a:alpha val="4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" name="Group 47"/>
          <p:cNvGrpSpPr/>
          <p:nvPr/>
        </p:nvGrpSpPr>
        <p:grpSpPr>
          <a:xfrm>
            <a:off x="2597400" y="8352000"/>
            <a:ext cx="13092480" cy="753840"/>
            <a:chOff x="2597400" y="8352000"/>
            <a:chExt cx="13092480" cy="753840"/>
          </a:xfrm>
        </p:grpSpPr>
        <p:sp>
          <p:nvSpPr>
            <p:cNvPr id="120" name="Freeform 48"/>
            <p:cNvSpPr/>
            <p:nvPr/>
          </p:nvSpPr>
          <p:spPr>
            <a:xfrm>
              <a:off x="2597400" y="8359200"/>
              <a:ext cx="13092480" cy="746640"/>
            </a:xfrm>
            <a:custGeom>
              <a:avLst/>
              <a:gdLst>
                <a:gd name="textAreaLeft" fmla="*/ 0 w 13092480"/>
                <a:gd name="textAreaRight" fmla="*/ 13092840 w 13092480"/>
                <a:gd name="textAreaTop" fmla="*/ 0 h 746640"/>
                <a:gd name="textAreaBottom" fmla="*/ 747000 h 746640"/>
              </a:gdLst>
              <a:ahLst/>
              <a:cxnLst/>
              <a:rect l="textAreaLeft" t="textAreaTop" r="textAreaRight" b="textAreaBottom"/>
              <a:pathLst>
                <a:path w="17456993" h="996157">
                  <a:moveTo>
                    <a:pt x="0" y="0"/>
                  </a:moveTo>
                  <a:lnTo>
                    <a:pt x="17456993" y="0"/>
                  </a:lnTo>
                  <a:lnTo>
                    <a:pt x="17456993" y="996157"/>
                  </a:lnTo>
                  <a:lnTo>
                    <a:pt x="0" y="99615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49"/>
            <p:cNvSpPr/>
            <p:nvPr/>
          </p:nvSpPr>
          <p:spPr>
            <a:xfrm>
              <a:off x="2597400" y="8352000"/>
              <a:ext cx="13092480" cy="75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436"/>
                </a:lnSpc>
              </a:pPr>
              <a:r>
                <a:rPr lang="en-US" sz="2750" b="0" u="none" strike="noStrike">
                  <a:solidFill>
                    <a:srgbClr val="404155"/>
                  </a:solidFill>
                  <a:effectLst/>
                  <a:uFillTx/>
                  <a:latin typeface="Corben"/>
                  <a:ea typeface="Corben"/>
                </a:rPr>
                <a:t>The platform consists of four modules: Admin, User, Recruiter, and Feedback.</a:t>
              </a:r>
              <a:endParaRPr lang="en-IN" sz="27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Freeform 2" descr="preencoded.png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24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5" name="Freeform 5" descr="preencoded.png">
            <a:hlinkClick r:id="rId2"/>
          </p:cNvPr>
          <p:cNvSpPr/>
          <p:nvPr/>
        </p:nvSpPr>
        <p:spPr>
          <a:xfrm>
            <a:off x="16049160" y="9686880"/>
            <a:ext cx="2152800" cy="514080"/>
          </a:xfrm>
          <a:custGeom>
            <a:avLst/>
            <a:gdLst>
              <a:gd name="textAreaLeft" fmla="*/ 0 w 2152800"/>
              <a:gd name="textAreaRight" fmla="*/ 2153160 w 2152800"/>
              <a:gd name="textAreaTop" fmla="*/ 0 h 514080"/>
              <a:gd name="textAreaBottom" fmla="*/ 514440 h 514080"/>
            </a:gdLst>
            <a:ahLst/>
            <a:cxnLst/>
            <a:rect l="textAreaLeft" t="textAreaTop" r="textAreaRight" b="textAreaBottom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Freeform 6" descr="preencoded.png"/>
          <p:cNvSpPr/>
          <p:nvPr/>
        </p:nvSpPr>
        <p:spPr>
          <a:xfrm>
            <a:off x="11622240" y="0"/>
            <a:ext cx="6665400" cy="10286640"/>
          </a:xfrm>
          <a:custGeom>
            <a:avLst/>
            <a:gdLst>
              <a:gd name="textAreaLeft" fmla="*/ 0 w 6665400"/>
              <a:gd name="textAreaRight" fmla="*/ 6665760 w 666540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6665720" h="10287000">
                <a:moveTo>
                  <a:pt x="0" y="0"/>
                </a:moveTo>
                <a:lnTo>
                  <a:pt x="6665720" y="0"/>
                </a:lnTo>
                <a:lnTo>
                  <a:pt x="66657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7" name="Group 7"/>
          <p:cNvGrpSpPr/>
          <p:nvPr/>
        </p:nvGrpSpPr>
        <p:grpSpPr>
          <a:xfrm>
            <a:off x="992160" y="379440"/>
            <a:ext cx="6379200" cy="1363320"/>
            <a:chOff x="992160" y="379440"/>
            <a:chExt cx="6379200" cy="1363320"/>
          </a:xfrm>
        </p:grpSpPr>
        <p:sp>
          <p:nvSpPr>
            <p:cNvPr id="128" name="Freeform 8"/>
            <p:cNvSpPr/>
            <p:nvPr/>
          </p:nvSpPr>
          <p:spPr>
            <a:xfrm>
              <a:off x="992160" y="393840"/>
              <a:ext cx="6379200" cy="1348920"/>
            </a:xfrm>
            <a:custGeom>
              <a:avLst/>
              <a:gdLst>
                <a:gd name="textAreaLeft" fmla="*/ 0 w 6379200"/>
                <a:gd name="textAreaRight" fmla="*/ 6379560 w 6379200"/>
                <a:gd name="textAreaTop" fmla="*/ 0 h 1348920"/>
                <a:gd name="textAreaBottom" fmla="*/ 1349280 h 1348920"/>
              </a:gdLst>
              <a:ahLst/>
              <a:cxnLst/>
              <a:rect l="textAreaLeft" t="textAreaTop" r="textAreaRight" b="textAreaBottom"/>
              <a:pathLst>
                <a:path w="8506023" h="1799233">
                  <a:moveTo>
                    <a:pt x="0" y="0"/>
                  </a:moveTo>
                  <a:lnTo>
                    <a:pt x="8506023" y="0"/>
                  </a:lnTo>
                  <a:lnTo>
                    <a:pt x="8506023" y="1799233"/>
                  </a:lnTo>
                  <a:lnTo>
                    <a:pt x="0" y="179923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TextBox 9"/>
            <p:cNvSpPr/>
            <p:nvPr/>
          </p:nvSpPr>
          <p:spPr>
            <a:xfrm>
              <a:off x="992160" y="379440"/>
              <a:ext cx="6379200" cy="136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5876"/>
                </a:lnSpc>
              </a:pPr>
              <a:r>
                <a:rPr lang="en-US" sz="4700" b="0" u="none" strike="noStrike">
                  <a:solidFill>
                    <a:srgbClr val="1b1b27"/>
                  </a:solidFill>
                  <a:effectLst/>
                  <a:uFillTx/>
                  <a:latin typeface="Corben"/>
                  <a:ea typeface="Corben"/>
                </a:rPr>
                <a:t>EXISTING SYSTEM</a:t>
              </a:r>
              <a:endParaRPr lang="en-IN" sz="4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0" name="Group 10"/>
          <p:cNvGrpSpPr/>
          <p:nvPr/>
        </p:nvGrpSpPr>
        <p:grpSpPr>
          <a:xfrm>
            <a:off x="992160" y="2106000"/>
            <a:ext cx="3189240" cy="675000"/>
            <a:chOff x="992160" y="2106000"/>
            <a:chExt cx="3189240" cy="675000"/>
          </a:xfrm>
        </p:grpSpPr>
        <p:sp>
          <p:nvSpPr>
            <p:cNvPr id="131" name="Freeform 11"/>
            <p:cNvSpPr/>
            <p:nvPr/>
          </p:nvSpPr>
          <p:spPr>
            <a:xfrm>
              <a:off x="992160" y="2127600"/>
              <a:ext cx="3189240" cy="653400"/>
            </a:xfrm>
            <a:custGeom>
              <a:avLst/>
              <a:gdLst>
                <a:gd name="textAreaLeft" fmla="*/ 0 w 3189240"/>
                <a:gd name="textAreaRight" fmla="*/ 3189600 w 3189240"/>
                <a:gd name="textAreaTop" fmla="*/ 0 h 653400"/>
                <a:gd name="textAreaBottom" fmla="*/ 653760 h 653400"/>
              </a:gdLst>
              <a:ahLst/>
              <a:cxnLst/>
              <a:rect l="textAreaLeft" t="textAreaTop" r="textAreaRight" b="textAreaBottom"/>
              <a:pathLst>
                <a:path w="4252913" h="871538">
                  <a:moveTo>
                    <a:pt x="0" y="0"/>
                  </a:moveTo>
                  <a:lnTo>
                    <a:pt x="4252913" y="0"/>
                  </a:lnTo>
                  <a:lnTo>
                    <a:pt x="4252913" y="871538"/>
                  </a:lnTo>
                  <a:lnTo>
                    <a:pt x="0" y="87153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TextBox 12"/>
            <p:cNvSpPr/>
            <p:nvPr/>
          </p:nvSpPr>
          <p:spPr>
            <a:xfrm>
              <a:off x="992160" y="2106000"/>
              <a:ext cx="3189240" cy="67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376"/>
                </a:lnSpc>
              </a:pPr>
              <a:r>
                <a:rPr lang="en-US" sz="270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Current Challenges</a:t>
              </a:r>
              <a:endParaRPr lang="en-IN" sz="2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3" name="Group 13"/>
          <p:cNvGrpSpPr/>
          <p:nvPr/>
        </p:nvGrpSpPr>
        <p:grpSpPr>
          <a:xfrm>
            <a:off x="992160" y="3176640"/>
            <a:ext cx="4411080" cy="1281960"/>
            <a:chOff x="992160" y="3176640"/>
            <a:chExt cx="4411080" cy="1281960"/>
          </a:xfrm>
        </p:grpSpPr>
        <p:sp>
          <p:nvSpPr>
            <p:cNvPr id="134" name="Freeform 14"/>
            <p:cNvSpPr/>
            <p:nvPr/>
          </p:nvSpPr>
          <p:spPr>
            <a:xfrm>
              <a:off x="992160" y="3233880"/>
              <a:ext cx="4411080" cy="1224720"/>
            </a:xfrm>
            <a:custGeom>
              <a:avLst/>
              <a:gdLst>
                <a:gd name="textAreaLeft" fmla="*/ 0 w 4411080"/>
                <a:gd name="textAreaRight" fmla="*/ 4411440 w 4411080"/>
                <a:gd name="textAreaTop" fmla="*/ 0 h 1224720"/>
                <a:gd name="textAreaBottom" fmla="*/ 1225080 h 1224720"/>
              </a:gdLst>
              <a:ahLst/>
              <a:cxnLst/>
              <a:rect l="textAreaLeft" t="textAreaTop" r="textAreaRight" b="textAreaBottom"/>
              <a:pathLst>
                <a:path w="5882085" h="1633538">
                  <a:moveTo>
                    <a:pt x="0" y="0"/>
                  </a:moveTo>
                  <a:lnTo>
                    <a:pt x="5882085" y="0"/>
                  </a:lnTo>
                  <a:lnTo>
                    <a:pt x="5882085" y="1633538"/>
                  </a:lnTo>
                  <a:lnTo>
                    <a:pt x="0" y="163353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TextBox 15"/>
            <p:cNvSpPr/>
            <p:nvPr/>
          </p:nvSpPr>
          <p:spPr>
            <a:xfrm>
              <a:off x="992160" y="3176640"/>
              <a:ext cx="4411080" cy="12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301680" lvl="1" indent="-150840" defTabSz="914400">
                <a:lnSpc>
                  <a:spcPts val="3186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0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Recruiters manually review resumes, which takes a lot of time.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6" name="Group 16"/>
          <p:cNvGrpSpPr/>
          <p:nvPr/>
        </p:nvGrpSpPr>
        <p:grpSpPr>
          <a:xfrm>
            <a:off x="992160" y="4487760"/>
            <a:ext cx="4411080" cy="1281960"/>
            <a:chOff x="992160" y="4487760"/>
            <a:chExt cx="4411080" cy="1281960"/>
          </a:xfrm>
        </p:grpSpPr>
        <p:sp>
          <p:nvSpPr>
            <p:cNvPr id="137" name="Freeform 17"/>
            <p:cNvSpPr/>
            <p:nvPr/>
          </p:nvSpPr>
          <p:spPr>
            <a:xfrm>
              <a:off x="992160" y="4544640"/>
              <a:ext cx="4411080" cy="1224720"/>
            </a:xfrm>
            <a:custGeom>
              <a:avLst/>
              <a:gdLst>
                <a:gd name="textAreaLeft" fmla="*/ 0 w 4411080"/>
                <a:gd name="textAreaRight" fmla="*/ 4411440 w 4411080"/>
                <a:gd name="textAreaTop" fmla="*/ 0 h 1224720"/>
                <a:gd name="textAreaBottom" fmla="*/ 1225080 h 1224720"/>
              </a:gdLst>
              <a:ahLst/>
              <a:cxnLst/>
              <a:rect l="textAreaLeft" t="textAreaTop" r="textAreaRight" b="textAreaBottom"/>
              <a:pathLst>
                <a:path w="5882085" h="1633538">
                  <a:moveTo>
                    <a:pt x="0" y="0"/>
                  </a:moveTo>
                  <a:lnTo>
                    <a:pt x="5882085" y="0"/>
                  </a:lnTo>
                  <a:lnTo>
                    <a:pt x="5882085" y="1633538"/>
                  </a:lnTo>
                  <a:lnTo>
                    <a:pt x="0" y="163353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TextBox 18"/>
            <p:cNvSpPr/>
            <p:nvPr/>
          </p:nvSpPr>
          <p:spPr>
            <a:xfrm>
              <a:off x="992160" y="4487760"/>
              <a:ext cx="4411080" cy="12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301680" lvl="1" indent="-150840" defTabSz="914400">
                <a:lnSpc>
                  <a:spcPts val="3186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0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Shortlisting candidates is difficult due to the high number of applications.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" name="Group 19"/>
          <p:cNvGrpSpPr/>
          <p:nvPr/>
        </p:nvGrpSpPr>
        <p:grpSpPr>
          <a:xfrm>
            <a:off x="1028880" y="5806800"/>
            <a:ext cx="4411080" cy="1690560"/>
            <a:chOff x="1028880" y="5806800"/>
            <a:chExt cx="4411080" cy="1690560"/>
          </a:xfrm>
        </p:grpSpPr>
        <p:sp>
          <p:nvSpPr>
            <p:cNvPr id="140" name="Freeform 20"/>
            <p:cNvSpPr/>
            <p:nvPr/>
          </p:nvSpPr>
          <p:spPr>
            <a:xfrm>
              <a:off x="1028880" y="5864040"/>
              <a:ext cx="4411080" cy="1633320"/>
            </a:xfrm>
            <a:custGeom>
              <a:avLst/>
              <a:gdLst>
                <a:gd name="textAreaLeft" fmla="*/ 0 w 4411080"/>
                <a:gd name="textAreaRight" fmla="*/ 4411440 w 4411080"/>
                <a:gd name="textAreaTop" fmla="*/ 0 h 1633320"/>
                <a:gd name="textAreaBottom" fmla="*/ 1633680 h 1633320"/>
              </a:gdLst>
              <a:ahLst/>
              <a:cxnLst/>
              <a:rect l="textAreaLeft" t="textAreaTop" r="textAreaRight" b="textAreaBottom"/>
              <a:pathLst>
                <a:path w="5882085" h="2178050">
                  <a:moveTo>
                    <a:pt x="0" y="0"/>
                  </a:moveTo>
                  <a:lnTo>
                    <a:pt x="5882085" y="0"/>
                  </a:lnTo>
                  <a:lnTo>
                    <a:pt x="5882085" y="2178050"/>
                  </a:lnTo>
                  <a:lnTo>
                    <a:pt x="0" y="21780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TextBox 21"/>
            <p:cNvSpPr/>
            <p:nvPr/>
          </p:nvSpPr>
          <p:spPr>
            <a:xfrm>
              <a:off x="1028880" y="5806800"/>
              <a:ext cx="4411080" cy="169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301680" lvl="1" indent="-150840" defTabSz="914400">
                <a:lnSpc>
                  <a:spcPts val="3186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0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Recruiters use keyword searches or visual scanning, which can cause mistakes and miss good candidates.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2" name="Group 22"/>
          <p:cNvGrpSpPr/>
          <p:nvPr/>
        </p:nvGrpSpPr>
        <p:grpSpPr>
          <a:xfrm>
            <a:off x="1028880" y="7606080"/>
            <a:ext cx="4411080" cy="873720"/>
            <a:chOff x="1028880" y="7606080"/>
            <a:chExt cx="4411080" cy="873720"/>
          </a:xfrm>
        </p:grpSpPr>
        <p:sp>
          <p:nvSpPr>
            <p:cNvPr id="143" name="Freeform 23"/>
            <p:cNvSpPr/>
            <p:nvPr/>
          </p:nvSpPr>
          <p:spPr>
            <a:xfrm>
              <a:off x="1028880" y="7663320"/>
              <a:ext cx="4411080" cy="816480"/>
            </a:xfrm>
            <a:custGeom>
              <a:avLst/>
              <a:gdLst>
                <a:gd name="textAreaLeft" fmla="*/ 0 w 4411080"/>
                <a:gd name="textAreaRight" fmla="*/ 4411440 w 4411080"/>
                <a:gd name="textAreaTop" fmla="*/ 0 h 816480"/>
                <a:gd name="textAreaBottom" fmla="*/ 816840 h 816480"/>
              </a:gdLst>
              <a:ahLst/>
              <a:cxnLst/>
              <a:rect l="textAreaLeft" t="textAreaTop" r="textAreaRight" b="textAreaBottom"/>
              <a:pathLst>
                <a:path w="5882085" h="1089025">
                  <a:moveTo>
                    <a:pt x="0" y="0"/>
                  </a:moveTo>
                  <a:lnTo>
                    <a:pt x="5882085" y="0"/>
                  </a:lnTo>
                  <a:lnTo>
                    <a:pt x="5882085" y="1089025"/>
                  </a:lnTo>
                  <a:lnTo>
                    <a:pt x="0" y="108902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TextBox 24"/>
            <p:cNvSpPr/>
            <p:nvPr/>
          </p:nvSpPr>
          <p:spPr>
            <a:xfrm>
              <a:off x="1028880" y="7606080"/>
              <a:ext cx="4411080" cy="87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301680" lvl="1" indent="-150840" defTabSz="914400">
                <a:lnSpc>
                  <a:spcPts val="3186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0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Job seekers don't get clear feedback on their resumes.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5" name="Group 25"/>
          <p:cNvGrpSpPr/>
          <p:nvPr/>
        </p:nvGrpSpPr>
        <p:grpSpPr>
          <a:xfrm>
            <a:off x="1028880" y="8588520"/>
            <a:ext cx="4411080" cy="1281960"/>
            <a:chOff x="1028880" y="8588520"/>
            <a:chExt cx="4411080" cy="1281960"/>
          </a:xfrm>
        </p:grpSpPr>
        <p:sp>
          <p:nvSpPr>
            <p:cNvPr id="146" name="Freeform 26"/>
            <p:cNvSpPr/>
            <p:nvPr/>
          </p:nvSpPr>
          <p:spPr>
            <a:xfrm>
              <a:off x="1028880" y="8645760"/>
              <a:ext cx="4411080" cy="1224720"/>
            </a:xfrm>
            <a:custGeom>
              <a:avLst/>
              <a:gdLst>
                <a:gd name="textAreaLeft" fmla="*/ 0 w 4411080"/>
                <a:gd name="textAreaRight" fmla="*/ 4411440 w 4411080"/>
                <a:gd name="textAreaTop" fmla="*/ 0 h 1224720"/>
                <a:gd name="textAreaBottom" fmla="*/ 1225080 h 1224720"/>
              </a:gdLst>
              <a:ahLst/>
              <a:cxnLst/>
              <a:rect l="textAreaLeft" t="textAreaTop" r="textAreaRight" b="textAreaBottom"/>
              <a:pathLst>
                <a:path w="5882085" h="1633538">
                  <a:moveTo>
                    <a:pt x="0" y="0"/>
                  </a:moveTo>
                  <a:lnTo>
                    <a:pt x="5882085" y="0"/>
                  </a:lnTo>
                  <a:lnTo>
                    <a:pt x="5882085" y="1633538"/>
                  </a:lnTo>
                  <a:lnTo>
                    <a:pt x="0" y="163353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TextBox 27"/>
            <p:cNvSpPr/>
            <p:nvPr/>
          </p:nvSpPr>
          <p:spPr>
            <a:xfrm>
              <a:off x="1028880" y="8588520"/>
              <a:ext cx="4411080" cy="12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301680" lvl="1" indent="-150840" defTabSz="914400">
                <a:lnSpc>
                  <a:spcPts val="3186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0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Lack of automation leads to delays and increases recruiters' workload.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8" name="Group 28"/>
          <p:cNvGrpSpPr/>
          <p:nvPr/>
        </p:nvGrpSpPr>
        <p:grpSpPr>
          <a:xfrm>
            <a:off x="6307200" y="2106000"/>
            <a:ext cx="3189240" cy="675000"/>
            <a:chOff x="6307200" y="2106000"/>
            <a:chExt cx="3189240" cy="675000"/>
          </a:xfrm>
        </p:grpSpPr>
        <p:sp>
          <p:nvSpPr>
            <p:cNvPr id="149" name="Freeform 29"/>
            <p:cNvSpPr/>
            <p:nvPr/>
          </p:nvSpPr>
          <p:spPr>
            <a:xfrm>
              <a:off x="6307200" y="2127600"/>
              <a:ext cx="3189240" cy="653400"/>
            </a:xfrm>
            <a:custGeom>
              <a:avLst/>
              <a:gdLst>
                <a:gd name="textAreaLeft" fmla="*/ 0 w 3189240"/>
                <a:gd name="textAreaRight" fmla="*/ 3189600 w 3189240"/>
                <a:gd name="textAreaTop" fmla="*/ 0 h 653400"/>
                <a:gd name="textAreaBottom" fmla="*/ 653760 h 653400"/>
              </a:gdLst>
              <a:ahLst/>
              <a:cxnLst/>
              <a:rect l="textAreaLeft" t="textAreaTop" r="textAreaRight" b="textAreaBottom"/>
              <a:pathLst>
                <a:path w="4252913" h="871538">
                  <a:moveTo>
                    <a:pt x="0" y="0"/>
                  </a:moveTo>
                  <a:lnTo>
                    <a:pt x="4252913" y="0"/>
                  </a:lnTo>
                  <a:lnTo>
                    <a:pt x="4252913" y="871538"/>
                  </a:lnTo>
                  <a:lnTo>
                    <a:pt x="0" y="87153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TextBox 30"/>
            <p:cNvSpPr/>
            <p:nvPr/>
          </p:nvSpPr>
          <p:spPr>
            <a:xfrm>
              <a:off x="6307200" y="2106000"/>
              <a:ext cx="3189240" cy="67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376"/>
                </a:lnSpc>
              </a:pPr>
              <a:r>
                <a:rPr lang="en-US" sz="270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Disadvantages</a:t>
              </a:r>
              <a:endParaRPr lang="en-IN" sz="2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1" name="Group 31"/>
          <p:cNvGrpSpPr/>
          <p:nvPr/>
        </p:nvGrpSpPr>
        <p:grpSpPr>
          <a:xfrm>
            <a:off x="6492960" y="3165120"/>
            <a:ext cx="4411080" cy="873720"/>
            <a:chOff x="6492960" y="3165120"/>
            <a:chExt cx="4411080" cy="873720"/>
          </a:xfrm>
        </p:grpSpPr>
        <p:sp>
          <p:nvSpPr>
            <p:cNvPr id="152" name="Freeform 32"/>
            <p:cNvSpPr/>
            <p:nvPr/>
          </p:nvSpPr>
          <p:spPr>
            <a:xfrm>
              <a:off x="6492960" y="3222360"/>
              <a:ext cx="4411080" cy="816480"/>
            </a:xfrm>
            <a:custGeom>
              <a:avLst/>
              <a:gdLst>
                <a:gd name="textAreaLeft" fmla="*/ 0 w 4411080"/>
                <a:gd name="textAreaRight" fmla="*/ 4411440 w 4411080"/>
                <a:gd name="textAreaTop" fmla="*/ 0 h 816480"/>
                <a:gd name="textAreaBottom" fmla="*/ 816840 h 816480"/>
              </a:gdLst>
              <a:ahLst/>
              <a:cxnLst/>
              <a:rect l="textAreaLeft" t="textAreaTop" r="textAreaRight" b="textAreaBottom"/>
              <a:pathLst>
                <a:path w="5882085" h="1089025">
                  <a:moveTo>
                    <a:pt x="0" y="0"/>
                  </a:moveTo>
                  <a:lnTo>
                    <a:pt x="5882085" y="0"/>
                  </a:lnTo>
                  <a:lnTo>
                    <a:pt x="5882085" y="1089025"/>
                  </a:lnTo>
                  <a:lnTo>
                    <a:pt x="0" y="108902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TextBox 33"/>
            <p:cNvSpPr/>
            <p:nvPr/>
          </p:nvSpPr>
          <p:spPr>
            <a:xfrm>
              <a:off x="6492960" y="3165120"/>
              <a:ext cx="4411080" cy="87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301680" lvl="1" indent="-150840" defTabSz="914400">
                <a:lnSpc>
                  <a:spcPts val="3186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0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Manual review takes too much time.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4" name="Group 34"/>
          <p:cNvGrpSpPr/>
          <p:nvPr/>
        </p:nvGrpSpPr>
        <p:grpSpPr>
          <a:xfrm>
            <a:off x="6492960" y="4077720"/>
            <a:ext cx="4411080" cy="873720"/>
            <a:chOff x="6492960" y="4077720"/>
            <a:chExt cx="4411080" cy="873720"/>
          </a:xfrm>
        </p:grpSpPr>
        <p:sp>
          <p:nvSpPr>
            <p:cNvPr id="155" name="Freeform 35"/>
            <p:cNvSpPr/>
            <p:nvPr/>
          </p:nvSpPr>
          <p:spPr>
            <a:xfrm>
              <a:off x="6492960" y="4134960"/>
              <a:ext cx="4411080" cy="816480"/>
            </a:xfrm>
            <a:custGeom>
              <a:avLst/>
              <a:gdLst>
                <a:gd name="textAreaLeft" fmla="*/ 0 w 4411080"/>
                <a:gd name="textAreaRight" fmla="*/ 4411440 w 4411080"/>
                <a:gd name="textAreaTop" fmla="*/ 0 h 816480"/>
                <a:gd name="textAreaBottom" fmla="*/ 816840 h 816480"/>
              </a:gdLst>
              <a:ahLst/>
              <a:cxnLst/>
              <a:rect l="textAreaLeft" t="textAreaTop" r="textAreaRight" b="textAreaBottom"/>
              <a:pathLst>
                <a:path w="5882085" h="1089025">
                  <a:moveTo>
                    <a:pt x="0" y="0"/>
                  </a:moveTo>
                  <a:lnTo>
                    <a:pt x="5882085" y="0"/>
                  </a:lnTo>
                  <a:lnTo>
                    <a:pt x="5882085" y="1089025"/>
                  </a:lnTo>
                  <a:lnTo>
                    <a:pt x="0" y="108902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TextBox 36"/>
            <p:cNvSpPr/>
            <p:nvPr/>
          </p:nvSpPr>
          <p:spPr>
            <a:xfrm>
              <a:off x="6492960" y="4077720"/>
              <a:ext cx="4411080" cy="87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301680" lvl="1" indent="-150840" defTabSz="914400">
                <a:lnSpc>
                  <a:spcPts val="3186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0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Human bias and errors are common.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7" name="Group 37"/>
          <p:cNvGrpSpPr/>
          <p:nvPr/>
        </p:nvGrpSpPr>
        <p:grpSpPr>
          <a:xfrm>
            <a:off x="6492960" y="4989600"/>
            <a:ext cx="4411080" cy="873720"/>
            <a:chOff x="6492960" y="4989600"/>
            <a:chExt cx="4411080" cy="873720"/>
          </a:xfrm>
        </p:grpSpPr>
        <p:sp>
          <p:nvSpPr>
            <p:cNvPr id="158" name="Freeform 38"/>
            <p:cNvSpPr/>
            <p:nvPr/>
          </p:nvSpPr>
          <p:spPr>
            <a:xfrm>
              <a:off x="6492960" y="5046840"/>
              <a:ext cx="4411080" cy="816480"/>
            </a:xfrm>
            <a:custGeom>
              <a:avLst/>
              <a:gdLst>
                <a:gd name="textAreaLeft" fmla="*/ 0 w 4411080"/>
                <a:gd name="textAreaRight" fmla="*/ 4411440 w 4411080"/>
                <a:gd name="textAreaTop" fmla="*/ 0 h 816480"/>
                <a:gd name="textAreaBottom" fmla="*/ 816840 h 816480"/>
              </a:gdLst>
              <a:ahLst/>
              <a:cxnLst/>
              <a:rect l="textAreaLeft" t="textAreaTop" r="textAreaRight" b="textAreaBottom"/>
              <a:pathLst>
                <a:path w="5882085" h="1089025">
                  <a:moveTo>
                    <a:pt x="0" y="0"/>
                  </a:moveTo>
                  <a:lnTo>
                    <a:pt x="5882085" y="0"/>
                  </a:lnTo>
                  <a:lnTo>
                    <a:pt x="5882085" y="1089025"/>
                  </a:lnTo>
                  <a:lnTo>
                    <a:pt x="0" y="108902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TextBox 39"/>
            <p:cNvSpPr/>
            <p:nvPr/>
          </p:nvSpPr>
          <p:spPr>
            <a:xfrm>
              <a:off x="6492960" y="4989600"/>
              <a:ext cx="4411080" cy="87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301680" lvl="1" indent="-150840" defTabSz="914400">
                <a:lnSpc>
                  <a:spcPts val="3186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0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 No clear feedback for job seekers.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0" name="Group 40"/>
          <p:cNvGrpSpPr/>
          <p:nvPr/>
        </p:nvGrpSpPr>
        <p:grpSpPr>
          <a:xfrm>
            <a:off x="6492960" y="5901840"/>
            <a:ext cx="4411080" cy="873720"/>
            <a:chOff x="6492960" y="5901840"/>
            <a:chExt cx="4411080" cy="873720"/>
          </a:xfrm>
        </p:grpSpPr>
        <p:sp>
          <p:nvSpPr>
            <p:cNvPr id="161" name="Freeform 41"/>
            <p:cNvSpPr/>
            <p:nvPr/>
          </p:nvSpPr>
          <p:spPr>
            <a:xfrm>
              <a:off x="6492960" y="5958720"/>
              <a:ext cx="4411080" cy="816480"/>
            </a:xfrm>
            <a:custGeom>
              <a:avLst/>
              <a:gdLst>
                <a:gd name="textAreaLeft" fmla="*/ 0 w 4411080"/>
                <a:gd name="textAreaRight" fmla="*/ 4411440 w 4411080"/>
                <a:gd name="textAreaTop" fmla="*/ 0 h 816480"/>
                <a:gd name="textAreaBottom" fmla="*/ 816840 h 816480"/>
              </a:gdLst>
              <a:ahLst/>
              <a:cxnLst/>
              <a:rect l="textAreaLeft" t="textAreaTop" r="textAreaRight" b="textAreaBottom"/>
              <a:pathLst>
                <a:path w="5882085" h="1089025">
                  <a:moveTo>
                    <a:pt x="0" y="0"/>
                  </a:moveTo>
                  <a:lnTo>
                    <a:pt x="5882085" y="0"/>
                  </a:lnTo>
                  <a:lnTo>
                    <a:pt x="5882085" y="1089025"/>
                  </a:lnTo>
                  <a:lnTo>
                    <a:pt x="0" y="108902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TextBox 42"/>
            <p:cNvSpPr/>
            <p:nvPr/>
          </p:nvSpPr>
          <p:spPr>
            <a:xfrm>
              <a:off x="6492960" y="5901840"/>
              <a:ext cx="4411080" cy="87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301680" lvl="1" indent="-150840" defTabSz="914400">
                <a:lnSpc>
                  <a:spcPts val="3186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0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Hard to manage large numbers of resumes.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" name="AutoShape 43"/>
          <p:cNvSpPr/>
          <p:nvPr/>
        </p:nvSpPr>
        <p:spPr>
          <a:xfrm>
            <a:off x="5805000" y="2388600"/>
            <a:ext cx="137160" cy="714024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Freeform 2" descr="preencoded.png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5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66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7" name="Group 5"/>
          <p:cNvGrpSpPr/>
          <p:nvPr/>
        </p:nvGrpSpPr>
        <p:grpSpPr>
          <a:xfrm>
            <a:off x="992160" y="399960"/>
            <a:ext cx="7581960" cy="1244520"/>
            <a:chOff x="992160" y="399960"/>
            <a:chExt cx="7581960" cy="1244520"/>
          </a:xfrm>
        </p:grpSpPr>
        <p:sp>
          <p:nvSpPr>
            <p:cNvPr id="168" name="Freeform 6"/>
            <p:cNvSpPr/>
            <p:nvPr/>
          </p:nvSpPr>
          <p:spPr>
            <a:xfrm>
              <a:off x="992160" y="414000"/>
              <a:ext cx="7581960" cy="1230120"/>
            </a:xfrm>
            <a:custGeom>
              <a:avLst/>
              <a:gdLst>
                <a:gd name="textAreaLeft" fmla="*/ 0 w 7581960"/>
                <a:gd name="textAreaRight" fmla="*/ 7582320 w 7581960"/>
                <a:gd name="textAreaTop" fmla="*/ 0 h 1230120"/>
                <a:gd name="textAreaBottom" fmla="*/ 1230480 h 1230120"/>
              </a:gdLst>
              <a:ahLst/>
              <a:cxnLst/>
              <a:rect l="textAreaLeft" t="textAreaTop" r="textAreaRight" b="textAreaBottom"/>
              <a:pathLst>
                <a:path w="10109795" h="1640651">
                  <a:moveTo>
                    <a:pt x="0" y="0"/>
                  </a:moveTo>
                  <a:lnTo>
                    <a:pt x="10109795" y="0"/>
                  </a:lnTo>
                  <a:lnTo>
                    <a:pt x="10109795" y="1640651"/>
                  </a:lnTo>
                  <a:lnTo>
                    <a:pt x="0" y="1640651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TextBox 7"/>
            <p:cNvSpPr/>
            <p:nvPr/>
          </p:nvSpPr>
          <p:spPr>
            <a:xfrm>
              <a:off x="992160" y="399960"/>
              <a:ext cx="7581960" cy="12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5890"/>
                </a:lnSpc>
              </a:pPr>
              <a:r>
                <a:rPr lang="en-US" sz="4700" b="0" u="none" strike="noStrike">
                  <a:solidFill>
                    <a:srgbClr val="1b1b27"/>
                  </a:solidFill>
                  <a:effectLst/>
                  <a:uFillTx/>
                  <a:latin typeface="Corben"/>
                  <a:ea typeface="Corben"/>
                </a:rPr>
                <a:t>PROPOSED SYSTEM</a:t>
              </a:r>
              <a:endParaRPr lang="en-IN" sz="4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0" name="Group 8"/>
          <p:cNvGrpSpPr/>
          <p:nvPr/>
        </p:nvGrpSpPr>
        <p:grpSpPr>
          <a:xfrm>
            <a:off x="992160" y="2285640"/>
            <a:ext cx="16303320" cy="28080"/>
            <a:chOff x="992160" y="2285640"/>
            <a:chExt cx="16303320" cy="28080"/>
          </a:xfrm>
        </p:grpSpPr>
        <p:sp>
          <p:nvSpPr>
            <p:cNvPr id="171" name="Freeform 9"/>
            <p:cNvSpPr/>
            <p:nvPr/>
          </p:nvSpPr>
          <p:spPr>
            <a:xfrm>
              <a:off x="992160" y="2285640"/>
              <a:ext cx="16303320" cy="28080"/>
            </a:xfrm>
            <a:custGeom>
              <a:avLst/>
              <a:gdLst>
                <a:gd name="textAreaLeft" fmla="*/ 0 w 16303320"/>
                <a:gd name="textAreaRight" fmla="*/ 16303680 w 1630332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2173808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719032" y="0"/>
                  </a:lnTo>
                  <a:cubicBezTo>
                    <a:pt x="21729573" y="0"/>
                    <a:pt x="21738082" y="8509"/>
                    <a:pt x="21738082" y="19050"/>
                  </a:cubicBezTo>
                  <a:cubicBezTo>
                    <a:pt x="21738082" y="29591"/>
                    <a:pt x="21729573" y="38100"/>
                    <a:pt x="217190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560" bIns="-1656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2" name="Group 10"/>
          <p:cNvGrpSpPr/>
          <p:nvPr/>
        </p:nvGrpSpPr>
        <p:grpSpPr>
          <a:xfrm>
            <a:off x="2902680" y="2285640"/>
            <a:ext cx="28080" cy="722520"/>
            <a:chOff x="2902680" y="2285640"/>
            <a:chExt cx="28080" cy="722520"/>
          </a:xfrm>
        </p:grpSpPr>
        <p:sp>
          <p:nvSpPr>
            <p:cNvPr id="173" name="Freeform 11"/>
            <p:cNvSpPr/>
            <p:nvPr/>
          </p:nvSpPr>
          <p:spPr>
            <a:xfrm>
              <a:off x="2902680" y="2285640"/>
              <a:ext cx="28080" cy="7225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722520"/>
                <a:gd name="textAreaBottom" fmla="*/ 722880 h 722520"/>
              </a:gdLst>
              <a:ahLst/>
              <a:cxnLst/>
              <a:rect l="textAreaLeft" t="textAreaTop" r="textAreaRight" b="textAreaBottom"/>
              <a:pathLst>
                <a:path w="38100" h="96405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45007"/>
                  </a:lnTo>
                  <a:cubicBezTo>
                    <a:pt x="38100" y="955548"/>
                    <a:pt x="29591" y="964057"/>
                    <a:pt x="19050" y="964057"/>
                  </a:cubicBezTo>
                  <a:cubicBezTo>
                    <a:pt x="8509" y="964057"/>
                    <a:pt x="0" y="955421"/>
                    <a:pt x="0" y="945007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4" name="Group 12"/>
          <p:cNvGrpSpPr/>
          <p:nvPr/>
        </p:nvGrpSpPr>
        <p:grpSpPr>
          <a:xfrm>
            <a:off x="2641320" y="2009880"/>
            <a:ext cx="551520" cy="551520"/>
            <a:chOff x="2641320" y="2009880"/>
            <a:chExt cx="551520" cy="551520"/>
          </a:xfrm>
        </p:grpSpPr>
        <p:sp>
          <p:nvSpPr>
            <p:cNvPr id="175" name="Freeform 13"/>
            <p:cNvSpPr/>
            <p:nvPr/>
          </p:nvSpPr>
          <p:spPr>
            <a:xfrm>
              <a:off x="2646000" y="2014560"/>
              <a:ext cx="541800" cy="541800"/>
            </a:xfrm>
            <a:custGeom>
              <a:avLst/>
              <a:gdLst>
                <a:gd name="textAreaLeft" fmla="*/ 0 w 541800"/>
                <a:gd name="textAreaRight" fmla="*/ 542160 w 541800"/>
                <a:gd name="textAreaTop" fmla="*/ 0 h 541800"/>
                <a:gd name="textAreaBottom" fmla="*/ 542160 h 541800"/>
              </a:gdLst>
              <a:ahLst/>
              <a:cxnLst/>
              <a:rect l="textAreaLeft" t="textAreaTop" r="textAreaRight" b="textAreaBottom"/>
              <a:pathLst>
                <a:path w="723011" h="723011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588010" y="0"/>
                  </a:lnTo>
                  <a:cubicBezTo>
                    <a:pt x="662559" y="0"/>
                    <a:pt x="723011" y="60452"/>
                    <a:pt x="723011" y="135001"/>
                  </a:cubicBezTo>
                  <a:lnTo>
                    <a:pt x="723011" y="588010"/>
                  </a:lnTo>
                  <a:cubicBezTo>
                    <a:pt x="723011" y="662559"/>
                    <a:pt x="662559" y="723011"/>
                    <a:pt x="588010" y="723011"/>
                  </a:cubicBezTo>
                  <a:lnTo>
                    <a:pt x="135001" y="723011"/>
                  </a:lnTo>
                  <a:cubicBezTo>
                    <a:pt x="60452" y="722884"/>
                    <a:pt x="0" y="662432"/>
                    <a:pt x="0" y="588010"/>
                  </a:cubicBezTo>
                  <a:close/>
                </a:path>
              </a:pathLst>
            </a:custGeom>
            <a:solidFill>
              <a:srgbClr val="d2d9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eform 14"/>
            <p:cNvSpPr/>
            <p:nvPr/>
          </p:nvSpPr>
          <p:spPr>
            <a:xfrm>
              <a:off x="2641320" y="2009880"/>
              <a:ext cx="551520" cy="55152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551520"/>
                <a:gd name="textAreaBottom" fmla="*/ 551880 h 551520"/>
              </a:gdLst>
              <a:ahLst/>
              <a:cxnLst/>
              <a:rect l="textAreaLeft" t="textAreaTop" r="textAreaRight" b="textAreaBottom"/>
              <a:pathLst>
                <a:path w="735711" h="735711">
                  <a:moveTo>
                    <a:pt x="0" y="141351"/>
                  </a:moveTo>
                  <a:cubicBezTo>
                    <a:pt x="0" y="63246"/>
                    <a:pt x="63246" y="0"/>
                    <a:pt x="141351" y="0"/>
                  </a:cubicBezTo>
                  <a:lnTo>
                    <a:pt x="594360" y="0"/>
                  </a:lnTo>
                  <a:lnTo>
                    <a:pt x="594360" y="6350"/>
                  </a:lnTo>
                  <a:lnTo>
                    <a:pt x="594360" y="0"/>
                  </a:lnTo>
                  <a:cubicBezTo>
                    <a:pt x="672465" y="0"/>
                    <a:pt x="735711" y="63246"/>
                    <a:pt x="735711" y="141351"/>
                  </a:cubicBezTo>
                  <a:lnTo>
                    <a:pt x="729361" y="141351"/>
                  </a:lnTo>
                  <a:lnTo>
                    <a:pt x="735711" y="141351"/>
                  </a:lnTo>
                  <a:lnTo>
                    <a:pt x="735711" y="594360"/>
                  </a:lnTo>
                  <a:lnTo>
                    <a:pt x="729361" y="594360"/>
                  </a:lnTo>
                  <a:lnTo>
                    <a:pt x="735711" y="594360"/>
                  </a:lnTo>
                  <a:cubicBezTo>
                    <a:pt x="735711" y="672465"/>
                    <a:pt x="672465" y="735711"/>
                    <a:pt x="594360" y="735711"/>
                  </a:cubicBezTo>
                  <a:lnTo>
                    <a:pt x="594360" y="729361"/>
                  </a:lnTo>
                  <a:lnTo>
                    <a:pt x="594360" y="735711"/>
                  </a:lnTo>
                  <a:lnTo>
                    <a:pt x="141351" y="735711"/>
                  </a:lnTo>
                  <a:lnTo>
                    <a:pt x="141351" y="729361"/>
                  </a:lnTo>
                  <a:lnTo>
                    <a:pt x="141351" y="735711"/>
                  </a:lnTo>
                  <a:cubicBezTo>
                    <a:pt x="63246" y="735584"/>
                    <a:pt x="0" y="672338"/>
                    <a:pt x="0" y="594360"/>
                  </a:cubicBezTo>
                  <a:lnTo>
                    <a:pt x="0" y="141351"/>
                  </a:lnTo>
                  <a:lnTo>
                    <a:pt x="6350" y="141351"/>
                  </a:lnTo>
                  <a:lnTo>
                    <a:pt x="0" y="141351"/>
                  </a:lnTo>
                  <a:moveTo>
                    <a:pt x="12700" y="141351"/>
                  </a:moveTo>
                  <a:lnTo>
                    <a:pt x="12700" y="594360"/>
                  </a:lnTo>
                  <a:lnTo>
                    <a:pt x="6350" y="594360"/>
                  </a:lnTo>
                  <a:lnTo>
                    <a:pt x="12700" y="594360"/>
                  </a:lnTo>
                  <a:cubicBezTo>
                    <a:pt x="12700" y="665353"/>
                    <a:pt x="70231" y="723011"/>
                    <a:pt x="141351" y="723011"/>
                  </a:cubicBezTo>
                  <a:lnTo>
                    <a:pt x="594360" y="723011"/>
                  </a:lnTo>
                  <a:cubicBezTo>
                    <a:pt x="665353" y="723011"/>
                    <a:pt x="723011" y="665480"/>
                    <a:pt x="723011" y="594360"/>
                  </a:cubicBezTo>
                  <a:lnTo>
                    <a:pt x="723011" y="141351"/>
                  </a:lnTo>
                  <a:cubicBezTo>
                    <a:pt x="722884" y="70231"/>
                    <a:pt x="665353" y="12700"/>
                    <a:pt x="594360" y="12700"/>
                  </a:cubicBezTo>
                  <a:lnTo>
                    <a:pt x="141351" y="12700"/>
                  </a:lnTo>
                  <a:lnTo>
                    <a:pt x="141351" y="6350"/>
                  </a:lnTo>
                  <a:lnTo>
                    <a:pt x="141351" y="12700"/>
                  </a:lnTo>
                  <a:cubicBezTo>
                    <a:pt x="70231" y="12700"/>
                    <a:pt x="12700" y="70231"/>
                    <a:pt x="12700" y="141351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Freeform 15" descr="preencoded.png"/>
          <p:cNvSpPr/>
          <p:nvPr/>
        </p:nvSpPr>
        <p:spPr>
          <a:xfrm>
            <a:off x="2736360" y="2059560"/>
            <a:ext cx="361080" cy="451440"/>
          </a:xfrm>
          <a:custGeom>
            <a:avLst/>
            <a:gdLst>
              <a:gd name="textAreaLeft" fmla="*/ 0 w 361080"/>
              <a:gd name="textAreaRight" fmla="*/ 361440 w 361080"/>
              <a:gd name="textAreaTop" fmla="*/ 0 h 451440"/>
              <a:gd name="textAreaBottom" fmla="*/ 451800 h 451440"/>
            </a:gdLst>
            <a:ahLst/>
            <a:cxnLst/>
            <a:rect l="textAreaLeft" t="textAreaTop" r="textAreaRight" b="textAreaBottom"/>
            <a:pathLst>
              <a:path w="361504" h="451842">
                <a:moveTo>
                  <a:pt x="0" y="0"/>
                </a:moveTo>
                <a:lnTo>
                  <a:pt x="361504" y="0"/>
                </a:lnTo>
                <a:lnTo>
                  <a:pt x="361504" y="451843"/>
                </a:lnTo>
                <a:lnTo>
                  <a:pt x="0" y="4518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8" name="Group 16"/>
          <p:cNvGrpSpPr/>
          <p:nvPr/>
        </p:nvGrpSpPr>
        <p:grpSpPr>
          <a:xfrm>
            <a:off x="1410840" y="3228480"/>
            <a:ext cx="3012120" cy="627480"/>
            <a:chOff x="1410840" y="3228480"/>
            <a:chExt cx="3012120" cy="627480"/>
          </a:xfrm>
        </p:grpSpPr>
        <p:sp>
          <p:nvSpPr>
            <p:cNvPr id="179" name="Freeform 17"/>
            <p:cNvSpPr/>
            <p:nvPr/>
          </p:nvSpPr>
          <p:spPr>
            <a:xfrm>
              <a:off x="1410840" y="3249720"/>
              <a:ext cx="3012120" cy="605880"/>
            </a:xfrm>
            <a:custGeom>
              <a:avLst/>
              <a:gdLst>
                <a:gd name="textAreaLeft" fmla="*/ 0 w 3012120"/>
                <a:gd name="textAreaRight" fmla="*/ 3012480 w 301212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4016573" h="808507">
                  <a:moveTo>
                    <a:pt x="0" y="0"/>
                  </a:moveTo>
                  <a:lnTo>
                    <a:pt x="4016573" y="0"/>
                  </a:lnTo>
                  <a:lnTo>
                    <a:pt x="4016573" y="808507"/>
                  </a:lnTo>
                  <a:lnTo>
                    <a:pt x="0" y="808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TextBox 18"/>
            <p:cNvSpPr/>
            <p:nvPr/>
          </p:nvSpPr>
          <p:spPr>
            <a:xfrm>
              <a:off x="1410840" y="3228480"/>
              <a:ext cx="3012120" cy="62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064"/>
                </a:lnSpc>
              </a:pPr>
              <a:r>
                <a:rPr lang="en-US" sz="24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System Overview</a:t>
              </a:r>
              <a:endParaRPr lang="en-IN" sz="24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1" name="Group 19"/>
          <p:cNvGrpSpPr/>
          <p:nvPr/>
        </p:nvGrpSpPr>
        <p:grpSpPr>
          <a:xfrm>
            <a:off x="1415520" y="3964320"/>
            <a:ext cx="3367800" cy="2066760"/>
            <a:chOff x="1415520" y="3964320"/>
            <a:chExt cx="3367800" cy="2066760"/>
          </a:xfrm>
        </p:grpSpPr>
        <p:sp>
          <p:nvSpPr>
            <p:cNvPr id="182" name="Freeform 20"/>
            <p:cNvSpPr/>
            <p:nvPr/>
          </p:nvSpPr>
          <p:spPr>
            <a:xfrm>
              <a:off x="1415520" y="4028760"/>
              <a:ext cx="3367800" cy="2002320"/>
            </a:xfrm>
            <a:custGeom>
              <a:avLst/>
              <a:gdLst>
                <a:gd name="textAreaLeft" fmla="*/ 0 w 3367800"/>
                <a:gd name="textAreaRight" fmla="*/ 3368160 w 3367800"/>
                <a:gd name="textAreaTop" fmla="*/ 0 h 2002320"/>
                <a:gd name="textAreaBottom" fmla="*/ 2002680 h 2002320"/>
              </a:gdLst>
              <a:ahLst/>
              <a:cxnLst/>
              <a:rect l="textAreaLeft" t="textAreaTop" r="textAreaRight" b="textAreaBottom"/>
              <a:pathLst>
                <a:path w="4490640" h="2670233">
                  <a:moveTo>
                    <a:pt x="0" y="0"/>
                  </a:moveTo>
                  <a:lnTo>
                    <a:pt x="4490640" y="0"/>
                  </a:lnTo>
                  <a:lnTo>
                    <a:pt x="4490640" y="2670233"/>
                  </a:lnTo>
                  <a:lnTo>
                    <a:pt x="0" y="267023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TextBox 21"/>
            <p:cNvSpPr/>
            <p:nvPr/>
          </p:nvSpPr>
          <p:spPr>
            <a:xfrm>
              <a:off x="1415520" y="3964320"/>
              <a:ext cx="3367800" cy="206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158"/>
                </a:lnSpc>
              </a:pPr>
              <a:r>
                <a:rPr lang="en-US" sz="1979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The proposed system is an AI-based Resume Analyzer that automates resume assessment using NLP and Rule-Based Algorithms.</a:t>
              </a:r>
              <a:endParaRPr lang="en-IN" sz="1979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4" name="Group 22"/>
          <p:cNvGrpSpPr/>
          <p:nvPr/>
        </p:nvGrpSpPr>
        <p:grpSpPr>
          <a:xfrm>
            <a:off x="7053840" y="2285640"/>
            <a:ext cx="28080" cy="722520"/>
            <a:chOff x="7053840" y="2285640"/>
            <a:chExt cx="28080" cy="722520"/>
          </a:xfrm>
        </p:grpSpPr>
        <p:sp>
          <p:nvSpPr>
            <p:cNvPr id="185" name="Freeform 23"/>
            <p:cNvSpPr/>
            <p:nvPr/>
          </p:nvSpPr>
          <p:spPr>
            <a:xfrm>
              <a:off x="7053840" y="2285640"/>
              <a:ext cx="28080" cy="7225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722520"/>
                <a:gd name="textAreaBottom" fmla="*/ 722880 h 722520"/>
              </a:gdLst>
              <a:ahLst/>
              <a:cxnLst/>
              <a:rect l="textAreaLeft" t="textAreaTop" r="textAreaRight" b="textAreaBottom"/>
              <a:pathLst>
                <a:path w="38100" h="96405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45007"/>
                  </a:lnTo>
                  <a:cubicBezTo>
                    <a:pt x="38100" y="955548"/>
                    <a:pt x="29591" y="964057"/>
                    <a:pt x="19050" y="964057"/>
                  </a:cubicBezTo>
                  <a:cubicBezTo>
                    <a:pt x="8509" y="964057"/>
                    <a:pt x="0" y="955421"/>
                    <a:pt x="0" y="945007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6" name="Group 24"/>
          <p:cNvGrpSpPr/>
          <p:nvPr/>
        </p:nvGrpSpPr>
        <p:grpSpPr>
          <a:xfrm>
            <a:off x="6792480" y="2009880"/>
            <a:ext cx="551520" cy="551520"/>
            <a:chOff x="6792480" y="2009880"/>
            <a:chExt cx="551520" cy="551520"/>
          </a:xfrm>
        </p:grpSpPr>
        <p:sp>
          <p:nvSpPr>
            <p:cNvPr id="187" name="Freeform 25"/>
            <p:cNvSpPr/>
            <p:nvPr/>
          </p:nvSpPr>
          <p:spPr>
            <a:xfrm>
              <a:off x="6797160" y="2014560"/>
              <a:ext cx="541800" cy="541800"/>
            </a:xfrm>
            <a:custGeom>
              <a:avLst/>
              <a:gdLst>
                <a:gd name="textAreaLeft" fmla="*/ 0 w 541800"/>
                <a:gd name="textAreaRight" fmla="*/ 542160 w 541800"/>
                <a:gd name="textAreaTop" fmla="*/ 0 h 541800"/>
                <a:gd name="textAreaBottom" fmla="*/ 542160 h 541800"/>
              </a:gdLst>
              <a:ahLst/>
              <a:cxnLst/>
              <a:rect l="textAreaLeft" t="textAreaTop" r="textAreaRight" b="textAreaBottom"/>
              <a:pathLst>
                <a:path w="723011" h="723011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588010" y="0"/>
                  </a:lnTo>
                  <a:cubicBezTo>
                    <a:pt x="662559" y="0"/>
                    <a:pt x="723011" y="60452"/>
                    <a:pt x="723011" y="135001"/>
                  </a:cubicBezTo>
                  <a:lnTo>
                    <a:pt x="723011" y="588010"/>
                  </a:lnTo>
                  <a:cubicBezTo>
                    <a:pt x="723011" y="662559"/>
                    <a:pt x="662559" y="723011"/>
                    <a:pt x="588010" y="723011"/>
                  </a:cubicBezTo>
                  <a:lnTo>
                    <a:pt x="135001" y="723011"/>
                  </a:lnTo>
                  <a:cubicBezTo>
                    <a:pt x="60452" y="722884"/>
                    <a:pt x="0" y="662432"/>
                    <a:pt x="0" y="588010"/>
                  </a:cubicBezTo>
                  <a:close/>
                </a:path>
              </a:pathLst>
            </a:custGeom>
            <a:solidFill>
              <a:srgbClr val="d2d9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Freeform 26"/>
            <p:cNvSpPr/>
            <p:nvPr/>
          </p:nvSpPr>
          <p:spPr>
            <a:xfrm>
              <a:off x="6792480" y="2009880"/>
              <a:ext cx="551520" cy="55152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551520"/>
                <a:gd name="textAreaBottom" fmla="*/ 551880 h 551520"/>
              </a:gdLst>
              <a:ahLst/>
              <a:cxnLst/>
              <a:rect l="textAreaLeft" t="textAreaTop" r="textAreaRight" b="textAreaBottom"/>
              <a:pathLst>
                <a:path w="735711" h="735711">
                  <a:moveTo>
                    <a:pt x="0" y="141351"/>
                  </a:moveTo>
                  <a:cubicBezTo>
                    <a:pt x="0" y="63246"/>
                    <a:pt x="63246" y="0"/>
                    <a:pt x="141351" y="0"/>
                  </a:cubicBezTo>
                  <a:lnTo>
                    <a:pt x="594360" y="0"/>
                  </a:lnTo>
                  <a:lnTo>
                    <a:pt x="594360" y="6350"/>
                  </a:lnTo>
                  <a:lnTo>
                    <a:pt x="594360" y="0"/>
                  </a:lnTo>
                  <a:cubicBezTo>
                    <a:pt x="672465" y="0"/>
                    <a:pt x="735711" y="63246"/>
                    <a:pt x="735711" y="141351"/>
                  </a:cubicBezTo>
                  <a:lnTo>
                    <a:pt x="729361" y="141351"/>
                  </a:lnTo>
                  <a:lnTo>
                    <a:pt x="735711" y="141351"/>
                  </a:lnTo>
                  <a:lnTo>
                    <a:pt x="735711" y="594360"/>
                  </a:lnTo>
                  <a:lnTo>
                    <a:pt x="729361" y="594360"/>
                  </a:lnTo>
                  <a:lnTo>
                    <a:pt x="735711" y="594360"/>
                  </a:lnTo>
                  <a:cubicBezTo>
                    <a:pt x="735711" y="672465"/>
                    <a:pt x="672465" y="735711"/>
                    <a:pt x="594360" y="735711"/>
                  </a:cubicBezTo>
                  <a:lnTo>
                    <a:pt x="594360" y="729361"/>
                  </a:lnTo>
                  <a:lnTo>
                    <a:pt x="594360" y="735711"/>
                  </a:lnTo>
                  <a:lnTo>
                    <a:pt x="141351" y="735711"/>
                  </a:lnTo>
                  <a:lnTo>
                    <a:pt x="141351" y="729361"/>
                  </a:lnTo>
                  <a:lnTo>
                    <a:pt x="141351" y="735711"/>
                  </a:lnTo>
                  <a:cubicBezTo>
                    <a:pt x="63246" y="735584"/>
                    <a:pt x="0" y="672338"/>
                    <a:pt x="0" y="594360"/>
                  </a:cubicBezTo>
                  <a:lnTo>
                    <a:pt x="0" y="141351"/>
                  </a:lnTo>
                  <a:lnTo>
                    <a:pt x="6350" y="141351"/>
                  </a:lnTo>
                  <a:lnTo>
                    <a:pt x="0" y="141351"/>
                  </a:lnTo>
                  <a:moveTo>
                    <a:pt x="12700" y="141351"/>
                  </a:moveTo>
                  <a:lnTo>
                    <a:pt x="12700" y="594360"/>
                  </a:lnTo>
                  <a:lnTo>
                    <a:pt x="6350" y="594360"/>
                  </a:lnTo>
                  <a:lnTo>
                    <a:pt x="12700" y="594360"/>
                  </a:lnTo>
                  <a:cubicBezTo>
                    <a:pt x="12700" y="665353"/>
                    <a:pt x="70231" y="723011"/>
                    <a:pt x="141351" y="723011"/>
                  </a:cubicBezTo>
                  <a:lnTo>
                    <a:pt x="594360" y="723011"/>
                  </a:lnTo>
                  <a:cubicBezTo>
                    <a:pt x="665353" y="723011"/>
                    <a:pt x="723011" y="665480"/>
                    <a:pt x="723011" y="594360"/>
                  </a:cubicBezTo>
                  <a:lnTo>
                    <a:pt x="723011" y="141351"/>
                  </a:lnTo>
                  <a:cubicBezTo>
                    <a:pt x="722884" y="70231"/>
                    <a:pt x="665353" y="12700"/>
                    <a:pt x="594360" y="12700"/>
                  </a:cubicBezTo>
                  <a:lnTo>
                    <a:pt x="141351" y="12700"/>
                  </a:lnTo>
                  <a:lnTo>
                    <a:pt x="141351" y="6350"/>
                  </a:lnTo>
                  <a:lnTo>
                    <a:pt x="141351" y="12700"/>
                  </a:lnTo>
                  <a:cubicBezTo>
                    <a:pt x="70231" y="12700"/>
                    <a:pt x="12700" y="70231"/>
                    <a:pt x="12700" y="141351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9" name="Freeform 27" descr="preencoded.png"/>
          <p:cNvSpPr/>
          <p:nvPr/>
        </p:nvSpPr>
        <p:spPr>
          <a:xfrm>
            <a:off x="6887520" y="2059560"/>
            <a:ext cx="361080" cy="451440"/>
          </a:xfrm>
          <a:custGeom>
            <a:avLst/>
            <a:gdLst>
              <a:gd name="textAreaLeft" fmla="*/ 0 w 361080"/>
              <a:gd name="textAreaRight" fmla="*/ 361440 w 361080"/>
              <a:gd name="textAreaTop" fmla="*/ 0 h 451440"/>
              <a:gd name="textAreaBottom" fmla="*/ 451800 h 451440"/>
            </a:gdLst>
            <a:ahLst/>
            <a:cxnLst/>
            <a:rect l="textAreaLeft" t="textAreaTop" r="textAreaRight" b="textAreaBottom"/>
            <a:pathLst>
              <a:path w="361504" h="451842">
                <a:moveTo>
                  <a:pt x="0" y="0"/>
                </a:moveTo>
                <a:lnTo>
                  <a:pt x="361504" y="0"/>
                </a:lnTo>
                <a:lnTo>
                  <a:pt x="361504" y="451843"/>
                </a:lnTo>
                <a:lnTo>
                  <a:pt x="0" y="4518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0" name="Group 28"/>
          <p:cNvGrpSpPr/>
          <p:nvPr/>
        </p:nvGrpSpPr>
        <p:grpSpPr>
          <a:xfrm>
            <a:off x="5562000" y="3228480"/>
            <a:ext cx="3012120" cy="627480"/>
            <a:chOff x="5562000" y="3228480"/>
            <a:chExt cx="3012120" cy="627480"/>
          </a:xfrm>
        </p:grpSpPr>
        <p:sp>
          <p:nvSpPr>
            <p:cNvPr id="191" name="Freeform 29"/>
            <p:cNvSpPr/>
            <p:nvPr/>
          </p:nvSpPr>
          <p:spPr>
            <a:xfrm>
              <a:off x="5562000" y="3249720"/>
              <a:ext cx="3012120" cy="605880"/>
            </a:xfrm>
            <a:custGeom>
              <a:avLst/>
              <a:gdLst>
                <a:gd name="textAreaLeft" fmla="*/ 0 w 3012120"/>
                <a:gd name="textAreaRight" fmla="*/ 3012480 w 301212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4016573" h="808507">
                  <a:moveTo>
                    <a:pt x="0" y="0"/>
                  </a:moveTo>
                  <a:lnTo>
                    <a:pt x="4016573" y="0"/>
                  </a:lnTo>
                  <a:lnTo>
                    <a:pt x="4016573" y="808507"/>
                  </a:lnTo>
                  <a:lnTo>
                    <a:pt x="0" y="808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TextBox 30"/>
            <p:cNvSpPr/>
            <p:nvPr/>
          </p:nvSpPr>
          <p:spPr>
            <a:xfrm>
              <a:off x="5562000" y="3228480"/>
              <a:ext cx="3012120" cy="62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064"/>
                </a:lnSpc>
              </a:pPr>
              <a:r>
                <a:rPr lang="en-US" sz="24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For Job Seekers</a:t>
              </a:r>
              <a:endParaRPr lang="en-IN" sz="24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3" name="Group 31"/>
          <p:cNvGrpSpPr/>
          <p:nvPr/>
        </p:nvGrpSpPr>
        <p:grpSpPr>
          <a:xfrm>
            <a:off x="5384160" y="3964320"/>
            <a:ext cx="3367800" cy="1666800"/>
            <a:chOff x="5384160" y="3964320"/>
            <a:chExt cx="3367800" cy="1666800"/>
          </a:xfrm>
        </p:grpSpPr>
        <p:sp>
          <p:nvSpPr>
            <p:cNvPr id="194" name="Freeform 32"/>
            <p:cNvSpPr/>
            <p:nvPr/>
          </p:nvSpPr>
          <p:spPr>
            <a:xfrm>
              <a:off x="5384160" y="4028760"/>
              <a:ext cx="3367800" cy="1602360"/>
            </a:xfrm>
            <a:custGeom>
              <a:avLst/>
              <a:gdLst>
                <a:gd name="textAreaLeft" fmla="*/ 0 w 3367800"/>
                <a:gd name="textAreaRight" fmla="*/ 3368160 w 3367800"/>
                <a:gd name="textAreaTop" fmla="*/ 0 h 1602360"/>
                <a:gd name="textAreaBottom" fmla="*/ 1602720 h 1602360"/>
              </a:gdLst>
              <a:ahLst/>
              <a:cxnLst/>
              <a:rect l="textAreaLeft" t="textAreaTop" r="textAreaRight" b="textAreaBottom"/>
              <a:pathLst>
                <a:path w="4490838" h="2136833">
                  <a:moveTo>
                    <a:pt x="0" y="0"/>
                  </a:moveTo>
                  <a:lnTo>
                    <a:pt x="4490838" y="0"/>
                  </a:lnTo>
                  <a:lnTo>
                    <a:pt x="4490838" y="2136833"/>
                  </a:lnTo>
                  <a:lnTo>
                    <a:pt x="0" y="213683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TextBox 33"/>
            <p:cNvSpPr/>
            <p:nvPr/>
          </p:nvSpPr>
          <p:spPr>
            <a:xfrm>
              <a:off x="5384160" y="3964320"/>
              <a:ext cx="3367800" cy="166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158"/>
                </a:lnSpc>
              </a:pPr>
              <a:r>
                <a:rPr lang="en-US" sz="1979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Job seekers can upload resumes, get a score, and receive feedback to improve their profiles.</a:t>
              </a:r>
              <a:endParaRPr lang="en-IN" sz="1979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6" name="Group 34"/>
          <p:cNvGrpSpPr/>
          <p:nvPr/>
        </p:nvGrpSpPr>
        <p:grpSpPr>
          <a:xfrm>
            <a:off x="11205000" y="2285640"/>
            <a:ext cx="28080" cy="722520"/>
            <a:chOff x="11205000" y="2285640"/>
            <a:chExt cx="28080" cy="722520"/>
          </a:xfrm>
        </p:grpSpPr>
        <p:sp>
          <p:nvSpPr>
            <p:cNvPr id="197" name="Freeform 35"/>
            <p:cNvSpPr/>
            <p:nvPr/>
          </p:nvSpPr>
          <p:spPr>
            <a:xfrm>
              <a:off x="11205000" y="2285640"/>
              <a:ext cx="28080" cy="7225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722520"/>
                <a:gd name="textAreaBottom" fmla="*/ 722880 h 722520"/>
              </a:gdLst>
              <a:ahLst/>
              <a:cxnLst/>
              <a:rect l="textAreaLeft" t="textAreaTop" r="textAreaRight" b="textAreaBottom"/>
              <a:pathLst>
                <a:path w="38100" h="96405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45007"/>
                  </a:lnTo>
                  <a:cubicBezTo>
                    <a:pt x="38100" y="955548"/>
                    <a:pt x="29591" y="964057"/>
                    <a:pt x="19050" y="964057"/>
                  </a:cubicBezTo>
                  <a:cubicBezTo>
                    <a:pt x="8509" y="964057"/>
                    <a:pt x="0" y="955421"/>
                    <a:pt x="0" y="945007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8" name="Group 36"/>
          <p:cNvGrpSpPr/>
          <p:nvPr/>
        </p:nvGrpSpPr>
        <p:grpSpPr>
          <a:xfrm>
            <a:off x="10943640" y="2009880"/>
            <a:ext cx="551520" cy="551520"/>
            <a:chOff x="10943640" y="2009880"/>
            <a:chExt cx="551520" cy="551520"/>
          </a:xfrm>
        </p:grpSpPr>
        <p:sp>
          <p:nvSpPr>
            <p:cNvPr id="199" name="Freeform 37"/>
            <p:cNvSpPr/>
            <p:nvPr/>
          </p:nvSpPr>
          <p:spPr>
            <a:xfrm>
              <a:off x="10948320" y="2014560"/>
              <a:ext cx="541800" cy="541800"/>
            </a:xfrm>
            <a:custGeom>
              <a:avLst/>
              <a:gdLst>
                <a:gd name="textAreaLeft" fmla="*/ 0 w 541800"/>
                <a:gd name="textAreaRight" fmla="*/ 542160 w 541800"/>
                <a:gd name="textAreaTop" fmla="*/ 0 h 541800"/>
                <a:gd name="textAreaBottom" fmla="*/ 542160 h 541800"/>
              </a:gdLst>
              <a:ahLst/>
              <a:cxnLst/>
              <a:rect l="textAreaLeft" t="textAreaTop" r="textAreaRight" b="textAreaBottom"/>
              <a:pathLst>
                <a:path w="723011" h="723011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588010" y="0"/>
                  </a:lnTo>
                  <a:cubicBezTo>
                    <a:pt x="662559" y="0"/>
                    <a:pt x="723011" y="60452"/>
                    <a:pt x="723011" y="135001"/>
                  </a:cubicBezTo>
                  <a:lnTo>
                    <a:pt x="723011" y="588010"/>
                  </a:lnTo>
                  <a:cubicBezTo>
                    <a:pt x="723011" y="662559"/>
                    <a:pt x="662559" y="723011"/>
                    <a:pt x="588010" y="723011"/>
                  </a:cubicBezTo>
                  <a:lnTo>
                    <a:pt x="135001" y="723011"/>
                  </a:lnTo>
                  <a:cubicBezTo>
                    <a:pt x="60452" y="722884"/>
                    <a:pt x="0" y="662432"/>
                    <a:pt x="0" y="588010"/>
                  </a:cubicBezTo>
                  <a:close/>
                </a:path>
              </a:pathLst>
            </a:custGeom>
            <a:solidFill>
              <a:srgbClr val="d2d9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Freeform 38"/>
            <p:cNvSpPr/>
            <p:nvPr/>
          </p:nvSpPr>
          <p:spPr>
            <a:xfrm>
              <a:off x="10943640" y="2009880"/>
              <a:ext cx="551520" cy="55152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551520"/>
                <a:gd name="textAreaBottom" fmla="*/ 551880 h 551520"/>
              </a:gdLst>
              <a:ahLst/>
              <a:cxnLst/>
              <a:rect l="textAreaLeft" t="textAreaTop" r="textAreaRight" b="textAreaBottom"/>
              <a:pathLst>
                <a:path w="735711" h="735711">
                  <a:moveTo>
                    <a:pt x="0" y="141351"/>
                  </a:moveTo>
                  <a:cubicBezTo>
                    <a:pt x="0" y="63246"/>
                    <a:pt x="63246" y="0"/>
                    <a:pt x="141351" y="0"/>
                  </a:cubicBezTo>
                  <a:lnTo>
                    <a:pt x="594360" y="0"/>
                  </a:lnTo>
                  <a:lnTo>
                    <a:pt x="594360" y="6350"/>
                  </a:lnTo>
                  <a:lnTo>
                    <a:pt x="594360" y="0"/>
                  </a:lnTo>
                  <a:cubicBezTo>
                    <a:pt x="672465" y="0"/>
                    <a:pt x="735711" y="63246"/>
                    <a:pt x="735711" y="141351"/>
                  </a:cubicBezTo>
                  <a:lnTo>
                    <a:pt x="729361" y="141351"/>
                  </a:lnTo>
                  <a:lnTo>
                    <a:pt x="735711" y="141351"/>
                  </a:lnTo>
                  <a:lnTo>
                    <a:pt x="735711" y="594360"/>
                  </a:lnTo>
                  <a:lnTo>
                    <a:pt x="729361" y="594360"/>
                  </a:lnTo>
                  <a:lnTo>
                    <a:pt x="735711" y="594360"/>
                  </a:lnTo>
                  <a:cubicBezTo>
                    <a:pt x="735711" y="672465"/>
                    <a:pt x="672465" y="735711"/>
                    <a:pt x="594360" y="735711"/>
                  </a:cubicBezTo>
                  <a:lnTo>
                    <a:pt x="594360" y="729361"/>
                  </a:lnTo>
                  <a:lnTo>
                    <a:pt x="594360" y="735711"/>
                  </a:lnTo>
                  <a:lnTo>
                    <a:pt x="141351" y="735711"/>
                  </a:lnTo>
                  <a:lnTo>
                    <a:pt x="141351" y="729361"/>
                  </a:lnTo>
                  <a:lnTo>
                    <a:pt x="141351" y="735711"/>
                  </a:lnTo>
                  <a:cubicBezTo>
                    <a:pt x="63246" y="735584"/>
                    <a:pt x="0" y="672338"/>
                    <a:pt x="0" y="594360"/>
                  </a:cubicBezTo>
                  <a:lnTo>
                    <a:pt x="0" y="141351"/>
                  </a:lnTo>
                  <a:lnTo>
                    <a:pt x="6350" y="141351"/>
                  </a:lnTo>
                  <a:lnTo>
                    <a:pt x="0" y="141351"/>
                  </a:lnTo>
                  <a:moveTo>
                    <a:pt x="12700" y="141351"/>
                  </a:moveTo>
                  <a:lnTo>
                    <a:pt x="12700" y="594360"/>
                  </a:lnTo>
                  <a:lnTo>
                    <a:pt x="6350" y="594360"/>
                  </a:lnTo>
                  <a:lnTo>
                    <a:pt x="12700" y="594360"/>
                  </a:lnTo>
                  <a:cubicBezTo>
                    <a:pt x="12700" y="665353"/>
                    <a:pt x="70231" y="723011"/>
                    <a:pt x="141351" y="723011"/>
                  </a:cubicBezTo>
                  <a:lnTo>
                    <a:pt x="594360" y="723011"/>
                  </a:lnTo>
                  <a:cubicBezTo>
                    <a:pt x="665353" y="723011"/>
                    <a:pt x="723011" y="665480"/>
                    <a:pt x="723011" y="594360"/>
                  </a:cubicBezTo>
                  <a:lnTo>
                    <a:pt x="723011" y="141351"/>
                  </a:lnTo>
                  <a:cubicBezTo>
                    <a:pt x="722884" y="70231"/>
                    <a:pt x="665353" y="12700"/>
                    <a:pt x="594360" y="12700"/>
                  </a:cubicBezTo>
                  <a:lnTo>
                    <a:pt x="141351" y="12700"/>
                  </a:lnTo>
                  <a:lnTo>
                    <a:pt x="141351" y="6350"/>
                  </a:lnTo>
                  <a:lnTo>
                    <a:pt x="141351" y="12700"/>
                  </a:lnTo>
                  <a:cubicBezTo>
                    <a:pt x="70231" y="12700"/>
                    <a:pt x="12700" y="70231"/>
                    <a:pt x="12700" y="141351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Freeform 39" descr="preencoded.png"/>
          <p:cNvSpPr/>
          <p:nvPr/>
        </p:nvSpPr>
        <p:spPr>
          <a:xfrm>
            <a:off x="11038680" y="2059560"/>
            <a:ext cx="361080" cy="451440"/>
          </a:xfrm>
          <a:custGeom>
            <a:avLst/>
            <a:gdLst>
              <a:gd name="textAreaLeft" fmla="*/ 0 w 361080"/>
              <a:gd name="textAreaRight" fmla="*/ 361440 w 361080"/>
              <a:gd name="textAreaTop" fmla="*/ 0 h 451440"/>
              <a:gd name="textAreaBottom" fmla="*/ 451800 h 451440"/>
            </a:gdLst>
            <a:ahLst/>
            <a:cxnLst/>
            <a:rect l="textAreaLeft" t="textAreaTop" r="textAreaRight" b="textAreaBottom"/>
            <a:pathLst>
              <a:path w="361504" h="451842">
                <a:moveTo>
                  <a:pt x="0" y="0"/>
                </a:moveTo>
                <a:lnTo>
                  <a:pt x="361504" y="0"/>
                </a:lnTo>
                <a:lnTo>
                  <a:pt x="361504" y="451843"/>
                </a:lnTo>
                <a:lnTo>
                  <a:pt x="0" y="4518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2" name="Group 40"/>
          <p:cNvGrpSpPr/>
          <p:nvPr/>
        </p:nvGrpSpPr>
        <p:grpSpPr>
          <a:xfrm>
            <a:off x="9713160" y="3228480"/>
            <a:ext cx="3012120" cy="627480"/>
            <a:chOff x="9713160" y="3228480"/>
            <a:chExt cx="3012120" cy="627480"/>
          </a:xfrm>
        </p:grpSpPr>
        <p:sp>
          <p:nvSpPr>
            <p:cNvPr id="203" name="Freeform 41"/>
            <p:cNvSpPr/>
            <p:nvPr/>
          </p:nvSpPr>
          <p:spPr>
            <a:xfrm>
              <a:off x="9713160" y="3249720"/>
              <a:ext cx="3012120" cy="605880"/>
            </a:xfrm>
            <a:custGeom>
              <a:avLst/>
              <a:gdLst>
                <a:gd name="textAreaLeft" fmla="*/ 0 w 3012120"/>
                <a:gd name="textAreaRight" fmla="*/ 3012480 w 301212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4016573" h="808507">
                  <a:moveTo>
                    <a:pt x="0" y="0"/>
                  </a:moveTo>
                  <a:lnTo>
                    <a:pt x="4016573" y="0"/>
                  </a:lnTo>
                  <a:lnTo>
                    <a:pt x="4016573" y="808507"/>
                  </a:lnTo>
                  <a:lnTo>
                    <a:pt x="0" y="808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TextBox 42"/>
            <p:cNvSpPr/>
            <p:nvPr/>
          </p:nvSpPr>
          <p:spPr>
            <a:xfrm>
              <a:off x="9713160" y="3228480"/>
              <a:ext cx="3012120" cy="62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064"/>
                </a:lnSpc>
              </a:pPr>
              <a:r>
                <a:rPr lang="en-US" sz="24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For Recruiters</a:t>
              </a:r>
              <a:endParaRPr lang="en-IN" sz="24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5" name="Group 43"/>
          <p:cNvGrpSpPr/>
          <p:nvPr/>
        </p:nvGrpSpPr>
        <p:grpSpPr>
          <a:xfrm>
            <a:off x="9552600" y="3964320"/>
            <a:ext cx="3367800" cy="2466720"/>
            <a:chOff x="9552600" y="3964320"/>
            <a:chExt cx="3367800" cy="2466720"/>
          </a:xfrm>
        </p:grpSpPr>
        <p:sp>
          <p:nvSpPr>
            <p:cNvPr id="206" name="Freeform 44"/>
            <p:cNvSpPr/>
            <p:nvPr/>
          </p:nvSpPr>
          <p:spPr>
            <a:xfrm>
              <a:off x="9552600" y="4028760"/>
              <a:ext cx="3367800" cy="2402280"/>
            </a:xfrm>
            <a:custGeom>
              <a:avLst/>
              <a:gdLst>
                <a:gd name="textAreaLeft" fmla="*/ 0 w 3367800"/>
                <a:gd name="textAreaRight" fmla="*/ 3368160 w 3367800"/>
                <a:gd name="textAreaTop" fmla="*/ 0 h 2402280"/>
                <a:gd name="textAreaBottom" fmla="*/ 2402640 h 2402280"/>
              </a:gdLst>
              <a:ahLst/>
              <a:cxnLst/>
              <a:rect l="textAreaLeft" t="textAreaTop" r="textAreaRight" b="textAreaBottom"/>
              <a:pathLst>
                <a:path w="4490640" h="3203633">
                  <a:moveTo>
                    <a:pt x="0" y="0"/>
                  </a:moveTo>
                  <a:lnTo>
                    <a:pt x="4490640" y="0"/>
                  </a:lnTo>
                  <a:lnTo>
                    <a:pt x="4490640" y="3203633"/>
                  </a:lnTo>
                  <a:lnTo>
                    <a:pt x="0" y="320363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TextBox 45"/>
            <p:cNvSpPr/>
            <p:nvPr/>
          </p:nvSpPr>
          <p:spPr>
            <a:xfrm>
              <a:off x="9552600" y="3964320"/>
              <a:ext cx="3367800" cy="246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158"/>
                </a:lnSpc>
              </a:pPr>
              <a:r>
                <a:rPr lang="en-US" sz="1979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Recruiters can upload resumes, filter candidates based on skills and experience, and download selected profiles in CSV format.</a:t>
              </a:r>
              <a:endParaRPr lang="en-IN" sz="1979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8" name="Group 46"/>
          <p:cNvGrpSpPr/>
          <p:nvPr/>
        </p:nvGrpSpPr>
        <p:grpSpPr>
          <a:xfrm>
            <a:off x="15356160" y="2285640"/>
            <a:ext cx="28080" cy="722520"/>
            <a:chOff x="15356160" y="2285640"/>
            <a:chExt cx="28080" cy="722520"/>
          </a:xfrm>
        </p:grpSpPr>
        <p:sp>
          <p:nvSpPr>
            <p:cNvPr id="209" name="Freeform 47"/>
            <p:cNvSpPr/>
            <p:nvPr/>
          </p:nvSpPr>
          <p:spPr>
            <a:xfrm>
              <a:off x="15356160" y="2285640"/>
              <a:ext cx="28080" cy="7225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722520"/>
                <a:gd name="textAreaBottom" fmla="*/ 722880 h 722520"/>
              </a:gdLst>
              <a:ahLst/>
              <a:cxnLst/>
              <a:rect l="textAreaLeft" t="textAreaTop" r="textAreaRight" b="textAreaBottom"/>
              <a:pathLst>
                <a:path w="38100" h="96405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45007"/>
                  </a:lnTo>
                  <a:cubicBezTo>
                    <a:pt x="38100" y="955548"/>
                    <a:pt x="29591" y="964057"/>
                    <a:pt x="19050" y="964057"/>
                  </a:cubicBezTo>
                  <a:cubicBezTo>
                    <a:pt x="8509" y="964057"/>
                    <a:pt x="0" y="955421"/>
                    <a:pt x="0" y="945007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0" name="Group 48"/>
          <p:cNvGrpSpPr/>
          <p:nvPr/>
        </p:nvGrpSpPr>
        <p:grpSpPr>
          <a:xfrm>
            <a:off x="15094800" y="2009880"/>
            <a:ext cx="551520" cy="551520"/>
            <a:chOff x="15094800" y="2009880"/>
            <a:chExt cx="551520" cy="551520"/>
          </a:xfrm>
        </p:grpSpPr>
        <p:sp>
          <p:nvSpPr>
            <p:cNvPr id="211" name="Freeform 49"/>
            <p:cNvSpPr/>
            <p:nvPr/>
          </p:nvSpPr>
          <p:spPr>
            <a:xfrm>
              <a:off x="15099480" y="2014560"/>
              <a:ext cx="541800" cy="541800"/>
            </a:xfrm>
            <a:custGeom>
              <a:avLst/>
              <a:gdLst>
                <a:gd name="textAreaLeft" fmla="*/ 0 w 541800"/>
                <a:gd name="textAreaRight" fmla="*/ 542160 w 541800"/>
                <a:gd name="textAreaTop" fmla="*/ 0 h 541800"/>
                <a:gd name="textAreaBottom" fmla="*/ 542160 h 541800"/>
              </a:gdLst>
              <a:ahLst/>
              <a:cxnLst/>
              <a:rect l="textAreaLeft" t="textAreaTop" r="textAreaRight" b="textAreaBottom"/>
              <a:pathLst>
                <a:path w="723011" h="723011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588010" y="0"/>
                  </a:lnTo>
                  <a:cubicBezTo>
                    <a:pt x="662559" y="0"/>
                    <a:pt x="723011" y="60452"/>
                    <a:pt x="723011" y="135001"/>
                  </a:cubicBezTo>
                  <a:lnTo>
                    <a:pt x="723011" y="588010"/>
                  </a:lnTo>
                  <a:cubicBezTo>
                    <a:pt x="723011" y="662559"/>
                    <a:pt x="662559" y="723011"/>
                    <a:pt x="588010" y="723011"/>
                  </a:cubicBezTo>
                  <a:lnTo>
                    <a:pt x="135001" y="723011"/>
                  </a:lnTo>
                  <a:cubicBezTo>
                    <a:pt x="60452" y="722884"/>
                    <a:pt x="0" y="662432"/>
                    <a:pt x="0" y="588010"/>
                  </a:cubicBezTo>
                  <a:close/>
                </a:path>
              </a:pathLst>
            </a:custGeom>
            <a:solidFill>
              <a:srgbClr val="d2d9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eform 50"/>
            <p:cNvSpPr/>
            <p:nvPr/>
          </p:nvSpPr>
          <p:spPr>
            <a:xfrm>
              <a:off x="15094800" y="2009880"/>
              <a:ext cx="551520" cy="55152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551520"/>
                <a:gd name="textAreaBottom" fmla="*/ 551880 h 551520"/>
              </a:gdLst>
              <a:ahLst/>
              <a:cxnLst/>
              <a:rect l="textAreaLeft" t="textAreaTop" r="textAreaRight" b="textAreaBottom"/>
              <a:pathLst>
                <a:path w="735711" h="735711">
                  <a:moveTo>
                    <a:pt x="0" y="141351"/>
                  </a:moveTo>
                  <a:cubicBezTo>
                    <a:pt x="0" y="63246"/>
                    <a:pt x="63246" y="0"/>
                    <a:pt x="141351" y="0"/>
                  </a:cubicBezTo>
                  <a:lnTo>
                    <a:pt x="594360" y="0"/>
                  </a:lnTo>
                  <a:lnTo>
                    <a:pt x="594360" y="6350"/>
                  </a:lnTo>
                  <a:lnTo>
                    <a:pt x="594360" y="0"/>
                  </a:lnTo>
                  <a:cubicBezTo>
                    <a:pt x="672465" y="0"/>
                    <a:pt x="735711" y="63246"/>
                    <a:pt x="735711" y="141351"/>
                  </a:cubicBezTo>
                  <a:lnTo>
                    <a:pt x="729361" y="141351"/>
                  </a:lnTo>
                  <a:lnTo>
                    <a:pt x="735711" y="141351"/>
                  </a:lnTo>
                  <a:lnTo>
                    <a:pt x="735711" y="594360"/>
                  </a:lnTo>
                  <a:lnTo>
                    <a:pt x="729361" y="594360"/>
                  </a:lnTo>
                  <a:lnTo>
                    <a:pt x="735711" y="594360"/>
                  </a:lnTo>
                  <a:cubicBezTo>
                    <a:pt x="735711" y="672465"/>
                    <a:pt x="672465" y="735711"/>
                    <a:pt x="594360" y="735711"/>
                  </a:cubicBezTo>
                  <a:lnTo>
                    <a:pt x="594360" y="729361"/>
                  </a:lnTo>
                  <a:lnTo>
                    <a:pt x="594360" y="735711"/>
                  </a:lnTo>
                  <a:lnTo>
                    <a:pt x="141351" y="735711"/>
                  </a:lnTo>
                  <a:lnTo>
                    <a:pt x="141351" y="729361"/>
                  </a:lnTo>
                  <a:lnTo>
                    <a:pt x="141351" y="735711"/>
                  </a:lnTo>
                  <a:cubicBezTo>
                    <a:pt x="63246" y="735584"/>
                    <a:pt x="0" y="672338"/>
                    <a:pt x="0" y="594360"/>
                  </a:cubicBezTo>
                  <a:lnTo>
                    <a:pt x="0" y="141351"/>
                  </a:lnTo>
                  <a:lnTo>
                    <a:pt x="6350" y="141351"/>
                  </a:lnTo>
                  <a:lnTo>
                    <a:pt x="0" y="141351"/>
                  </a:lnTo>
                  <a:moveTo>
                    <a:pt x="12700" y="141351"/>
                  </a:moveTo>
                  <a:lnTo>
                    <a:pt x="12700" y="594360"/>
                  </a:lnTo>
                  <a:lnTo>
                    <a:pt x="6350" y="594360"/>
                  </a:lnTo>
                  <a:lnTo>
                    <a:pt x="12700" y="594360"/>
                  </a:lnTo>
                  <a:cubicBezTo>
                    <a:pt x="12700" y="665353"/>
                    <a:pt x="70231" y="723011"/>
                    <a:pt x="141351" y="723011"/>
                  </a:cubicBezTo>
                  <a:lnTo>
                    <a:pt x="594360" y="723011"/>
                  </a:lnTo>
                  <a:cubicBezTo>
                    <a:pt x="665353" y="723011"/>
                    <a:pt x="723011" y="665480"/>
                    <a:pt x="723011" y="594360"/>
                  </a:cubicBezTo>
                  <a:lnTo>
                    <a:pt x="723011" y="141351"/>
                  </a:lnTo>
                  <a:cubicBezTo>
                    <a:pt x="722884" y="70231"/>
                    <a:pt x="665353" y="12700"/>
                    <a:pt x="594360" y="12700"/>
                  </a:cubicBezTo>
                  <a:lnTo>
                    <a:pt x="141351" y="12700"/>
                  </a:lnTo>
                  <a:lnTo>
                    <a:pt x="141351" y="6350"/>
                  </a:lnTo>
                  <a:lnTo>
                    <a:pt x="141351" y="12700"/>
                  </a:lnTo>
                  <a:cubicBezTo>
                    <a:pt x="70231" y="12700"/>
                    <a:pt x="12700" y="70231"/>
                    <a:pt x="12700" y="141351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3" name="Freeform 51" descr="preencoded.png"/>
          <p:cNvSpPr/>
          <p:nvPr/>
        </p:nvSpPr>
        <p:spPr>
          <a:xfrm>
            <a:off x="15189840" y="2059560"/>
            <a:ext cx="361080" cy="451440"/>
          </a:xfrm>
          <a:custGeom>
            <a:avLst/>
            <a:gdLst>
              <a:gd name="textAreaLeft" fmla="*/ 0 w 361080"/>
              <a:gd name="textAreaRight" fmla="*/ 361440 w 361080"/>
              <a:gd name="textAreaTop" fmla="*/ 0 h 451440"/>
              <a:gd name="textAreaBottom" fmla="*/ 451800 h 451440"/>
            </a:gdLst>
            <a:ahLst/>
            <a:cxnLst/>
            <a:rect l="textAreaLeft" t="textAreaTop" r="textAreaRight" b="textAreaBottom"/>
            <a:pathLst>
              <a:path w="361504" h="451842">
                <a:moveTo>
                  <a:pt x="0" y="0"/>
                </a:moveTo>
                <a:lnTo>
                  <a:pt x="361504" y="0"/>
                </a:lnTo>
                <a:lnTo>
                  <a:pt x="361504" y="451843"/>
                </a:lnTo>
                <a:lnTo>
                  <a:pt x="0" y="4518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4" name="Group 52"/>
          <p:cNvGrpSpPr/>
          <p:nvPr/>
        </p:nvGrpSpPr>
        <p:grpSpPr>
          <a:xfrm>
            <a:off x="13864680" y="3228480"/>
            <a:ext cx="3012120" cy="627480"/>
            <a:chOff x="13864680" y="3228480"/>
            <a:chExt cx="3012120" cy="627480"/>
          </a:xfrm>
        </p:grpSpPr>
        <p:sp>
          <p:nvSpPr>
            <p:cNvPr id="215" name="Freeform 53"/>
            <p:cNvSpPr/>
            <p:nvPr/>
          </p:nvSpPr>
          <p:spPr>
            <a:xfrm>
              <a:off x="13864680" y="3249720"/>
              <a:ext cx="3012120" cy="605880"/>
            </a:xfrm>
            <a:custGeom>
              <a:avLst/>
              <a:gdLst>
                <a:gd name="textAreaLeft" fmla="*/ 0 w 3012120"/>
                <a:gd name="textAreaRight" fmla="*/ 3012480 w 301212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4016573" h="808507">
                  <a:moveTo>
                    <a:pt x="0" y="0"/>
                  </a:moveTo>
                  <a:lnTo>
                    <a:pt x="4016573" y="0"/>
                  </a:lnTo>
                  <a:lnTo>
                    <a:pt x="4016573" y="808507"/>
                  </a:lnTo>
                  <a:lnTo>
                    <a:pt x="0" y="808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TextBox 54"/>
            <p:cNvSpPr/>
            <p:nvPr/>
          </p:nvSpPr>
          <p:spPr>
            <a:xfrm>
              <a:off x="13864680" y="3228480"/>
              <a:ext cx="3012120" cy="62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064"/>
                </a:lnSpc>
              </a:pPr>
              <a:r>
                <a:rPr lang="en-US" sz="24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Key Benefits</a:t>
              </a:r>
              <a:endParaRPr lang="en-IN" sz="24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7" name="Group 55"/>
          <p:cNvGrpSpPr/>
          <p:nvPr/>
        </p:nvGrpSpPr>
        <p:grpSpPr>
          <a:xfrm>
            <a:off x="13672080" y="3964320"/>
            <a:ext cx="3367800" cy="1666800"/>
            <a:chOff x="13672080" y="3964320"/>
            <a:chExt cx="3367800" cy="1666800"/>
          </a:xfrm>
        </p:grpSpPr>
        <p:sp>
          <p:nvSpPr>
            <p:cNvPr id="218" name="Freeform 56"/>
            <p:cNvSpPr/>
            <p:nvPr/>
          </p:nvSpPr>
          <p:spPr>
            <a:xfrm>
              <a:off x="13672080" y="4028760"/>
              <a:ext cx="3367800" cy="1602360"/>
            </a:xfrm>
            <a:custGeom>
              <a:avLst/>
              <a:gdLst>
                <a:gd name="textAreaLeft" fmla="*/ 0 w 3367800"/>
                <a:gd name="textAreaRight" fmla="*/ 3368160 w 3367800"/>
                <a:gd name="textAreaTop" fmla="*/ 0 h 1602360"/>
                <a:gd name="textAreaBottom" fmla="*/ 1602720 h 1602360"/>
              </a:gdLst>
              <a:ahLst/>
              <a:cxnLst/>
              <a:rect l="textAreaLeft" t="textAreaTop" r="textAreaRight" b="textAreaBottom"/>
              <a:pathLst>
                <a:path w="4490838" h="2136833">
                  <a:moveTo>
                    <a:pt x="0" y="0"/>
                  </a:moveTo>
                  <a:lnTo>
                    <a:pt x="4490838" y="0"/>
                  </a:lnTo>
                  <a:lnTo>
                    <a:pt x="4490838" y="2136833"/>
                  </a:lnTo>
                  <a:lnTo>
                    <a:pt x="0" y="213683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TextBox 57"/>
            <p:cNvSpPr/>
            <p:nvPr/>
          </p:nvSpPr>
          <p:spPr>
            <a:xfrm>
              <a:off x="13672080" y="3964320"/>
              <a:ext cx="3367800" cy="166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158"/>
                </a:lnSpc>
              </a:pPr>
              <a:r>
                <a:rPr lang="en-US" sz="1979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The system removes manual evaluation, making hiring faster, more accurate, and unbiased.</a:t>
              </a:r>
              <a:endParaRPr lang="en-IN" sz="1979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0" name="Group 58"/>
          <p:cNvGrpSpPr/>
          <p:nvPr/>
        </p:nvGrpSpPr>
        <p:grpSpPr>
          <a:xfrm>
            <a:off x="13672080" y="5677560"/>
            <a:ext cx="3367800" cy="1666800"/>
            <a:chOff x="13672080" y="5677560"/>
            <a:chExt cx="3367800" cy="1666800"/>
          </a:xfrm>
        </p:grpSpPr>
        <p:sp>
          <p:nvSpPr>
            <p:cNvPr id="221" name="Freeform 59"/>
            <p:cNvSpPr/>
            <p:nvPr/>
          </p:nvSpPr>
          <p:spPr>
            <a:xfrm>
              <a:off x="13672080" y="5742000"/>
              <a:ext cx="3367800" cy="1602360"/>
            </a:xfrm>
            <a:custGeom>
              <a:avLst/>
              <a:gdLst>
                <a:gd name="textAreaLeft" fmla="*/ 0 w 3367800"/>
                <a:gd name="textAreaRight" fmla="*/ 3368160 w 3367800"/>
                <a:gd name="textAreaTop" fmla="*/ 0 h 1602360"/>
                <a:gd name="textAreaBottom" fmla="*/ 1602720 h 1602360"/>
              </a:gdLst>
              <a:ahLst/>
              <a:cxnLst/>
              <a:rect l="textAreaLeft" t="textAreaTop" r="textAreaRight" b="textAreaBottom"/>
              <a:pathLst>
                <a:path w="4490838" h="2136833">
                  <a:moveTo>
                    <a:pt x="0" y="0"/>
                  </a:moveTo>
                  <a:lnTo>
                    <a:pt x="4490838" y="0"/>
                  </a:lnTo>
                  <a:lnTo>
                    <a:pt x="4490838" y="2136833"/>
                  </a:lnTo>
                  <a:lnTo>
                    <a:pt x="0" y="213683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TextBox 60"/>
            <p:cNvSpPr/>
            <p:nvPr/>
          </p:nvSpPr>
          <p:spPr>
            <a:xfrm>
              <a:off x="13672080" y="5677560"/>
              <a:ext cx="3367800" cy="166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158"/>
                </a:lnSpc>
              </a:pPr>
              <a:r>
                <a:rPr lang="en-US" sz="1979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It offers an easy-to-use interface and processes data in real-time for efficiency.</a:t>
              </a:r>
              <a:endParaRPr lang="en-IN" sz="1979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3" name="Group 61"/>
          <p:cNvGrpSpPr/>
          <p:nvPr/>
        </p:nvGrpSpPr>
        <p:grpSpPr>
          <a:xfrm>
            <a:off x="992160" y="6946560"/>
            <a:ext cx="5441040" cy="680400"/>
            <a:chOff x="992160" y="6946560"/>
            <a:chExt cx="5441040" cy="680400"/>
          </a:xfrm>
        </p:grpSpPr>
        <p:sp>
          <p:nvSpPr>
            <p:cNvPr id="224" name="Freeform 62"/>
            <p:cNvSpPr/>
            <p:nvPr/>
          </p:nvSpPr>
          <p:spPr>
            <a:xfrm>
              <a:off x="992160" y="6975000"/>
              <a:ext cx="5441040" cy="651960"/>
            </a:xfrm>
            <a:custGeom>
              <a:avLst/>
              <a:gdLst>
                <a:gd name="textAreaLeft" fmla="*/ 0 w 5441040"/>
                <a:gd name="textAreaRight" fmla="*/ 5441400 w 5441040"/>
                <a:gd name="textAreaTop" fmla="*/ 0 h 651960"/>
                <a:gd name="textAreaBottom" fmla="*/ 652320 h 651960"/>
              </a:gdLst>
              <a:ahLst/>
              <a:cxnLst/>
              <a:rect l="textAreaLeft" t="textAreaTop" r="textAreaRight" b="textAreaBottom"/>
              <a:pathLst>
                <a:path w="7255234" h="869752">
                  <a:moveTo>
                    <a:pt x="0" y="0"/>
                  </a:moveTo>
                  <a:lnTo>
                    <a:pt x="7255234" y="0"/>
                  </a:lnTo>
                  <a:lnTo>
                    <a:pt x="7255234" y="869752"/>
                  </a:lnTo>
                  <a:lnTo>
                    <a:pt x="0" y="86975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TextBox 63"/>
            <p:cNvSpPr/>
            <p:nvPr/>
          </p:nvSpPr>
          <p:spPr>
            <a:xfrm>
              <a:off x="992160" y="6946560"/>
              <a:ext cx="5441040" cy="68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444"/>
                </a:lnSpc>
              </a:pPr>
              <a:r>
                <a:rPr lang="en-US" sz="27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Advantages of Proposed System</a:t>
              </a:r>
              <a:endParaRPr lang="en-IN" sz="27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6" name="Group 64"/>
          <p:cNvGrpSpPr/>
          <p:nvPr/>
        </p:nvGrpSpPr>
        <p:grpSpPr>
          <a:xfrm>
            <a:off x="1415520" y="7804080"/>
            <a:ext cx="16303320" cy="466560"/>
            <a:chOff x="1415520" y="7804080"/>
            <a:chExt cx="16303320" cy="466560"/>
          </a:xfrm>
        </p:grpSpPr>
        <p:sp>
          <p:nvSpPr>
            <p:cNvPr id="227" name="Freeform 65"/>
            <p:cNvSpPr/>
            <p:nvPr/>
          </p:nvSpPr>
          <p:spPr>
            <a:xfrm>
              <a:off x="1415520" y="7868520"/>
              <a:ext cx="16303320" cy="402120"/>
            </a:xfrm>
            <a:custGeom>
              <a:avLst/>
              <a:gdLst>
                <a:gd name="textAreaLeft" fmla="*/ 0 w 16303320"/>
                <a:gd name="textAreaRight" fmla="*/ 16303680 w 16303320"/>
                <a:gd name="textAreaTop" fmla="*/ 0 h 402120"/>
                <a:gd name="textAreaBottom" fmla="*/ 402480 h 402120"/>
              </a:gdLst>
              <a:ahLst/>
              <a:cxnLst/>
              <a:rect l="textAreaLeft" t="textAreaTop" r="textAreaRight" b="textAreaBottom"/>
              <a:pathLst>
                <a:path w="21738034" h="536633">
                  <a:moveTo>
                    <a:pt x="0" y="0"/>
                  </a:moveTo>
                  <a:lnTo>
                    <a:pt x="21738034" y="0"/>
                  </a:lnTo>
                  <a:lnTo>
                    <a:pt x="21738034" y="536633"/>
                  </a:lnTo>
                  <a:lnTo>
                    <a:pt x="0" y="53663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TextBox 66"/>
            <p:cNvSpPr/>
            <p:nvPr/>
          </p:nvSpPr>
          <p:spPr>
            <a:xfrm>
              <a:off x="1415520" y="7804080"/>
              <a:ext cx="16303320" cy="46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297720" lvl="1" indent="-149040" defTabSz="914400">
                <a:lnSpc>
                  <a:spcPts val="3158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1979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Automated and fast resume analysis.</a:t>
              </a:r>
              <a:endParaRPr lang="en-IN" sz="1979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9" name="Group 67"/>
          <p:cNvGrpSpPr/>
          <p:nvPr/>
        </p:nvGrpSpPr>
        <p:grpSpPr>
          <a:xfrm>
            <a:off x="1415520" y="8290080"/>
            <a:ext cx="16303320" cy="466560"/>
            <a:chOff x="1415520" y="8290080"/>
            <a:chExt cx="16303320" cy="466560"/>
          </a:xfrm>
        </p:grpSpPr>
        <p:sp>
          <p:nvSpPr>
            <p:cNvPr id="230" name="Freeform 68"/>
            <p:cNvSpPr/>
            <p:nvPr/>
          </p:nvSpPr>
          <p:spPr>
            <a:xfrm>
              <a:off x="1415520" y="8354160"/>
              <a:ext cx="16303320" cy="402120"/>
            </a:xfrm>
            <a:custGeom>
              <a:avLst/>
              <a:gdLst>
                <a:gd name="textAreaLeft" fmla="*/ 0 w 16303320"/>
                <a:gd name="textAreaRight" fmla="*/ 16303680 w 16303320"/>
                <a:gd name="textAreaTop" fmla="*/ 0 h 402120"/>
                <a:gd name="textAreaBottom" fmla="*/ 402480 h 402120"/>
              </a:gdLst>
              <a:ahLst/>
              <a:cxnLst/>
              <a:rect l="textAreaLeft" t="textAreaTop" r="textAreaRight" b="textAreaBottom"/>
              <a:pathLst>
                <a:path w="21738034" h="536633">
                  <a:moveTo>
                    <a:pt x="0" y="0"/>
                  </a:moveTo>
                  <a:lnTo>
                    <a:pt x="21738034" y="0"/>
                  </a:lnTo>
                  <a:lnTo>
                    <a:pt x="21738034" y="536633"/>
                  </a:lnTo>
                  <a:lnTo>
                    <a:pt x="0" y="53663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TextBox 69"/>
            <p:cNvSpPr/>
            <p:nvPr/>
          </p:nvSpPr>
          <p:spPr>
            <a:xfrm>
              <a:off x="1415520" y="8290080"/>
              <a:ext cx="16303320" cy="46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297720" lvl="1" indent="-149040" defTabSz="914400">
                <a:lnSpc>
                  <a:spcPts val="3158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1979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Unbiased and accurate candidate selection.</a:t>
              </a:r>
              <a:endParaRPr lang="en-IN" sz="1979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2" name="Group 70"/>
          <p:cNvGrpSpPr/>
          <p:nvPr/>
        </p:nvGrpSpPr>
        <p:grpSpPr>
          <a:xfrm>
            <a:off x="1410840" y="8759520"/>
            <a:ext cx="16303320" cy="466560"/>
            <a:chOff x="1410840" y="8759520"/>
            <a:chExt cx="16303320" cy="466560"/>
          </a:xfrm>
        </p:grpSpPr>
        <p:sp>
          <p:nvSpPr>
            <p:cNvPr id="233" name="Freeform 71"/>
            <p:cNvSpPr/>
            <p:nvPr/>
          </p:nvSpPr>
          <p:spPr>
            <a:xfrm>
              <a:off x="1410840" y="8823600"/>
              <a:ext cx="16303320" cy="402120"/>
            </a:xfrm>
            <a:custGeom>
              <a:avLst/>
              <a:gdLst>
                <a:gd name="textAreaLeft" fmla="*/ 0 w 16303320"/>
                <a:gd name="textAreaRight" fmla="*/ 16303680 w 16303320"/>
                <a:gd name="textAreaTop" fmla="*/ 0 h 402120"/>
                <a:gd name="textAreaBottom" fmla="*/ 402480 h 402120"/>
              </a:gdLst>
              <a:ahLst/>
              <a:cxnLst/>
              <a:rect l="textAreaLeft" t="textAreaTop" r="textAreaRight" b="textAreaBottom"/>
              <a:pathLst>
                <a:path w="21738034" h="536633">
                  <a:moveTo>
                    <a:pt x="0" y="0"/>
                  </a:moveTo>
                  <a:lnTo>
                    <a:pt x="21738034" y="0"/>
                  </a:lnTo>
                  <a:lnTo>
                    <a:pt x="21738034" y="536633"/>
                  </a:lnTo>
                  <a:lnTo>
                    <a:pt x="0" y="53663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TextBox 72"/>
            <p:cNvSpPr/>
            <p:nvPr/>
          </p:nvSpPr>
          <p:spPr>
            <a:xfrm>
              <a:off x="1410840" y="8759520"/>
              <a:ext cx="16303320" cy="46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297720" lvl="1" indent="-149040" defTabSz="914400">
                <a:lnSpc>
                  <a:spcPts val="3158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1979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Streamlined and quicker hiring process.</a:t>
              </a:r>
              <a:endParaRPr lang="en-IN" sz="1979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5" name="Group 73"/>
          <p:cNvGrpSpPr/>
          <p:nvPr/>
        </p:nvGrpSpPr>
        <p:grpSpPr>
          <a:xfrm>
            <a:off x="1415520" y="9194040"/>
            <a:ext cx="16303320" cy="466560"/>
            <a:chOff x="1415520" y="9194040"/>
            <a:chExt cx="16303320" cy="466560"/>
          </a:xfrm>
        </p:grpSpPr>
        <p:sp>
          <p:nvSpPr>
            <p:cNvPr id="236" name="Freeform 74"/>
            <p:cNvSpPr/>
            <p:nvPr/>
          </p:nvSpPr>
          <p:spPr>
            <a:xfrm>
              <a:off x="1415520" y="9258480"/>
              <a:ext cx="16303320" cy="402120"/>
            </a:xfrm>
            <a:custGeom>
              <a:avLst/>
              <a:gdLst>
                <a:gd name="textAreaLeft" fmla="*/ 0 w 16303320"/>
                <a:gd name="textAreaRight" fmla="*/ 16303680 w 16303320"/>
                <a:gd name="textAreaTop" fmla="*/ 0 h 402120"/>
                <a:gd name="textAreaBottom" fmla="*/ 402480 h 402120"/>
              </a:gdLst>
              <a:ahLst/>
              <a:cxnLst/>
              <a:rect l="textAreaLeft" t="textAreaTop" r="textAreaRight" b="textAreaBottom"/>
              <a:pathLst>
                <a:path w="21738034" h="536633">
                  <a:moveTo>
                    <a:pt x="0" y="0"/>
                  </a:moveTo>
                  <a:lnTo>
                    <a:pt x="21738034" y="0"/>
                  </a:lnTo>
                  <a:lnTo>
                    <a:pt x="21738034" y="536633"/>
                  </a:lnTo>
                  <a:lnTo>
                    <a:pt x="0" y="53663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TextBox 75"/>
            <p:cNvSpPr/>
            <p:nvPr/>
          </p:nvSpPr>
          <p:spPr>
            <a:xfrm>
              <a:off x="1415520" y="9194040"/>
              <a:ext cx="16303320" cy="46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297720" lvl="1" indent="-149040" defTabSz="914400">
                <a:lnSpc>
                  <a:spcPts val="3158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1979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Provides insightful feedback to help job seekers improve their resumes</a:t>
              </a:r>
              <a:endParaRPr lang="en-IN" sz="1979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Freeform 2" descr="preencoded.png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9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240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1" name="Group 5"/>
          <p:cNvGrpSpPr/>
          <p:nvPr/>
        </p:nvGrpSpPr>
        <p:grpSpPr>
          <a:xfrm>
            <a:off x="1066680" y="149760"/>
            <a:ext cx="6019200" cy="1248120"/>
            <a:chOff x="1066680" y="149760"/>
            <a:chExt cx="6019200" cy="1248120"/>
          </a:xfrm>
        </p:grpSpPr>
        <p:sp>
          <p:nvSpPr>
            <p:cNvPr id="242" name="Freeform 6"/>
            <p:cNvSpPr/>
            <p:nvPr/>
          </p:nvSpPr>
          <p:spPr>
            <a:xfrm>
              <a:off x="1066680" y="164160"/>
              <a:ext cx="6019200" cy="1233720"/>
            </a:xfrm>
            <a:custGeom>
              <a:avLst/>
              <a:gdLst>
                <a:gd name="textAreaLeft" fmla="*/ 0 w 6019200"/>
                <a:gd name="textAreaRight" fmla="*/ 6019560 w 6019200"/>
                <a:gd name="textAreaTop" fmla="*/ 0 h 1233720"/>
                <a:gd name="textAreaBottom" fmla="*/ 1234080 h 1233720"/>
              </a:gdLst>
              <a:ahLst/>
              <a:cxnLst/>
              <a:rect l="textAreaLeft" t="textAreaTop" r="textAreaRight" b="textAreaBottom"/>
              <a:pathLst>
                <a:path w="8026003" h="1645245">
                  <a:moveTo>
                    <a:pt x="0" y="0"/>
                  </a:moveTo>
                  <a:lnTo>
                    <a:pt x="8026003" y="0"/>
                  </a:lnTo>
                  <a:lnTo>
                    <a:pt x="8026003" y="1645245"/>
                  </a:lnTo>
                  <a:lnTo>
                    <a:pt x="0" y="164524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TextBox 7"/>
            <p:cNvSpPr/>
            <p:nvPr/>
          </p:nvSpPr>
          <p:spPr>
            <a:xfrm>
              <a:off x="1066680" y="149760"/>
              <a:ext cx="6019200" cy="124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5890"/>
                </a:lnSpc>
              </a:pPr>
              <a:r>
                <a:rPr lang="en-US" sz="4700" b="0" u="none" strike="noStrike">
                  <a:solidFill>
                    <a:srgbClr val="1b1b27"/>
                  </a:solidFill>
                  <a:effectLst/>
                  <a:uFillTx/>
                  <a:latin typeface="Corben"/>
                  <a:ea typeface="Corben"/>
                </a:rPr>
                <a:t>USER MODULE</a:t>
              </a:r>
              <a:endParaRPr lang="en-IN" sz="4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4" name="Group 8"/>
          <p:cNvGrpSpPr/>
          <p:nvPr/>
        </p:nvGrpSpPr>
        <p:grpSpPr>
          <a:xfrm>
            <a:off x="1028880" y="1481400"/>
            <a:ext cx="16305120" cy="848520"/>
            <a:chOff x="1028880" y="1481400"/>
            <a:chExt cx="16305120" cy="848520"/>
          </a:xfrm>
        </p:grpSpPr>
        <p:sp>
          <p:nvSpPr>
            <p:cNvPr id="245" name="Freeform 9"/>
            <p:cNvSpPr/>
            <p:nvPr/>
          </p:nvSpPr>
          <p:spPr>
            <a:xfrm>
              <a:off x="1028880" y="1559880"/>
              <a:ext cx="16305120" cy="770040"/>
            </a:xfrm>
            <a:custGeom>
              <a:avLst/>
              <a:gdLst>
                <a:gd name="textAreaLeft" fmla="*/ 0 w 16305120"/>
                <a:gd name="textAreaRight" fmla="*/ 16305480 w 16305120"/>
                <a:gd name="textAreaTop" fmla="*/ 0 h 770040"/>
                <a:gd name="textAreaBottom" fmla="*/ 770400 h 770040"/>
              </a:gdLst>
              <a:ahLst/>
              <a:cxnLst/>
              <a:rect l="textAreaLeft" t="textAreaTop" r="textAreaRight" b="textAreaBottom"/>
              <a:pathLst>
                <a:path w="21740416" h="1027113">
                  <a:moveTo>
                    <a:pt x="0" y="0"/>
                  </a:moveTo>
                  <a:lnTo>
                    <a:pt x="21740416" y="0"/>
                  </a:lnTo>
                  <a:lnTo>
                    <a:pt x="21740416" y="1027113"/>
                  </a:lnTo>
                  <a:lnTo>
                    <a:pt x="0" y="102711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TextBox 10"/>
            <p:cNvSpPr/>
            <p:nvPr/>
          </p:nvSpPr>
          <p:spPr>
            <a:xfrm>
              <a:off x="1028880" y="1481400"/>
              <a:ext cx="16305120" cy="84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99"/>
                </a:lnSpc>
              </a:pPr>
              <a:r>
                <a:rPr lang="en-US" sz="18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Overview: This module helps job seekers enhance their resumes by providing personalized feedback, skills recommendations, and job suggestions to improve their chances of landing a job.</a:t>
              </a:r>
              <a:endParaRPr lang="en-IN" sz="18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7" name="Freeform 11" descr="preencoded.png"/>
          <p:cNvSpPr/>
          <p:nvPr/>
        </p:nvSpPr>
        <p:spPr>
          <a:xfrm>
            <a:off x="750600" y="3054240"/>
            <a:ext cx="5434560" cy="962640"/>
          </a:xfrm>
          <a:custGeom>
            <a:avLst/>
            <a:gdLst>
              <a:gd name="textAreaLeft" fmla="*/ 0 w 5434560"/>
              <a:gd name="textAreaRight" fmla="*/ 5434920 w 5434560"/>
              <a:gd name="textAreaTop" fmla="*/ 0 h 962640"/>
              <a:gd name="textAreaBottom" fmla="*/ 963000 h 962640"/>
            </a:gdLst>
            <a:ahLst/>
            <a:cxnLst/>
            <a:rect l="textAreaLeft" t="textAreaTop" r="textAreaRight" b="textAreaBottom"/>
            <a:pathLst>
              <a:path w="5435054" h="963066">
                <a:moveTo>
                  <a:pt x="0" y="0"/>
                </a:moveTo>
                <a:lnTo>
                  <a:pt x="5435053" y="0"/>
                </a:lnTo>
                <a:lnTo>
                  <a:pt x="5435053" y="963067"/>
                </a:lnTo>
                <a:lnTo>
                  <a:pt x="0" y="9630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8" name="Group 12"/>
          <p:cNvGrpSpPr/>
          <p:nvPr/>
        </p:nvGrpSpPr>
        <p:grpSpPr>
          <a:xfrm>
            <a:off x="1231920" y="4349520"/>
            <a:ext cx="3009240" cy="634680"/>
            <a:chOff x="1231920" y="4349520"/>
            <a:chExt cx="3009240" cy="634680"/>
          </a:xfrm>
        </p:grpSpPr>
        <p:sp>
          <p:nvSpPr>
            <p:cNvPr id="249" name="Freeform 13"/>
            <p:cNvSpPr/>
            <p:nvPr/>
          </p:nvSpPr>
          <p:spPr>
            <a:xfrm>
              <a:off x="1231920" y="4378320"/>
              <a:ext cx="3009240" cy="605880"/>
            </a:xfrm>
            <a:custGeom>
              <a:avLst/>
              <a:gdLst>
                <a:gd name="textAreaLeft" fmla="*/ 0 w 3009240"/>
                <a:gd name="textAreaRight" fmla="*/ 3009600 w 300924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4013002" h="808507">
                  <a:moveTo>
                    <a:pt x="0" y="0"/>
                  </a:moveTo>
                  <a:lnTo>
                    <a:pt x="4013002" y="0"/>
                  </a:lnTo>
                  <a:lnTo>
                    <a:pt x="4013002" y="808507"/>
                  </a:lnTo>
                  <a:lnTo>
                    <a:pt x="0" y="808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TextBox 14"/>
            <p:cNvSpPr/>
            <p:nvPr/>
          </p:nvSpPr>
          <p:spPr>
            <a:xfrm>
              <a:off x="1231920" y="4349520"/>
              <a:ext cx="3009240" cy="63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37"/>
                </a:lnSpc>
              </a:pPr>
              <a:r>
                <a:rPr lang="en-US" sz="23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Resume Upload</a:t>
              </a:r>
              <a:endParaRPr lang="en-IN" sz="23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1" name="Group 15"/>
          <p:cNvGrpSpPr/>
          <p:nvPr/>
        </p:nvGrpSpPr>
        <p:grpSpPr>
          <a:xfrm>
            <a:off x="1231920" y="5064840"/>
            <a:ext cx="4953240" cy="463680"/>
            <a:chOff x="1231920" y="5064840"/>
            <a:chExt cx="4953240" cy="463680"/>
          </a:xfrm>
        </p:grpSpPr>
        <p:sp>
          <p:nvSpPr>
            <p:cNvPr id="252" name="Freeform 16"/>
            <p:cNvSpPr/>
            <p:nvPr/>
          </p:nvSpPr>
          <p:spPr>
            <a:xfrm>
              <a:off x="1231920" y="5143680"/>
              <a:ext cx="4953240" cy="384840"/>
            </a:xfrm>
            <a:custGeom>
              <a:avLst/>
              <a:gdLst>
                <a:gd name="textAreaLeft" fmla="*/ 0 w 4953240"/>
                <a:gd name="textAreaRight" fmla="*/ 4953600 w 4953240"/>
                <a:gd name="textAreaTop" fmla="*/ 0 h 384840"/>
                <a:gd name="textAreaBottom" fmla="*/ 385200 h 384840"/>
              </a:gdLst>
              <a:ahLst/>
              <a:cxnLst/>
              <a:rect l="textAreaLeft" t="textAreaTop" r="textAreaRight" b="textAreaBottom"/>
              <a:pathLst>
                <a:path w="6604991" h="513557">
                  <a:moveTo>
                    <a:pt x="0" y="0"/>
                  </a:moveTo>
                  <a:lnTo>
                    <a:pt x="6604991" y="0"/>
                  </a:lnTo>
                  <a:lnTo>
                    <a:pt x="6604991" y="513557"/>
                  </a:lnTo>
                  <a:lnTo>
                    <a:pt x="0" y="51355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TextBox 17"/>
            <p:cNvSpPr/>
            <p:nvPr/>
          </p:nvSpPr>
          <p:spPr>
            <a:xfrm>
              <a:off x="1231920" y="5064840"/>
              <a:ext cx="4953240" cy="46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99"/>
                </a:lnSpc>
              </a:pPr>
              <a:r>
                <a:rPr lang="en-US" sz="18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Users can upload resumes in PDF format.</a:t>
              </a:r>
              <a:endParaRPr lang="en-IN" sz="18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4" name="Freeform 18" descr="preencoded.png"/>
          <p:cNvSpPr/>
          <p:nvPr/>
        </p:nvSpPr>
        <p:spPr>
          <a:xfrm>
            <a:off x="6426360" y="3054240"/>
            <a:ext cx="5434560" cy="962640"/>
          </a:xfrm>
          <a:custGeom>
            <a:avLst/>
            <a:gdLst>
              <a:gd name="textAreaLeft" fmla="*/ 0 w 5434560"/>
              <a:gd name="textAreaRight" fmla="*/ 5434920 w 5434560"/>
              <a:gd name="textAreaTop" fmla="*/ 0 h 962640"/>
              <a:gd name="textAreaBottom" fmla="*/ 963000 h 962640"/>
            </a:gdLst>
            <a:ahLst/>
            <a:cxnLst/>
            <a:rect l="textAreaLeft" t="textAreaTop" r="textAreaRight" b="textAreaBottom"/>
            <a:pathLst>
              <a:path w="5435054" h="963066">
                <a:moveTo>
                  <a:pt x="0" y="0"/>
                </a:moveTo>
                <a:lnTo>
                  <a:pt x="5435053" y="0"/>
                </a:lnTo>
                <a:lnTo>
                  <a:pt x="5435053" y="963067"/>
                </a:lnTo>
                <a:lnTo>
                  <a:pt x="0" y="9630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5" name="Group 19"/>
          <p:cNvGrpSpPr/>
          <p:nvPr/>
        </p:nvGrpSpPr>
        <p:grpSpPr>
          <a:xfrm>
            <a:off x="6667200" y="4349520"/>
            <a:ext cx="3297240" cy="634680"/>
            <a:chOff x="6667200" y="4349520"/>
            <a:chExt cx="3297240" cy="634680"/>
          </a:xfrm>
        </p:grpSpPr>
        <p:sp>
          <p:nvSpPr>
            <p:cNvPr id="256" name="Freeform 20"/>
            <p:cNvSpPr/>
            <p:nvPr/>
          </p:nvSpPr>
          <p:spPr>
            <a:xfrm>
              <a:off x="6667200" y="4378320"/>
              <a:ext cx="3297240" cy="605880"/>
            </a:xfrm>
            <a:custGeom>
              <a:avLst/>
              <a:gdLst>
                <a:gd name="textAreaLeft" fmla="*/ 0 w 3297240"/>
                <a:gd name="textAreaRight" fmla="*/ 3297600 w 329724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4396780" h="808507">
                  <a:moveTo>
                    <a:pt x="0" y="0"/>
                  </a:moveTo>
                  <a:lnTo>
                    <a:pt x="4396780" y="0"/>
                  </a:lnTo>
                  <a:lnTo>
                    <a:pt x="4396780" y="808507"/>
                  </a:lnTo>
                  <a:lnTo>
                    <a:pt x="0" y="808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TextBox 21"/>
            <p:cNvSpPr/>
            <p:nvPr/>
          </p:nvSpPr>
          <p:spPr>
            <a:xfrm>
              <a:off x="6667200" y="4349520"/>
              <a:ext cx="3297240" cy="63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37"/>
                </a:lnSpc>
              </a:pPr>
              <a:r>
                <a:rPr lang="en-US" sz="23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Information Extraction</a:t>
              </a:r>
              <a:endParaRPr lang="en-IN" sz="23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8" name="Group 22"/>
          <p:cNvGrpSpPr/>
          <p:nvPr/>
        </p:nvGrpSpPr>
        <p:grpSpPr>
          <a:xfrm>
            <a:off x="6667200" y="5064840"/>
            <a:ext cx="4953240" cy="848880"/>
            <a:chOff x="6667200" y="5064840"/>
            <a:chExt cx="4953240" cy="848880"/>
          </a:xfrm>
        </p:grpSpPr>
        <p:sp>
          <p:nvSpPr>
            <p:cNvPr id="259" name="Freeform 23"/>
            <p:cNvSpPr/>
            <p:nvPr/>
          </p:nvSpPr>
          <p:spPr>
            <a:xfrm>
              <a:off x="6667200" y="5143680"/>
              <a:ext cx="4953240" cy="770040"/>
            </a:xfrm>
            <a:custGeom>
              <a:avLst/>
              <a:gdLst>
                <a:gd name="textAreaLeft" fmla="*/ 0 w 4953240"/>
                <a:gd name="textAreaRight" fmla="*/ 4953600 w 4953240"/>
                <a:gd name="textAreaTop" fmla="*/ 0 h 770040"/>
                <a:gd name="textAreaBottom" fmla="*/ 770400 h 770040"/>
              </a:gdLst>
              <a:ahLst/>
              <a:cxnLst/>
              <a:rect l="textAreaLeft" t="textAreaTop" r="textAreaRight" b="textAreaBottom"/>
              <a:pathLst>
                <a:path w="6604991" h="1027113">
                  <a:moveTo>
                    <a:pt x="0" y="0"/>
                  </a:moveTo>
                  <a:lnTo>
                    <a:pt x="6604991" y="0"/>
                  </a:lnTo>
                  <a:lnTo>
                    <a:pt x="6604991" y="1027113"/>
                  </a:lnTo>
                  <a:lnTo>
                    <a:pt x="0" y="102711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TextBox 24"/>
            <p:cNvSpPr/>
            <p:nvPr/>
          </p:nvSpPr>
          <p:spPr>
            <a:xfrm>
              <a:off x="6667200" y="5064840"/>
              <a:ext cx="4953240" cy="84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99"/>
                </a:lnSpc>
              </a:pPr>
              <a:r>
                <a:rPr lang="en-US" sz="18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Extracts essential data from resumes using Natural Language Processing (NLP).</a:t>
              </a:r>
              <a:endParaRPr lang="en-IN" sz="18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1" name="Freeform 25" descr="preencoded.png"/>
          <p:cNvSpPr/>
          <p:nvPr/>
        </p:nvSpPr>
        <p:spPr>
          <a:xfrm>
            <a:off x="11861280" y="3054240"/>
            <a:ext cx="5434560" cy="962640"/>
          </a:xfrm>
          <a:custGeom>
            <a:avLst/>
            <a:gdLst>
              <a:gd name="textAreaLeft" fmla="*/ 0 w 5434560"/>
              <a:gd name="textAreaRight" fmla="*/ 5434920 w 5434560"/>
              <a:gd name="textAreaTop" fmla="*/ 0 h 962640"/>
              <a:gd name="textAreaBottom" fmla="*/ 963000 h 962640"/>
            </a:gdLst>
            <a:ahLst/>
            <a:cxnLst/>
            <a:rect l="textAreaLeft" t="textAreaTop" r="textAreaRight" b="textAreaBottom"/>
            <a:pathLst>
              <a:path w="5435054" h="963066">
                <a:moveTo>
                  <a:pt x="0" y="0"/>
                </a:moveTo>
                <a:lnTo>
                  <a:pt x="5435054" y="0"/>
                </a:lnTo>
                <a:lnTo>
                  <a:pt x="5435054" y="963067"/>
                </a:lnTo>
                <a:lnTo>
                  <a:pt x="0" y="9630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2" name="Group 26"/>
          <p:cNvGrpSpPr/>
          <p:nvPr/>
        </p:nvGrpSpPr>
        <p:grpSpPr>
          <a:xfrm>
            <a:off x="12102120" y="4349520"/>
            <a:ext cx="4334760" cy="634680"/>
            <a:chOff x="12102120" y="4349520"/>
            <a:chExt cx="4334760" cy="634680"/>
          </a:xfrm>
        </p:grpSpPr>
        <p:sp>
          <p:nvSpPr>
            <p:cNvPr id="263" name="Freeform 27"/>
            <p:cNvSpPr/>
            <p:nvPr/>
          </p:nvSpPr>
          <p:spPr>
            <a:xfrm>
              <a:off x="12102120" y="4378320"/>
              <a:ext cx="4334760" cy="605880"/>
            </a:xfrm>
            <a:custGeom>
              <a:avLst/>
              <a:gdLst>
                <a:gd name="textAreaLeft" fmla="*/ 0 w 4334760"/>
                <a:gd name="textAreaRight" fmla="*/ 4335120 w 433476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5780182" h="808507">
                  <a:moveTo>
                    <a:pt x="0" y="0"/>
                  </a:moveTo>
                  <a:lnTo>
                    <a:pt x="5780182" y="0"/>
                  </a:lnTo>
                  <a:lnTo>
                    <a:pt x="5780182" y="808507"/>
                  </a:lnTo>
                  <a:lnTo>
                    <a:pt x="0" y="808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TextBox 28"/>
            <p:cNvSpPr/>
            <p:nvPr/>
          </p:nvSpPr>
          <p:spPr>
            <a:xfrm>
              <a:off x="12102120" y="4349520"/>
              <a:ext cx="4334760" cy="63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37"/>
                </a:lnSpc>
              </a:pPr>
              <a:r>
                <a:rPr lang="en-US" sz="23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Resume Scoring &amp; Feedback</a:t>
              </a:r>
              <a:endParaRPr lang="en-IN" sz="23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5" name="Group 29"/>
          <p:cNvGrpSpPr/>
          <p:nvPr/>
        </p:nvGrpSpPr>
        <p:grpSpPr>
          <a:xfrm>
            <a:off x="12106800" y="5064840"/>
            <a:ext cx="4953240" cy="1234080"/>
            <a:chOff x="12106800" y="5064840"/>
            <a:chExt cx="4953240" cy="1234080"/>
          </a:xfrm>
        </p:grpSpPr>
        <p:sp>
          <p:nvSpPr>
            <p:cNvPr id="266" name="Freeform 30"/>
            <p:cNvSpPr/>
            <p:nvPr/>
          </p:nvSpPr>
          <p:spPr>
            <a:xfrm>
              <a:off x="12106800" y="5143680"/>
              <a:ext cx="4953240" cy="1155240"/>
            </a:xfrm>
            <a:custGeom>
              <a:avLst/>
              <a:gdLst>
                <a:gd name="textAreaLeft" fmla="*/ 0 w 4953240"/>
                <a:gd name="textAreaRight" fmla="*/ 4953600 w 4953240"/>
                <a:gd name="textAreaTop" fmla="*/ 0 h 1155240"/>
                <a:gd name="textAreaBottom" fmla="*/ 1155600 h 1155240"/>
              </a:gdLst>
              <a:ahLst/>
              <a:cxnLst/>
              <a:rect l="textAreaLeft" t="textAreaTop" r="textAreaRight" b="textAreaBottom"/>
              <a:pathLst>
                <a:path w="6604991" h="1540668">
                  <a:moveTo>
                    <a:pt x="0" y="0"/>
                  </a:moveTo>
                  <a:lnTo>
                    <a:pt x="6604991" y="0"/>
                  </a:lnTo>
                  <a:lnTo>
                    <a:pt x="6604991" y="1540668"/>
                  </a:lnTo>
                  <a:lnTo>
                    <a:pt x="0" y="154066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TextBox 31"/>
            <p:cNvSpPr/>
            <p:nvPr/>
          </p:nvSpPr>
          <p:spPr>
            <a:xfrm>
              <a:off x="12106800" y="5064840"/>
              <a:ext cx="4953240" cy="12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99"/>
                </a:lnSpc>
              </a:pPr>
              <a:r>
                <a:rPr lang="en-US" sz="18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Scored and evaluated based on a rule-based algorithm with feedback for improvement.</a:t>
              </a:r>
              <a:endParaRPr lang="en-IN" sz="18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8" name="Freeform 32" descr="preencoded.png"/>
          <p:cNvSpPr/>
          <p:nvPr/>
        </p:nvSpPr>
        <p:spPr>
          <a:xfrm>
            <a:off x="991440" y="6656040"/>
            <a:ext cx="5434560" cy="962640"/>
          </a:xfrm>
          <a:custGeom>
            <a:avLst/>
            <a:gdLst>
              <a:gd name="textAreaLeft" fmla="*/ 0 w 5434560"/>
              <a:gd name="textAreaRight" fmla="*/ 5434920 w 5434560"/>
              <a:gd name="textAreaTop" fmla="*/ 0 h 962640"/>
              <a:gd name="textAreaBottom" fmla="*/ 963000 h 962640"/>
            </a:gdLst>
            <a:ahLst/>
            <a:cxnLst/>
            <a:rect l="textAreaLeft" t="textAreaTop" r="textAreaRight" b="textAreaBottom"/>
            <a:pathLst>
              <a:path w="5435054" h="963066">
                <a:moveTo>
                  <a:pt x="0" y="0"/>
                </a:moveTo>
                <a:lnTo>
                  <a:pt x="5435054" y="0"/>
                </a:lnTo>
                <a:lnTo>
                  <a:pt x="5435054" y="963067"/>
                </a:lnTo>
                <a:lnTo>
                  <a:pt x="0" y="9630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9" name="Group 33"/>
          <p:cNvGrpSpPr/>
          <p:nvPr/>
        </p:nvGrpSpPr>
        <p:grpSpPr>
          <a:xfrm>
            <a:off x="1231920" y="7951320"/>
            <a:ext cx="4726080" cy="634680"/>
            <a:chOff x="1231920" y="7951320"/>
            <a:chExt cx="4726080" cy="634680"/>
          </a:xfrm>
        </p:grpSpPr>
        <p:sp>
          <p:nvSpPr>
            <p:cNvPr id="270" name="Freeform 34"/>
            <p:cNvSpPr/>
            <p:nvPr/>
          </p:nvSpPr>
          <p:spPr>
            <a:xfrm>
              <a:off x="1231920" y="7980120"/>
              <a:ext cx="4726080" cy="605880"/>
            </a:xfrm>
            <a:custGeom>
              <a:avLst/>
              <a:gdLst>
                <a:gd name="textAreaLeft" fmla="*/ 0 w 4726080"/>
                <a:gd name="textAreaRight" fmla="*/ 4726440 w 472608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6301979" h="808507">
                  <a:moveTo>
                    <a:pt x="0" y="0"/>
                  </a:moveTo>
                  <a:lnTo>
                    <a:pt x="6301979" y="0"/>
                  </a:lnTo>
                  <a:lnTo>
                    <a:pt x="6301979" y="808507"/>
                  </a:lnTo>
                  <a:lnTo>
                    <a:pt x="0" y="808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TextBox 35"/>
            <p:cNvSpPr/>
            <p:nvPr/>
          </p:nvSpPr>
          <p:spPr>
            <a:xfrm>
              <a:off x="1231920" y="7951320"/>
              <a:ext cx="4726080" cy="63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37"/>
                </a:lnSpc>
              </a:pPr>
              <a:r>
                <a:rPr lang="en-US" sz="23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Skill &amp; Course Recommendations</a:t>
              </a:r>
              <a:endParaRPr lang="en-IN" sz="23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2" name="Group 36"/>
          <p:cNvGrpSpPr/>
          <p:nvPr/>
        </p:nvGrpSpPr>
        <p:grpSpPr>
          <a:xfrm>
            <a:off x="1231920" y="8669880"/>
            <a:ext cx="4953240" cy="848520"/>
            <a:chOff x="1231920" y="8669880"/>
            <a:chExt cx="4953240" cy="848520"/>
          </a:xfrm>
        </p:grpSpPr>
        <p:sp>
          <p:nvSpPr>
            <p:cNvPr id="273" name="Freeform 37"/>
            <p:cNvSpPr/>
            <p:nvPr/>
          </p:nvSpPr>
          <p:spPr>
            <a:xfrm>
              <a:off x="1231920" y="8748360"/>
              <a:ext cx="4953240" cy="770040"/>
            </a:xfrm>
            <a:custGeom>
              <a:avLst/>
              <a:gdLst>
                <a:gd name="textAreaLeft" fmla="*/ 0 w 4953240"/>
                <a:gd name="textAreaRight" fmla="*/ 4953600 w 4953240"/>
                <a:gd name="textAreaTop" fmla="*/ 0 h 770040"/>
                <a:gd name="textAreaBottom" fmla="*/ 770400 h 770040"/>
              </a:gdLst>
              <a:ahLst/>
              <a:cxnLst/>
              <a:rect l="textAreaLeft" t="textAreaTop" r="textAreaRight" b="textAreaBottom"/>
              <a:pathLst>
                <a:path w="6604991" h="1027113">
                  <a:moveTo>
                    <a:pt x="0" y="0"/>
                  </a:moveTo>
                  <a:lnTo>
                    <a:pt x="6604991" y="0"/>
                  </a:lnTo>
                  <a:lnTo>
                    <a:pt x="6604991" y="1027113"/>
                  </a:lnTo>
                  <a:lnTo>
                    <a:pt x="0" y="102711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TextBox 38"/>
            <p:cNvSpPr/>
            <p:nvPr/>
          </p:nvSpPr>
          <p:spPr>
            <a:xfrm>
              <a:off x="1231920" y="8669880"/>
              <a:ext cx="4953240" cy="84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99"/>
                </a:lnSpc>
              </a:pPr>
              <a:r>
                <a:rPr lang="en-US" sz="18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Provides suggestions for skills and courses to enhance the resume.</a:t>
              </a:r>
              <a:endParaRPr lang="en-IN" sz="18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5" name="Freeform 39" descr="preencoded.png"/>
          <p:cNvSpPr/>
          <p:nvPr/>
        </p:nvSpPr>
        <p:spPr>
          <a:xfrm>
            <a:off x="6426360" y="6656040"/>
            <a:ext cx="5434560" cy="962640"/>
          </a:xfrm>
          <a:custGeom>
            <a:avLst/>
            <a:gdLst>
              <a:gd name="textAreaLeft" fmla="*/ 0 w 5434560"/>
              <a:gd name="textAreaRight" fmla="*/ 5434920 w 5434560"/>
              <a:gd name="textAreaTop" fmla="*/ 0 h 962640"/>
              <a:gd name="textAreaBottom" fmla="*/ 963000 h 962640"/>
            </a:gdLst>
            <a:ahLst/>
            <a:cxnLst/>
            <a:rect l="textAreaLeft" t="textAreaTop" r="textAreaRight" b="textAreaBottom"/>
            <a:pathLst>
              <a:path w="5435054" h="963066">
                <a:moveTo>
                  <a:pt x="0" y="0"/>
                </a:moveTo>
                <a:lnTo>
                  <a:pt x="5435053" y="0"/>
                </a:lnTo>
                <a:lnTo>
                  <a:pt x="5435053" y="963067"/>
                </a:lnTo>
                <a:lnTo>
                  <a:pt x="0" y="9630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6" name="Group 40"/>
          <p:cNvGrpSpPr/>
          <p:nvPr/>
        </p:nvGrpSpPr>
        <p:grpSpPr>
          <a:xfrm>
            <a:off x="6667200" y="7951320"/>
            <a:ext cx="3009240" cy="634680"/>
            <a:chOff x="6667200" y="7951320"/>
            <a:chExt cx="3009240" cy="634680"/>
          </a:xfrm>
        </p:grpSpPr>
        <p:sp>
          <p:nvSpPr>
            <p:cNvPr id="277" name="Freeform 41"/>
            <p:cNvSpPr/>
            <p:nvPr/>
          </p:nvSpPr>
          <p:spPr>
            <a:xfrm>
              <a:off x="6667200" y="7980120"/>
              <a:ext cx="3009240" cy="605880"/>
            </a:xfrm>
            <a:custGeom>
              <a:avLst/>
              <a:gdLst>
                <a:gd name="textAreaLeft" fmla="*/ 0 w 3009240"/>
                <a:gd name="textAreaRight" fmla="*/ 3009600 w 300924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4013002" h="808507">
                  <a:moveTo>
                    <a:pt x="0" y="0"/>
                  </a:moveTo>
                  <a:lnTo>
                    <a:pt x="4013002" y="0"/>
                  </a:lnTo>
                  <a:lnTo>
                    <a:pt x="4013002" y="808507"/>
                  </a:lnTo>
                  <a:lnTo>
                    <a:pt x="0" y="808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TextBox 42"/>
            <p:cNvSpPr/>
            <p:nvPr/>
          </p:nvSpPr>
          <p:spPr>
            <a:xfrm>
              <a:off x="6667200" y="7951320"/>
              <a:ext cx="3009240" cy="63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37"/>
                </a:lnSpc>
              </a:pPr>
              <a:r>
                <a:rPr lang="en-US" sz="23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Job Role Prediction</a:t>
              </a:r>
              <a:endParaRPr lang="en-IN" sz="23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9" name="Group 43"/>
          <p:cNvGrpSpPr/>
          <p:nvPr/>
        </p:nvGrpSpPr>
        <p:grpSpPr>
          <a:xfrm>
            <a:off x="6667200" y="8669880"/>
            <a:ext cx="4953240" cy="848520"/>
            <a:chOff x="6667200" y="8669880"/>
            <a:chExt cx="4953240" cy="848520"/>
          </a:xfrm>
        </p:grpSpPr>
        <p:sp>
          <p:nvSpPr>
            <p:cNvPr id="280" name="Freeform 44"/>
            <p:cNvSpPr/>
            <p:nvPr/>
          </p:nvSpPr>
          <p:spPr>
            <a:xfrm>
              <a:off x="6667200" y="8748360"/>
              <a:ext cx="4953240" cy="770040"/>
            </a:xfrm>
            <a:custGeom>
              <a:avLst/>
              <a:gdLst>
                <a:gd name="textAreaLeft" fmla="*/ 0 w 4953240"/>
                <a:gd name="textAreaRight" fmla="*/ 4953600 w 4953240"/>
                <a:gd name="textAreaTop" fmla="*/ 0 h 770040"/>
                <a:gd name="textAreaBottom" fmla="*/ 770400 h 770040"/>
              </a:gdLst>
              <a:ahLst/>
              <a:cxnLst/>
              <a:rect l="textAreaLeft" t="textAreaTop" r="textAreaRight" b="textAreaBottom"/>
              <a:pathLst>
                <a:path w="6604991" h="1027113">
                  <a:moveTo>
                    <a:pt x="0" y="0"/>
                  </a:moveTo>
                  <a:lnTo>
                    <a:pt x="6604991" y="0"/>
                  </a:lnTo>
                  <a:lnTo>
                    <a:pt x="6604991" y="1027113"/>
                  </a:lnTo>
                  <a:lnTo>
                    <a:pt x="0" y="102711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TextBox 45"/>
            <p:cNvSpPr/>
            <p:nvPr/>
          </p:nvSpPr>
          <p:spPr>
            <a:xfrm>
              <a:off x="6667200" y="8669880"/>
              <a:ext cx="4953240" cy="84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99"/>
                </a:lnSpc>
              </a:pPr>
              <a:r>
                <a:rPr lang="en-US" sz="18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Suggests suitable job roles and personalized job recommendations.</a:t>
              </a:r>
              <a:endParaRPr lang="en-IN" sz="18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2" name="Freeform 46" descr="preencoded.png"/>
          <p:cNvSpPr/>
          <p:nvPr/>
        </p:nvSpPr>
        <p:spPr>
          <a:xfrm>
            <a:off x="11861280" y="6656040"/>
            <a:ext cx="5434560" cy="962640"/>
          </a:xfrm>
          <a:custGeom>
            <a:avLst/>
            <a:gdLst>
              <a:gd name="textAreaLeft" fmla="*/ 0 w 5434560"/>
              <a:gd name="textAreaRight" fmla="*/ 5434920 w 5434560"/>
              <a:gd name="textAreaTop" fmla="*/ 0 h 962640"/>
              <a:gd name="textAreaBottom" fmla="*/ 963000 h 962640"/>
            </a:gdLst>
            <a:ahLst/>
            <a:cxnLst/>
            <a:rect l="textAreaLeft" t="textAreaTop" r="textAreaRight" b="textAreaBottom"/>
            <a:pathLst>
              <a:path w="5435054" h="963066">
                <a:moveTo>
                  <a:pt x="0" y="0"/>
                </a:moveTo>
                <a:lnTo>
                  <a:pt x="5435054" y="0"/>
                </a:lnTo>
                <a:lnTo>
                  <a:pt x="5435054" y="963067"/>
                </a:lnTo>
                <a:lnTo>
                  <a:pt x="0" y="9630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3" name="Group 47"/>
          <p:cNvGrpSpPr/>
          <p:nvPr/>
        </p:nvGrpSpPr>
        <p:grpSpPr>
          <a:xfrm>
            <a:off x="12102120" y="7951320"/>
            <a:ext cx="3009240" cy="634680"/>
            <a:chOff x="12102120" y="7951320"/>
            <a:chExt cx="3009240" cy="634680"/>
          </a:xfrm>
        </p:grpSpPr>
        <p:sp>
          <p:nvSpPr>
            <p:cNvPr id="284" name="Freeform 48"/>
            <p:cNvSpPr/>
            <p:nvPr/>
          </p:nvSpPr>
          <p:spPr>
            <a:xfrm>
              <a:off x="12102120" y="7980120"/>
              <a:ext cx="3009240" cy="605880"/>
            </a:xfrm>
            <a:custGeom>
              <a:avLst/>
              <a:gdLst>
                <a:gd name="textAreaLeft" fmla="*/ 0 w 3009240"/>
                <a:gd name="textAreaRight" fmla="*/ 3009600 w 300924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4013002" h="808507">
                  <a:moveTo>
                    <a:pt x="0" y="0"/>
                  </a:moveTo>
                  <a:lnTo>
                    <a:pt x="4013002" y="0"/>
                  </a:lnTo>
                  <a:lnTo>
                    <a:pt x="4013002" y="808507"/>
                  </a:lnTo>
                  <a:lnTo>
                    <a:pt x="0" y="808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TextBox 49"/>
            <p:cNvSpPr/>
            <p:nvPr/>
          </p:nvSpPr>
          <p:spPr>
            <a:xfrm>
              <a:off x="12102120" y="7951320"/>
              <a:ext cx="3009240" cy="63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37"/>
                </a:lnSpc>
              </a:pPr>
              <a:r>
                <a:rPr lang="en-US" sz="23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Video Resources</a:t>
              </a:r>
              <a:endParaRPr lang="en-IN" sz="23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6" name="Group 50"/>
          <p:cNvGrpSpPr/>
          <p:nvPr/>
        </p:nvGrpSpPr>
        <p:grpSpPr>
          <a:xfrm>
            <a:off x="12102120" y="8669880"/>
            <a:ext cx="4953240" cy="848520"/>
            <a:chOff x="12102120" y="8669880"/>
            <a:chExt cx="4953240" cy="848520"/>
          </a:xfrm>
        </p:grpSpPr>
        <p:sp>
          <p:nvSpPr>
            <p:cNvPr id="287" name="Freeform 51"/>
            <p:cNvSpPr/>
            <p:nvPr/>
          </p:nvSpPr>
          <p:spPr>
            <a:xfrm>
              <a:off x="12102120" y="8748360"/>
              <a:ext cx="4953240" cy="770040"/>
            </a:xfrm>
            <a:custGeom>
              <a:avLst/>
              <a:gdLst>
                <a:gd name="textAreaLeft" fmla="*/ 0 w 4953240"/>
                <a:gd name="textAreaRight" fmla="*/ 4953600 w 4953240"/>
                <a:gd name="textAreaTop" fmla="*/ 0 h 770040"/>
                <a:gd name="textAreaBottom" fmla="*/ 770400 h 770040"/>
              </a:gdLst>
              <a:ahLst/>
              <a:cxnLst/>
              <a:rect l="textAreaLeft" t="textAreaTop" r="textAreaRight" b="textAreaBottom"/>
              <a:pathLst>
                <a:path w="6604991" h="1027113">
                  <a:moveTo>
                    <a:pt x="0" y="0"/>
                  </a:moveTo>
                  <a:lnTo>
                    <a:pt x="6604991" y="0"/>
                  </a:lnTo>
                  <a:lnTo>
                    <a:pt x="6604991" y="1027113"/>
                  </a:lnTo>
                  <a:lnTo>
                    <a:pt x="0" y="102711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TextBox 52"/>
            <p:cNvSpPr/>
            <p:nvPr/>
          </p:nvSpPr>
          <p:spPr>
            <a:xfrm>
              <a:off x="12102120" y="8669880"/>
              <a:ext cx="4953240" cy="84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99"/>
                </a:lnSpc>
              </a:pPr>
              <a:r>
                <a:rPr lang="en-US" sz="18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Offers video tips on resume enhancement and interview preparation.</a:t>
              </a:r>
              <a:endParaRPr lang="en-IN" sz="18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Freeform 2" descr="preencoded.png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0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291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2" name="Freeform 5" descr="preencoded.png">
            <a:hlinkClick r:id="rId2"/>
          </p:cNvPr>
          <p:cNvSpPr/>
          <p:nvPr/>
        </p:nvSpPr>
        <p:spPr>
          <a:xfrm>
            <a:off x="16049160" y="9686880"/>
            <a:ext cx="2152800" cy="514080"/>
          </a:xfrm>
          <a:custGeom>
            <a:avLst/>
            <a:gdLst>
              <a:gd name="textAreaLeft" fmla="*/ 0 w 2152800"/>
              <a:gd name="textAreaRight" fmla="*/ 2153160 w 2152800"/>
              <a:gd name="textAreaTop" fmla="*/ 0 h 514080"/>
              <a:gd name="textAreaBottom" fmla="*/ 514440 h 514080"/>
            </a:gdLst>
            <a:ahLst/>
            <a:cxnLst/>
            <a:rect l="textAreaLeft" t="textAreaTop" r="textAreaRight" b="textAreaBottom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Freeform 6" descr="preencoded.png"/>
          <p:cNvSpPr/>
          <p:nvPr/>
        </p:nvSpPr>
        <p:spPr>
          <a:xfrm>
            <a:off x="11430000" y="0"/>
            <a:ext cx="6857640" cy="10286640"/>
          </a:xfrm>
          <a:custGeom>
            <a:avLst/>
            <a:gdLst>
              <a:gd name="textAreaLeft" fmla="*/ 0 w 6857640"/>
              <a:gd name="textAreaRight" fmla="*/ 6858000 w 685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4" name="Group 7"/>
          <p:cNvGrpSpPr/>
          <p:nvPr/>
        </p:nvGrpSpPr>
        <p:grpSpPr>
          <a:xfrm>
            <a:off x="992160" y="313560"/>
            <a:ext cx="7310520" cy="1248840"/>
            <a:chOff x="992160" y="313560"/>
            <a:chExt cx="7310520" cy="1248840"/>
          </a:xfrm>
        </p:grpSpPr>
        <p:sp>
          <p:nvSpPr>
            <p:cNvPr id="295" name="Freeform 8"/>
            <p:cNvSpPr/>
            <p:nvPr/>
          </p:nvSpPr>
          <p:spPr>
            <a:xfrm>
              <a:off x="992160" y="334800"/>
              <a:ext cx="7310520" cy="1227240"/>
            </a:xfrm>
            <a:custGeom>
              <a:avLst/>
              <a:gdLst>
                <a:gd name="textAreaLeft" fmla="*/ 0 w 7310520"/>
                <a:gd name="textAreaRight" fmla="*/ 7310880 w 7310520"/>
                <a:gd name="textAreaTop" fmla="*/ 0 h 1227240"/>
                <a:gd name="textAreaBottom" fmla="*/ 1227600 h 1227240"/>
              </a:gdLst>
              <a:ahLst/>
              <a:cxnLst/>
              <a:rect l="textAreaLeft" t="textAreaTop" r="textAreaRight" b="textAreaBottom"/>
              <a:pathLst>
                <a:path w="9747758" h="1636886">
                  <a:moveTo>
                    <a:pt x="0" y="0"/>
                  </a:moveTo>
                  <a:lnTo>
                    <a:pt x="9747758" y="0"/>
                  </a:lnTo>
                  <a:lnTo>
                    <a:pt x="9747758" y="1636886"/>
                  </a:lnTo>
                  <a:lnTo>
                    <a:pt x="0" y="1636886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TextBox 9"/>
            <p:cNvSpPr/>
            <p:nvPr/>
          </p:nvSpPr>
          <p:spPr>
            <a:xfrm>
              <a:off x="992160" y="313560"/>
              <a:ext cx="7310520" cy="124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5913"/>
                </a:lnSpc>
              </a:pPr>
              <a:r>
                <a:rPr lang="en-US" sz="4700" b="0" u="none" strike="noStrike">
                  <a:solidFill>
                    <a:srgbClr val="1b1b27"/>
                  </a:solidFill>
                  <a:effectLst/>
                  <a:uFillTx/>
                  <a:latin typeface="Corben"/>
                  <a:ea typeface="Corben"/>
                </a:rPr>
                <a:t>RECRUITER MODULE</a:t>
              </a:r>
              <a:endParaRPr lang="en-IN" sz="4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7" name="Group 10"/>
          <p:cNvGrpSpPr/>
          <p:nvPr/>
        </p:nvGrpSpPr>
        <p:grpSpPr>
          <a:xfrm>
            <a:off x="987480" y="1625040"/>
            <a:ext cx="9445320" cy="1002600"/>
            <a:chOff x="987480" y="1625040"/>
            <a:chExt cx="9445320" cy="1002600"/>
          </a:xfrm>
        </p:grpSpPr>
        <p:sp>
          <p:nvSpPr>
            <p:cNvPr id="298" name="Freeform 11"/>
            <p:cNvSpPr/>
            <p:nvPr/>
          </p:nvSpPr>
          <p:spPr>
            <a:xfrm>
              <a:off x="987480" y="1675080"/>
              <a:ext cx="9445320" cy="952560"/>
            </a:xfrm>
            <a:custGeom>
              <a:avLst/>
              <a:gdLst>
                <a:gd name="textAreaLeft" fmla="*/ 0 w 9445320"/>
                <a:gd name="textAreaRight" fmla="*/ 9445680 w 9445320"/>
                <a:gd name="textAreaTop" fmla="*/ 0 h 952560"/>
                <a:gd name="textAreaBottom" fmla="*/ 952920 h 952560"/>
              </a:gdLst>
              <a:ahLst/>
              <a:cxnLst/>
              <a:rect l="textAreaLeft" t="textAreaTop" r="textAreaRight" b="textAreaBottom"/>
              <a:pathLst>
                <a:path w="12594035" h="1270397">
                  <a:moveTo>
                    <a:pt x="0" y="0"/>
                  </a:moveTo>
                  <a:lnTo>
                    <a:pt x="12594035" y="0"/>
                  </a:lnTo>
                  <a:lnTo>
                    <a:pt x="12594035" y="1270397"/>
                  </a:lnTo>
                  <a:lnTo>
                    <a:pt x="0" y="127039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TextBox 12"/>
            <p:cNvSpPr/>
            <p:nvPr/>
          </p:nvSpPr>
          <p:spPr>
            <a:xfrm>
              <a:off x="987480" y="1625040"/>
              <a:ext cx="9445320" cy="100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500"/>
                </a:lnSpc>
              </a:pPr>
              <a:r>
                <a:rPr lang="en-US" sz="156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Overview: This module allows recruiters to easily manage and evaluate multiple resumes, generate scores, and filter candidates based on specific criteria, making the recruitment process more efficient.</a:t>
              </a:r>
              <a:endParaRPr lang="en-IN" sz="156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0" name="Group 13"/>
          <p:cNvGrpSpPr/>
          <p:nvPr/>
        </p:nvGrpSpPr>
        <p:grpSpPr>
          <a:xfrm>
            <a:off x="987480" y="3114720"/>
            <a:ext cx="1189800" cy="1152720"/>
            <a:chOff x="987480" y="3114720"/>
            <a:chExt cx="1189800" cy="1152720"/>
          </a:xfrm>
        </p:grpSpPr>
        <p:sp>
          <p:nvSpPr>
            <p:cNvPr id="301" name="Freeform 14"/>
            <p:cNvSpPr/>
            <p:nvPr/>
          </p:nvSpPr>
          <p:spPr>
            <a:xfrm>
              <a:off x="992160" y="3119760"/>
              <a:ext cx="1180440" cy="1143000"/>
            </a:xfrm>
            <a:custGeom>
              <a:avLst/>
              <a:gdLst>
                <a:gd name="textAreaLeft" fmla="*/ 0 w 1180440"/>
                <a:gd name="textAreaRight" fmla="*/ 1180800 w 1180440"/>
                <a:gd name="textAreaTop" fmla="*/ 0 h 1143000"/>
                <a:gd name="textAreaBottom" fmla="*/ 1143360 h 1143000"/>
              </a:gdLst>
              <a:ahLst/>
              <a:cxnLst/>
              <a:rect l="textAreaLeft" t="textAreaTop" r="textAreaRight" b="textAreaBottom"/>
              <a:pathLst>
                <a:path w="1574165" h="1524635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1463040" y="0"/>
                  </a:lnTo>
                  <a:cubicBezTo>
                    <a:pt x="1524381" y="0"/>
                    <a:pt x="1574165" y="49784"/>
                    <a:pt x="1574165" y="111125"/>
                  </a:cubicBezTo>
                  <a:lnTo>
                    <a:pt x="1574165" y="1413510"/>
                  </a:lnTo>
                  <a:cubicBezTo>
                    <a:pt x="1574165" y="1474851"/>
                    <a:pt x="1524381" y="1524635"/>
                    <a:pt x="1463040" y="1524635"/>
                  </a:cubicBezTo>
                  <a:lnTo>
                    <a:pt x="111125" y="1524635"/>
                  </a:lnTo>
                  <a:cubicBezTo>
                    <a:pt x="49784" y="1524635"/>
                    <a:pt x="0" y="1474851"/>
                    <a:pt x="0" y="1413510"/>
                  </a:cubicBezTo>
                  <a:close/>
                </a:path>
              </a:pathLst>
            </a:custGeom>
            <a:solidFill>
              <a:srgbClr val="d2d9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Freeform 15"/>
            <p:cNvSpPr/>
            <p:nvPr/>
          </p:nvSpPr>
          <p:spPr>
            <a:xfrm>
              <a:off x="987480" y="3114720"/>
              <a:ext cx="1189800" cy="1152720"/>
            </a:xfrm>
            <a:custGeom>
              <a:avLst/>
              <a:gdLst>
                <a:gd name="textAreaLeft" fmla="*/ 0 w 1189800"/>
                <a:gd name="textAreaRight" fmla="*/ 1190160 w 1189800"/>
                <a:gd name="textAreaTop" fmla="*/ 0 h 1152720"/>
                <a:gd name="textAreaBottom" fmla="*/ 1153080 h 1152720"/>
              </a:gdLst>
              <a:ahLst/>
              <a:cxnLst/>
              <a:rect l="textAreaLeft" t="textAreaTop" r="textAreaRight" b="textAreaBottom"/>
              <a:pathLst>
                <a:path w="1586865" h="1537335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1469390" y="0"/>
                  </a:lnTo>
                  <a:lnTo>
                    <a:pt x="1469390" y="6350"/>
                  </a:lnTo>
                  <a:lnTo>
                    <a:pt x="1469390" y="0"/>
                  </a:lnTo>
                  <a:cubicBezTo>
                    <a:pt x="1534287" y="0"/>
                    <a:pt x="1586865" y="52578"/>
                    <a:pt x="1586865" y="117475"/>
                  </a:cubicBezTo>
                  <a:lnTo>
                    <a:pt x="1580515" y="117475"/>
                  </a:lnTo>
                  <a:lnTo>
                    <a:pt x="1586865" y="117475"/>
                  </a:lnTo>
                  <a:lnTo>
                    <a:pt x="1586865" y="1419860"/>
                  </a:lnTo>
                  <a:lnTo>
                    <a:pt x="1580515" y="1419860"/>
                  </a:lnTo>
                  <a:lnTo>
                    <a:pt x="1586865" y="1419860"/>
                  </a:lnTo>
                  <a:cubicBezTo>
                    <a:pt x="1586865" y="1484757"/>
                    <a:pt x="1534287" y="1537335"/>
                    <a:pt x="1469390" y="1537335"/>
                  </a:cubicBezTo>
                  <a:lnTo>
                    <a:pt x="1469390" y="1530985"/>
                  </a:lnTo>
                  <a:lnTo>
                    <a:pt x="1469390" y="1537335"/>
                  </a:lnTo>
                  <a:lnTo>
                    <a:pt x="117475" y="1537335"/>
                  </a:lnTo>
                  <a:lnTo>
                    <a:pt x="117475" y="1530985"/>
                  </a:lnTo>
                  <a:lnTo>
                    <a:pt x="117475" y="1537335"/>
                  </a:lnTo>
                  <a:cubicBezTo>
                    <a:pt x="52578" y="1537335"/>
                    <a:pt x="0" y="1484630"/>
                    <a:pt x="0" y="1419860"/>
                  </a:cubicBezTo>
                  <a:lnTo>
                    <a:pt x="0" y="117475"/>
                  </a:lnTo>
                  <a:lnTo>
                    <a:pt x="6350" y="117475"/>
                  </a:lnTo>
                  <a:lnTo>
                    <a:pt x="0" y="117475"/>
                  </a:lnTo>
                  <a:moveTo>
                    <a:pt x="12700" y="117475"/>
                  </a:moveTo>
                  <a:lnTo>
                    <a:pt x="12700" y="1419860"/>
                  </a:lnTo>
                  <a:lnTo>
                    <a:pt x="6350" y="1419860"/>
                  </a:lnTo>
                  <a:lnTo>
                    <a:pt x="12700" y="1419860"/>
                  </a:lnTo>
                  <a:cubicBezTo>
                    <a:pt x="12700" y="1477772"/>
                    <a:pt x="59690" y="1524635"/>
                    <a:pt x="117475" y="1524635"/>
                  </a:cubicBezTo>
                  <a:lnTo>
                    <a:pt x="1469390" y="1524635"/>
                  </a:lnTo>
                  <a:cubicBezTo>
                    <a:pt x="1527302" y="1524635"/>
                    <a:pt x="1574165" y="1477772"/>
                    <a:pt x="1574165" y="1419860"/>
                  </a:cubicBezTo>
                  <a:lnTo>
                    <a:pt x="1574165" y="117475"/>
                  </a:lnTo>
                  <a:cubicBezTo>
                    <a:pt x="1574165" y="59563"/>
                    <a:pt x="1527175" y="12700"/>
                    <a:pt x="1469390" y="12700"/>
                  </a:cubicBezTo>
                  <a:lnTo>
                    <a:pt x="117475" y="12700"/>
                  </a:lnTo>
                  <a:lnTo>
                    <a:pt x="117475" y="6350"/>
                  </a:lnTo>
                  <a:lnTo>
                    <a:pt x="117475" y="12700"/>
                  </a:lnTo>
                  <a:cubicBezTo>
                    <a:pt x="59690" y="12700"/>
                    <a:pt x="12700" y="59563"/>
                    <a:pt x="12700" y="117475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3" name="Group 16"/>
          <p:cNvGrpSpPr/>
          <p:nvPr/>
        </p:nvGrpSpPr>
        <p:grpSpPr>
          <a:xfrm>
            <a:off x="1442880" y="3452400"/>
            <a:ext cx="278640" cy="412920"/>
            <a:chOff x="1442880" y="3452400"/>
            <a:chExt cx="278640" cy="412920"/>
          </a:xfrm>
        </p:grpSpPr>
        <p:sp>
          <p:nvSpPr>
            <p:cNvPr id="304" name="Freeform 17"/>
            <p:cNvSpPr/>
            <p:nvPr/>
          </p:nvSpPr>
          <p:spPr>
            <a:xfrm>
              <a:off x="1442880" y="3516840"/>
              <a:ext cx="278640" cy="34848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348480"/>
                <a:gd name="textAreaBottom" fmla="*/ 348840 h 348480"/>
              </a:gdLst>
              <a:ahLst/>
              <a:cxnLst/>
              <a:rect l="textAreaLeft" t="textAreaTop" r="textAreaRight" b="textAreaBottom"/>
              <a:pathLst>
                <a:path w="372070" h="465138">
                  <a:moveTo>
                    <a:pt x="0" y="0"/>
                  </a:moveTo>
                  <a:lnTo>
                    <a:pt x="372070" y="0"/>
                  </a:lnTo>
                  <a:lnTo>
                    <a:pt x="372070" y="465138"/>
                  </a:lnTo>
                  <a:lnTo>
                    <a:pt x="0" y="46513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TextBox 18"/>
            <p:cNvSpPr/>
            <p:nvPr/>
          </p:nvSpPr>
          <p:spPr>
            <a:xfrm>
              <a:off x="1442880" y="3452400"/>
              <a:ext cx="278640" cy="41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501"/>
                </a:lnSpc>
              </a:pPr>
              <a:r>
                <a:rPr lang="en-US" sz="2190" b="0" u="none" strike="noStrike">
                  <a:solidFill>
                    <a:srgbClr val="404155"/>
                  </a:solidFill>
                  <a:effectLst/>
                  <a:uFillTx/>
                  <a:latin typeface="Corben"/>
                  <a:ea typeface="Corben"/>
                </a:rPr>
                <a:t>1</a:t>
              </a:r>
              <a:endParaRPr lang="en-IN" sz="219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6" name="Group 19"/>
          <p:cNvGrpSpPr/>
          <p:nvPr/>
        </p:nvGrpSpPr>
        <p:grpSpPr>
          <a:xfrm>
            <a:off x="2371320" y="2994480"/>
            <a:ext cx="3029760" cy="561600"/>
            <a:chOff x="2371320" y="2994480"/>
            <a:chExt cx="3029760" cy="561600"/>
          </a:xfrm>
        </p:grpSpPr>
        <p:sp>
          <p:nvSpPr>
            <p:cNvPr id="307" name="Freeform 20"/>
            <p:cNvSpPr/>
            <p:nvPr/>
          </p:nvSpPr>
          <p:spPr>
            <a:xfrm>
              <a:off x="2371320" y="3008880"/>
              <a:ext cx="3029760" cy="547200"/>
            </a:xfrm>
            <a:custGeom>
              <a:avLst/>
              <a:gdLst>
                <a:gd name="textAreaLeft" fmla="*/ 0 w 3029760"/>
                <a:gd name="textAreaRight" fmla="*/ 3030120 w 302976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4040062" h="730252">
                  <a:moveTo>
                    <a:pt x="0" y="0"/>
                  </a:moveTo>
                  <a:lnTo>
                    <a:pt x="4040062" y="0"/>
                  </a:lnTo>
                  <a:lnTo>
                    <a:pt x="4040062" y="730252"/>
                  </a:lnTo>
                  <a:lnTo>
                    <a:pt x="0" y="73025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TextBox 21"/>
            <p:cNvSpPr/>
            <p:nvPr/>
          </p:nvSpPr>
          <p:spPr>
            <a:xfrm>
              <a:off x="2371320" y="2994480"/>
              <a:ext cx="30297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563"/>
                </a:lnSpc>
              </a:pPr>
              <a:r>
                <a:rPr lang="en-US" sz="204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Bulk Resume Upload</a:t>
              </a:r>
              <a:endParaRPr lang="en-IN" sz="204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9" name="Group 22"/>
          <p:cNvGrpSpPr/>
          <p:nvPr/>
        </p:nvGrpSpPr>
        <p:grpSpPr>
          <a:xfrm>
            <a:off x="2371320" y="3484800"/>
            <a:ext cx="5008680" cy="680400"/>
            <a:chOff x="2371320" y="3484800"/>
            <a:chExt cx="5008680" cy="680400"/>
          </a:xfrm>
        </p:grpSpPr>
        <p:sp>
          <p:nvSpPr>
            <p:cNvPr id="310" name="Freeform 23"/>
            <p:cNvSpPr/>
            <p:nvPr/>
          </p:nvSpPr>
          <p:spPr>
            <a:xfrm>
              <a:off x="2371320" y="3534840"/>
              <a:ext cx="5008680" cy="630360"/>
            </a:xfrm>
            <a:custGeom>
              <a:avLst/>
              <a:gdLst>
                <a:gd name="textAreaLeft" fmla="*/ 0 w 5008680"/>
                <a:gd name="textAreaRight" fmla="*/ 5009040 w 5008680"/>
                <a:gd name="textAreaTop" fmla="*/ 0 h 630360"/>
                <a:gd name="textAreaBottom" fmla="*/ 630720 h 630360"/>
              </a:gdLst>
              <a:ahLst/>
              <a:cxnLst/>
              <a:rect l="textAreaLeft" t="textAreaTop" r="textAreaRight" b="textAreaBottom"/>
              <a:pathLst>
                <a:path w="6678812" h="840758">
                  <a:moveTo>
                    <a:pt x="0" y="0"/>
                  </a:moveTo>
                  <a:lnTo>
                    <a:pt x="6678812" y="0"/>
                  </a:lnTo>
                  <a:lnTo>
                    <a:pt x="6678812" y="840758"/>
                  </a:lnTo>
                  <a:lnTo>
                    <a:pt x="0" y="84075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TextBox 24"/>
            <p:cNvSpPr/>
            <p:nvPr/>
          </p:nvSpPr>
          <p:spPr>
            <a:xfrm>
              <a:off x="2371320" y="3484800"/>
              <a:ext cx="5008680" cy="68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500"/>
                </a:lnSpc>
              </a:pPr>
              <a:r>
                <a:rPr lang="en-US" sz="156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Allows recruiters to upload multiple resumes at once.</a:t>
              </a:r>
              <a:endParaRPr lang="en-IN" sz="156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2" name="Group 25"/>
          <p:cNvGrpSpPr/>
          <p:nvPr/>
        </p:nvGrpSpPr>
        <p:grpSpPr>
          <a:xfrm>
            <a:off x="2271960" y="4251240"/>
            <a:ext cx="8066160" cy="14040"/>
            <a:chOff x="2271960" y="4251240"/>
            <a:chExt cx="8066160" cy="14040"/>
          </a:xfrm>
        </p:grpSpPr>
        <p:sp>
          <p:nvSpPr>
            <p:cNvPr id="313" name="Freeform 26"/>
            <p:cNvSpPr/>
            <p:nvPr/>
          </p:nvSpPr>
          <p:spPr>
            <a:xfrm>
              <a:off x="2271960" y="4251240"/>
              <a:ext cx="8066160" cy="14040"/>
            </a:xfrm>
            <a:custGeom>
              <a:avLst/>
              <a:gdLst>
                <a:gd name="textAreaLeft" fmla="*/ 0 w 8066160"/>
                <a:gd name="textAreaRight" fmla="*/ 8066520 w 8066160"/>
                <a:gd name="textAreaTop" fmla="*/ 0 h 14040"/>
                <a:gd name="textAreaBottom" fmla="*/ 14400 h 14040"/>
              </a:gdLst>
              <a:ahLst/>
              <a:cxnLst/>
              <a:rect l="textAreaLeft" t="textAreaTop" r="textAreaRight" b="textAreaBottom"/>
              <a:pathLst>
                <a:path w="10755503" h="19050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0745978" y="0"/>
                  </a:lnTo>
                  <a:cubicBezTo>
                    <a:pt x="10751185" y="0"/>
                    <a:pt x="10755503" y="4318"/>
                    <a:pt x="10755503" y="9525"/>
                  </a:cubicBezTo>
                  <a:cubicBezTo>
                    <a:pt x="10755503" y="14732"/>
                    <a:pt x="10751185" y="19050"/>
                    <a:pt x="10745978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4" name="Group 27"/>
          <p:cNvGrpSpPr/>
          <p:nvPr/>
        </p:nvGrpSpPr>
        <p:grpSpPr>
          <a:xfrm>
            <a:off x="987480" y="4357440"/>
            <a:ext cx="2370240" cy="1470240"/>
            <a:chOff x="987480" y="4357440"/>
            <a:chExt cx="2370240" cy="1470240"/>
          </a:xfrm>
        </p:grpSpPr>
        <p:sp>
          <p:nvSpPr>
            <p:cNvPr id="315" name="Freeform 28"/>
            <p:cNvSpPr/>
            <p:nvPr/>
          </p:nvSpPr>
          <p:spPr>
            <a:xfrm>
              <a:off x="992160" y="4362120"/>
              <a:ext cx="2360880" cy="1460520"/>
            </a:xfrm>
            <a:custGeom>
              <a:avLst/>
              <a:gdLst>
                <a:gd name="textAreaLeft" fmla="*/ 0 w 2360880"/>
                <a:gd name="textAreaRight" fmla="*/ 2361240 w 2360880"/>
                <a:gd name="textAreaTop" fmla="*/ 0 h 1460520"/>
                <a:gd name="textAreaBottom" fmla="*/ 1460880 h 1460520"/>
              </a:gdLst>
              <a:ahLst/>
              <a:cxnLst/>
              <a:rect l="textAreaLeft" t="textAreaTop" r="textAreaRight" b="textAreaBottom"/>
              <a:pathLst>
                <a:path w="3148330" h="1948053">
                  <a:moveTo>
                    <a:pt x="0" y="111125"/>
                  </a:moveTo>
                  <a:cubicBezTo>
                    <a:pt x="0" y="49784"/>
                    <a:pt x="49911" y="0"/>
                    <a:pt x="111379" y="0"/>
                  </a:cubicBezTo>
                  <a:lnTo>
                    <a:pt x="3036951" y="0"/>
                  </a:lnTo>
                  <a:cubicBezTo>
                    <a:pt x="3098419" y="0"/>
                    <a:pt x="3148330" y="49784"/>
                    <a:pt x="3148330" y="111125"/>
                  </a:cubicBezTo>
                  <a:lnTo>
                    <a:pt x="3148330" y="1836928"/>
                  </a:lnTo>
                  <a:cubicBezTo>
                    <a:pt x="3148330" y="1898269"/>
                    <a:pt x="3098419" y="1948053"/>
                    <a:pt x="3036951" y="1948053"/>
                  </a:cubicBezTo>
                  <a:lnTo>
                    <a:pt x="111379" y="1948053"/>
                  </a:lnTo>
                  <a:cubicBezTo>
                    <a:pt x="49911" y="1948053"/>
                    <a:pt x="0" y="1898269"/>
                    <a:pt x="0" y="1836928"/>
                  </a:cubicBezTo>
                  <a:close/>
                </a:path>
              </a:pathLst>
            </a:custGeom>
            <a:solidFill>
              <a:srgbClr val="d2d9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Freeform 29"/>
            <p:cNvSpPr/>
            <p:nvPr/>
          </p:nvSpPr>
          <p:spPr>
            <a:xfrm>
              <a:off x="987480" y="4357440"/>
              <a:ext cx="2370240" cy="1470240"/>
            </a:xfrm>
            <a:custGeom>
              <a:avLst/>
              <a:gdLst>
                <a:gd name="textAreaLeft" fmla="*/ 0 w 2370240"/>
                <a:gd name="textAreaRight" fmla="*/ 2370600 w 2370240"/>
                <a:gd name="textAreaTop" fmla="*/ 0 h 1470240"/>
                <a:gd name="textAreaBottom" fmla="*/ 1470600 h 1470240"/>
              </a:gdLst>
              <a:ahLst/>
              <a:cxnLst/>
              <a:rect l="textAreaLeft" t="textAreaTop" r="textAreaRight" b="textAreaBottom"/>
              <a:pathLst>
                <a:path w="3161030" h="1960753">
                  <a:moveTo>
                    <a:pt x="0" y="117475"/>
                  </a:moveTo>
                  <a:cubicBezTo>
                    <a:pt x="0" y="52578"/>
                    <a:pt x="52705" y="0"/>
                    <a:pt x="117729" y="0"/>
                  </a:cubicBezTo>
                  <a:lnTo>
                    <a:pt x="3043301" y="0"/>
                  </a:lnTo>
                  <a:lnTo>
                    <a:pt x="3043301" y="6350"/>
                  </a:lnTo>
                  <a:lnTo>
                    <a:pt x="3043301" y="0"/>
                  </a:lnTo>
                  <a:cubicBezTo>
                    <a:pt x="3108325" y="0"/>
                    <a:pt x="3161030" y="52578"/>
                    <a:pt x="3161030" y="117475"/>
                  </a:cubicBezTo>
                  <a:lnTo>
                    <a:pt x="3154680" y="117475"/>
                  </a:lnTo>
                  <a:lnTo>
                    <a:pt x="3161030" y="117475"/>
                  </a:lnTo>
                  <a:lnTo>
                    <a:pt x="3161030" y="1843278"/>
                  </a:lnTo>
                  <a:lnTo>
                    <a:pt x="3154680" y="1843278"/>
                  </a:lnTo>
                  <a:lnTo>
                    <a:pt x="3161030" y="1843278"/>
                  </a:lnTo>
                  <a:cubicBezTo>
                    <a:pt x="3161030" y="1908175"/>
                    <a:pt x="3108325" y="1960753"/>
                    <a:pt x="3043301" y="1960753"/>
                  </a:cubicBezTo>
                  <a:lnTo>
                    <a:pt x="3043301" y="1954403"/>
                  </a:lnTo>
                  <a:lnTo>
                    <a:pt x="3043301" y="1960753"/>
                  </a:lnTo>
                  <a:lnTo>
                    <a:pt x="117729" y="1960753"/>
                  </a:lnTo>
                  <a:lnTo>
                    <a:pt x="117729" y="1954403"/>
                  </a:lnTo>
                  <a:lnTo>
                    <a:pt x="117729" y="1960753"/>
                  </a:lnTo>
                  <a:cubicBezTo>
                    <a:pt x="52705" y="1960753"/>
                    <a:pt x="0" y="1908175"/>
                    <a:pt x="0" y="1843278"/>
                  </a:cubicBezTo>
                  <a:lnTo>
                    <a:pt x="0" y="117475"/>
                  </a:lnTo>
                  <a:lnTo>
                    <a:pt x="6350" y="117475"/>
                  </a:lnTo>
                  <a:lnTo>
                    <a:pt x="0" y="117475"/>
                  </a:lnTo>
                  <a:moveTo>
                    <a:pt x="12700" y="117475"/>
                  </a:moveTo>
                  <a:lnTo>
                    <a:pt x="12700" y="1843278"/>
                  </a:lnTo>
                  <a:lnTo>
                    <a:pt x="6350" y="1843278"/>
                  </a:lnTo>
                  <a:lnTo>
                    <a:pt x="12700" y="1843278"/>
                  </a:lnTo>
                  <a:cubicBezTo>
                    <a:pt x="12700" y="1901190"/>
                    <a:pt x="59690" y="1948053"/>
                    <a:pt x="117729" y="1948053"/>
                  </a:cubicBezTo>
                  <a:lnTo>
                    <a:pt x="3043301" y="1948053"/>
                  </a:lnTo>
                  <a:cubicBezTo>
                    <a:pt x="3101340" y="1948053"/>
                    <a:pt x="3148330" y="1901063"/>
                    <a:pt x="3148330" y="1843278"/>
                  </a:cubicBezTo>
                  <a:lnTo>
                    <a:pt x="3148330" y="117475"/>
                  </a:lnTo>
                  <a:cubicBezTo>
                    <a:pt x="3148330" y="59563"/>
                    <a:pt x="3101340" y="12700"/>
                    <a:pt x="3043301" y="12700"/>
                  </a:cubicBezTo>
                  <a:lnTo>
                    <a:pt x="117729" y="12700"/>
                  </a:lnTo>
                  <a:lnTo>
                    <a:pt x="117729" y="6350"/>
                  </a:lnTo>
                  <a:lnTo>
                    <a:pt x="117729" y="12700"/>
                  </a:lnTo>
                  <a:cubicBezTo>
                    <a:pt x="59690" y="12700"/>
                    <a:pt x="12700" y="59690"/>
                    <a:pt x="12700" y="117475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7" name="Group 30"/>
          <p:cNvGrpSpPr/>
          <p:nvPr/>
        </p:nvGrpSpPr>
        <p:grpSpPr>
          <a:xfrm>
            <a:off x="2033280" y="4853880"/>
            <a:ext cx="278640" cy="412920"/>
            <a:chOff x="2033280" y="4853880"/>
            <a:chExt cx="278640" cy="412920"/>
          </a:xfrm>
        </p:grpSpPr>
        <p:sp>
          <p:nvSpPr>
            <p:cNvPr id="318" name="Freeform 31"/>
            <p:cNvSpPr/>
            <p:nvPr/>
          </p:nvSpPr>
          <p:spPr>
            <a:xfrm>
              <a:off x="2033280" y="4918320"/>
              <a:ext cx="278640" cy="34848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348480"/>
                <a:gd name="textAreaBottom" fmla="*/ 348840 h 348480"/>
              </a:gdLst>
              <a:ahLst/>
              <a:cxnLst/>
              <a:rect l="textAreaLeft" t="textAreaTop" r="textAreaRight" b="textAreaBottom"/>
              <a:pathLst>
                <a:path w="372070" h="465138">
                  <a:moveTo>
                    <a:pt x="0" y="0"/>
                  </a:moveTo>
                  <a:lnTo>
                    <a:pt x="372070" y="0"/>
                  </a:lnTo>
                  <a:lnTo>
                    <a:pt x="372070" y="465138"/>
                  </a:lnTo>
                  <a:lnTo>
                    <a:pt x="0" y="46513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TextBox 32"/>
            <p:cNvSpPr/>
            <p:nvPr/>
          </p:nvSpPr>
          <p:spPr>
            <a:xfrm>
              <a:off x="2033280" y="4853880"/>
              <a:ext cx="278640" cy="41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501"/>
                </a:lnSpc>
              </a:pPr>
              <a:r>
                <a:rPr lang="en-US" sz="2190" b="0" u="none" strike="noStrike">
                  <a:solidFill>
                    <a:srgbClr val="404155"/>
                  </a:solidFill>
                  <a:effectLst/>
                  <a:uFillTx/>
                  <a:latin typeface="Corben"/>
                  <a:ea typeface="Corben"/>
                </a:rPr>
                <a:t>2</a:t>
              </a:r>
              <a:endParaRPr lang="en-IN" sz="219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0" name="Group 33"/>
          <p:cNvGrpSpPr/>
          <p:nvPr/>
        </p:nvGrpSpPr>
        <p:grpSpPr>
          <a:xfrm>
            <a:off x="3493080" y="4343040"/>
            <a:ext cx="3660120" cy="540720"/>
            <a:chOff x="3493080" y="4343040"/>
            <a:chExt cx="3660120" cy="540720"/>
          </a:xfrm>
        </p:grpSpPr>
        <p:sp>
          <p:nvSpPr>
            <p:cNvPr id="321" name="Freeform 34"/>
            <p:cNvSpPr/>
            <p:nvPr/>
          </p:nvSpPr>
          <p:spPr>
            <a:xfrm>
              <a:off x="3493080" y="4357440"/>
              <a:ext cx="3660120" cy="526320"/>
            </a:xfrm>
            <a:custGeom>
              <a:avLst/>
              <a:gdLst>
                <a:gd name="textAreaLeft" fmla="*/ 0 w 3660120"/>
                <a:gd name="textAreaRight" fmla="*/ 3660480 w 3660120"/>
                <a:gd name="textAreaTop" fmla="*/ 0 h 526320"/>
                <a:gd name="textAreaBottom" fmla="*/ 526680 h 526320"/>
              </a:gdLst>
              <a:ahLst/>
              <a:cxnLst/>
              <a:rect l="textAreaLeft" t="textAreaTop" r="textAreaRight" b="textAreaBottom"/>
              <a:pathLst>
                <a:path w="4880868" h="702468">
                  <a:moveTo>
                    <a:pt x="0" y="0"/>
                  </a:moveTo>
                  <a:lnTo>
                    <a:pt x="4880868" y="0"/>
                  </a:lnTo>
                  <a:lnTo>
                    <a:pt x="4880868" y="702468"/>
                  </a:lnTo>
                  <a:lnTo>
                    <a:pt x="0" y="70246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TextBox 35"/>
            <p:cNvSpPr/>
            <p:nvPr/>
          </p:nvSpPr>
          <p:spPr>
            <a:xfrm>
              <a:off x="3493080" y="4343040"/>
              <a:ext cx="3660120" cy="54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563"/>
                </a:lnSpc>
              </a:pPr>
              <a:r>
                <a:rPr lang="en-US" sz="204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Data Extraction &amp; Display</a:t>
              </a:r>
              <a:endParaRPr lang="en-IN" sz="204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3" name="Group 36"/>
          <p:cNvGrpSpPr/>
          <p:nvPr/>
        </p:nvGrpSpPr>
        <p:grpSpPr>
          <a:xfrm>
            <a:off x="3551760" y="4939560"/>
            <a:ext cx="6687000" cy="684720"/>
            <a:chOff x="3551760" y="4939560"/>
            <a:chExt cx="6687000" cy="684720"/>
          </a:xfrm>
        </p:grpSpPr>
        <p:sp>
          <p:nvSpPr>
            <p:cNvPr id="324" name="Freeform 37"/>
            <p:cNvSpPr/>
            <p:nvPr/>
          </p:nvSpPr>
          <p:spPr>
            <a:xfrm>
              <a:off x="3551760" y="4989600"/>
              <a:ext cx="6687000" cy="634680"/>
            </a:xfrm>
            <a:custGeom>
              <a:avLst/>
              <a:gdLst>
                <a:gd name="textAreaLeft" fmla="*/ 0 w 6687000"/>
                <a:gd name="textAreaRight" fmla="*/ 6687360 w 6687000"/>
                <a:gd name="textAreaTop" fmla="*/ 0 h 634680"/>
                <a:gd name="textAreaBottom" fmla="*/ 635040 h 634680"/>
              </a:gdLst>
              <a:ahLst/>
              <a:cxnLst/>
              <a:rect l="textAreaLeft" t="textAreaTop" r="textAreaRight" b="textAreaBottom"/>
              <a:pathLst>
                <a:path w="8916590" h="846932">
                  <a:moveTo>
                    <a:pt x="0" y="0"/>
                  </a:moveTo>
                  <a:lnTo>
                    <a:pt x="8916590" y="0"/>
                  </a:lnTo>
                  <a:lnTo>
                    <a:pt x="8916590" y="846932"/>
                  </a:lnTo>
                  <a:lnTo>
                    <a:pt x="0" y="84693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TextBox 38"/>
            <p:cNvSpPr/>
            <p:nvPr/>
          </p:nvSpPr>
          <p:spPr>
            <a:xfrm>
              <a:off x="3551760" y="4939560"/>
              <a:ext cx="6687000" cy="68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500"/>
                </a:lnSpc>
              </a:pPr>
              <a:r>
                <a:rPr lang="en-US" sz="156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Extracts candidate information and presents it in an organized table format using NLP.</a:t>
              </a:r>
              <a:endParaRPr lang="en-IN" sz="156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6" name="Group 39"/>
          <p:cNvGrpSpPr/>
          <p:nvPr/>
        </p:nvGrpSpPr>
        <p:grpSpPr>
          <a:xfrm>
            <a:off x="3452760" y="5811120"/>
            <a:ext cx="6885720" cy="14040"/>
            <a:chOff x="3452760" y="5811120"/>
            <a:chExt cx="6885720" cy="14040"/>
          </a:xfrm>
        </p:grpSpPr>
        <p:sp>
          <p:nvSpPr>
            <p:cNvPr id="327" name="Freeform 40"/>
            <p:cNvSpPr/>
            <p:nvPr/>
          </p:nvSpPr>
          <p:spPr>
            <a:xfrm>
              <a:off x="3452760" y="5811120"/>
              <a:ext cx="6885720" cy="14040"/>
            </a:xfrm>
            <a:custGeom>
              <a:avLst/>
              <a:gdLst>
                <a:gd name="textAreaLeft" fmla="*/ 0 w 6885720"/>
                <a:gd name="textAreaRight" fmla="*/ 6886080 w 6885720"/>
                <a:gd name="textAreaTop" fmla="*/ 0 h 14040"/>
                <a:gd name="textAreaBottom" fmla="*/ 14400 h 14040"/>
              </a:gdLst>
              <a:ahLst/>
              <a:cxnLst/>
              <a:rect l="textAreaLeft" t="textAreaTop" r="textAreaRight" b="textAreaBottom"/>
              <a:pathLst>
                <a:path w="9181338" h="19050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9171813" y="0"/>
                  </a:lnTo>
                  <a:cubicBezTo>
                    <a:pt x="9177020" y="0"/>
                    <a:pt x="9181338" y="4318"/>
                    <a:pt x="9181338" y="9525"/>
                  </a:cubicBezTo>
                  <a:cubicBezTo>
                    <a:pt x="9181338" y="14732"/>
                    <a:pt x="9177020" y="19050"/>
                    <a:pt x="9171813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8" name="Group 41"/>
          <p:cNvGrpSpPr/>
          <p:nvPr/>
        </p:nvGrpSpPr>
        <p:grpSpPr>
          <a:xfrm>
            <a:off x="987480" y="5917680"/>
            <a:ext cx="3551040" cy="1470240"/>
            <a:chOff x="987480" y="5917680"/>
            <a:chExt cx="3551040" cy="1470240"/>
          </a:xfrm>
        </p:grpSpPr>
        <p:sp>
          <p:nvSpPr>
            <p:cNvPr id="329" name="Freeform 42"/>
            <p:cNvSpPr/>
            <p:nvPr/>
          </p:nvSpPr>
          <p:spPr>
            <a:xfrm>
              <a:off x="992160" y="5922360"/>
              <a:ext cx="3541680" cy="1460520"/>
            </a:xfrm>
            <a:custGeom>
              <a:avLst/>
              <a:gdLst>
                <a:gd name="textAreaLeft" fmla="*/ 0 w 3541680"/>
                <a:gd name="textAreaRight" fmla="*/ 3542040 w 3541680"/>
                <a:gd name="textAreaTop" fmla="*/ 0 h 1460520"/>
                <a:gd name="textAreaBottom" fmla="*/ 1460880 h 1460520"/>
              </a:gdLst>
              <a:ahLst/>
              <a:cxnLst/>
              <a:rect l="textAreaLeft" t="textAreaTop" r="textAreaRight" b="textAreaBottom"/>
              <a:pathLst>
                <a:path w="4722495" h="1948053">
                  <a:moveTo>
                    <a:pt x="0" y="111125"/>
                  </a:moveTo>
                  <a:cubicBezTo>
                    <a:pt x="0" y="49784"/>
                    <a:pt x="49911" y="0"/>
                    <a:pt x="111506" y="0"/>
                  </a:cubicBezTo>
                  <a:lnTo>
                    <a:pt x="4610989" y="0"/>
                  </a:lnTo>
                  <a:cubicBezTo>
                    <a:pt x="4672584" y="0"/>
                    <a:pt x="4722495" y="49784"/>
                    <a:pt x="4722495" y="111125"/>
                  </a:cubicBezTo>
                  <a:lnTo>
                    <a:pt x="4722495" y="1836928"/>
                  </a:lnTo>
                  <a:cubicBezTo>
                    <a:pt x="4722495" y="1898269"/>
                    <a:pt x="4672584" y="1948053"/>
                    <a:pt x="4610989" y="1948053"/>
                  </a:cubicBezTo>
                  <a:lnTo>
                    <a:pt x="111506" y="1948053"/>
                  </a:lnTo>
                  <a:cubicBezTo>
                    <a:pt x="49911" y="1948053"/>
                    <a:pt x="0" y="1898269"/>
                    <a:pt x="0" y="1836928"/>
                  </a:cubicBezTo>
                  <a:close/>
                </a:path>
              </a:pathLst>
            </a:custGeom>
            <a:solidFill>
              <a:srgbClr val="d2d9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Freeform 43"/>
            <p:cNvSpPr/>
            <p:nvPr/>
          </p:nvSpPr>
          <p:spPr>
            <a:xfrm>
              <a:off x="987480" y="5917680"/>
              <a:ext cx="3551040" cy="1470240"/>
            </a:xfrm>
            <a:custGeom>
              <a:avLst/>
              <a:gdLst>
                <a:gd name="textAreaLeft" fmla="*/ 0 w 3551040"/>
                <a:gd name="textAreaRight" fmla="*/ 3551400 w 3551040"/>
                <a:gd name="textAreaTop" fmla="*/ 0 h 1470240"/>
                <a:gd name="textAreaBottom" fmla="*/ 1470600 h 1470240"/>
              </a:gdLst>
              <a:ahLst/>
              <a:cxnLst/>
              <a:rect l="textAreaLeft" t="textAreaTop" r="textAreaRight" b="textAreaBottom"/>
              <a:pathLst>
                <a:path w="4735195" h="1960753">
                  <a:moveTo>
                    <a:pt x="0" y="117475"/>
                  </a:moveTo>
                  <a:cubicBezTo>
                    <a:pt x="0" y="52578"/>
                    <a:pt x="52832" y="0"/>
                    <a:pt x="117856" y="0"/>
                  </a:cubicBezTo>
                  <a:lnTo>
                    <a:pt x="4617339" y="0"/>
                  </a:lnTo>
                  <a:lnTo>
                    <a:pt x="4617339" y="6350"/>
                  </a:lnTo>
                  <a:lnTo>
                    <a:pt x="4617339" y="0"/>
                  </a:lnTo>
                  <a:cubicBezTo>
                    <a:pt x="4682490" y="0"/>
                    <a:pt x="4735195" y="52578"/>
                    <a:pt x="4735195" y="117475"/>
                  </a:cubicBezTo>
                  <a:lnTo>
                    <a:pt x="4728845" y="117475"/>
                  </a:lnTo>
                  <a:lnTo>
                    <a:pt x="4735195" y="117475"/>
                  </a:lnTo>
                  <a:lnTo>
                    <a:pt x="4735195" y="1843278"/>
                  </a:lnTo>
                  <a:lnTo>
                    <a:pt x="4728845" y="1843278"/>
                  </a:lnTo>
                  <a:lnTo>
                    <a:pt x="4735195" y="1843278"/>
                  </a:lnTo>
                  <a:cubicBezTo>
                    <a:pt x="4735195" y="1908175"/>
                    <a:pt x="4682363" y="1960753"/>
                    <a:pt x="4617339" y="1960753"/>
                  </a:cubicBezTo>
                  <a:lnTo>
                    <a:pt x="4617339" y="1954403"/>
                  </a:lnTo>
                  <a:lnTo>
                    <a:pt x="4617339" y="1960753"/>
                  </a:lnTo>
                  <a:lnTo>
                    <a:pt x="117856" y="1960753"/>
                  </a:lnTo>
                  <a:lnTo>
                    <a:pt x="117856" y="1954403"/>
                  </a:lnTo>
                  <a:lnTo>
                    <a:pt x="117856" y="1960753"/>
                  </a:lnTo>
                  <a:cubicBezTo>
                    <a:pt x="52705" y="1960753"/>
                    <a:pt x="0" y="1908175"/>
                    <a:pt x="0" y="1843278"/>
                  </a:cubicBezTo>
                  <a:lnTo>
                    <a:pt x="0" y="117475"/>
                  </a:lnTo>
                  <a:lnTo>
                    <a:pt x="6350" y="117475"/>
                  </a:lnTo>
                  <a:lnTo>
                    <a:pt x="0" y="117475"/>
                  </a:lnTo>
                  <a:moveTo>
                    <a:pt x="12700" y="117475"/>
                  </a:moveTo>
                  <a:lnTo>
                    <a:pt x="12700" y="1843278"/>
                  </a:lnTo>
                  <a:lnTo>
                    <a:pt x="6350" y="1843278"/>
                  </a:lnTo>
                  <a:lnTo>
                    <a:pt x="12700" y="1843278"/>
                  </a:lnTo>
                  <a:cubicBezTo>
                    <a:pt x="12700" y="1901190"/>
                    <a:pt x="59817" y="1948053"/>
                    <a:pt x="117856" y="1948053"/>
                  </a:cubicBezTo>
                  <a:lnTo>
                    <a:pt x="4617339" y="1948053"/>
                  </a:lnTo>
                  <a:cubicBezTo>
                    <a:pt x="4675505" y="1948053"/>
                    <a:pt x="4722495" y="1901063"/>
                    <a:pt x="4722495" y="1843278"/>
                  </a:cubicBezTo>
                  <a:lnTo>
                    <a:pt x="4722495" y="117475"/>
                  </a:lnTo>
                  <a:cubicBezTo>
                    <a:pt x="4722495" y="59563"/>
                    <a:pt x="4675378" y="12700"/>
                    <a:pt x="4617339" y="12700"/>
                  </a:cubicBezTo>
                  <a:lnTo>
                    <a:pt x="117856" y="12700"/>
                  </a:lnTo>
                  <a:lnTo>
                    <a:pt x="117856" y="6350"/>
                  </a:lnTo>
                  <a:lnTo>
                    <a:pt x="117856" y="12700"/>
                  </a:lnTo>
                  <a:cubicBezTo>
                    <a:pt x="59817" y="12700"/>
                    <a:pt x="12700" y="59690"/>
                    <a:pt x="12700" y="117475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1" name="Group 44"/>
          <p:cNvGrpSpPr/>
          <p:nvPr/>
        </p:nvGrpSpPr>
        <p:grpSpPr>
          <a:xfrm>
            <a:off x="2623680" y="6414120"/>
            <a:ext cx="278640" cy="412920"/>
            <a:chOff x="2623680" y="6414120"/>
            <a:chExt cx="278640" cy="412920"/>
          </a:xfrm>
        </p:grpSpPr>
        <p:sp>
          <p:nvSpPr>
            <p:cNvPr id="332" name="Freeform 45"/>
            <p:cNvSpPr/>
            <p:nvPr/>
          </p:nvSpPr>
          <p:spPr>
            <a:xfrm>
              <a:off x="2623680" y="6478200"/>
              <a:ext cx="278640" cy="34848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348480"/>
                <a:gd name="textAreaBottom" fmla="*/ 348840 h 348480"/>
              </a:gdLst>
              <a:ahLst/>
              <a:cxnLst/>
              <a:rect l="textAreaLeft" t="textAreaTop" r="textAreaRight" b="textAreaBottom"/>
              <a:pathLst>
                <a:path w="372070" h="465138">
                  <a:moveTo>
                    <a:pt x="0" y="0"/>
                  </a:moveTo>
                  <a:lnTo>
                    <a:pt x="372070" y="0"/>
                  </a:lnTo>
                  <a:lnTo>
                    <a:pt x="372070" y="465138"/>
                  </a:lnTo>
                  <a:lnTo>
                    <a:pt x="0" y="46513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TextBox 46"/>
            <p:cNvSpPr/>
            <p:nvPr/>
          </p:nvSpPr>
          <p:spPr>
            <a:xfrm>
              <a:off x="2623680" y="6414120"/>
              <a:ext cx="278640" cy="41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501"/>
                </a:lnSpc>
              </a:pPr>
              <a:r>
                <a:rPr lang="en-US" sz="2190" b="0" u="none" strike="noStrike">
                  <a:solidFill>
                    <a:srgbClr val="404155"/>
                  </a:solidFill>
                  <a:effectLst/>
                  <a:uFillTx/>
                  <a:latin typeface="Corben"/>
                  <a:ea typeface="Corben"/>
                </a:rPr>
                <a:t>3</a:t>
              </a:r>
              <a:endParaRPr lang="en-IN" sz="219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4" name="Group 47"/>
          <p:cNvGrpSpPr/>
          <p:nvPr/>
        </p:nvGrpSpPr>
        <p:grpSpPr>
          <a:xfrm>
            <a:off x="4672800" y="5903280"/>
            <a:ext cx="2480400" cy="720360"/>
            <a:chOff x="4672800" y="5903280"/>
            <a:chExt cx="2480400" cy="720360"/>
          </a:xfrm>
        </p:grpSpPr>
        <p:sp>
          <p:nvSpPr>
            <p:cNvPr id="335" name="Freeform 48"/>
            <p:cNvSpPr/>
            <p:nvPr/>
          </p:nvSpPr>
          <p:spPr>
            <a:xfrm>
              <a:off x="4672800" y="5917680"/>
              <a:ext cx="2480400" cy="705960"/>
            </a:xfrm>
            <a:custGeom>
              <a:avLst/>
              <a:gdLst>
                <a:gd name="textAreaLeft" fmla="*/ 0 w 2480400"/>
                <a:gd name="textAreaRight" fmla="*/ 2480760 w 2480400"/>
                <a:gd name="textAreaTop" fmla="*/ 0 h 705960"/>
                <a:gd name="textAreaBottom" fmla="*/ 706320 h 705960"/>
              </a:gdLst>
              <a:ahLst/>
              <a:cxnLst/>
              <a:rect l="textAreaLeft" t="textAreaTop" r="textAreaRight" b="textAreaBottom"/>
              <a:pathLst>
                <a:path w="3307755" h="941985">
                  <a:moveTo>
                    <a:pt x="0" y="0"/>
                  </a:moveTo>
                  <a:lnTo>
                    <a:pt x="3307755" y="0"/>
                  </a:lnTo>
                  <a:lnTo>
                    <a:pt x="3307755" y="941985"/>
                  </a:lnTo>
                  <a:lnTo>
                    <a:pt x="0" y="94198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TextBox 49"/>
            <p:cNvSpPr/>
            <p:nvPr/>
          </p:nvSpPr>
          <p:spPr>
            <a:xfrm>
              <a:off x="4672800" y="5903280"/>
              <a:ext cx="2480400" cy="72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563"/>
                </a:lnSpc>
              </a:pPr>
              <a:r>
                <a:rPr lang="en-US" sz="204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Resume Scoring</a:t>
              </a:r>
              <a:endParaRPr lang="en-IN" sz="204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7" name="Group 50"/>
          <p:cNvGrpSpPr/>
          <p:nvPr/>
        </p:nvGrpSpPr>
        <p:grpSpPr>
          <a:xfrm>
            <a:off x="4732560" y="6499800"/>
            <a:ext cx="5506560" cy="684720"/>
            <a:chOff x="4732560" y="6499800"/>
            <a:chExt cx="5506560" cy="684720"/>
          </a:xfrm>
        </p:grpSpPr>
        <p:sp>
          <p:nvSpPr>
            <p:cNvPr id="338" name="Freeform 51"/>
            <p:cNvSpPr/>
            <p:nvPr/>
          </p:nvSpPr>
          <p:spPr>
            <a:xfrm>
              <a:off x="4732560" y="6549840"/>
              <a:ext cx="5506560" cy="634680"/>
            </a:xfrm>
            <a:custGeom>
              <a:avLst/>
              <a:gdLst>
                <a:gd name="textAreaLeft" fmla="*/ 0 w 5506560"/>
                <a:gd name="textAreaRight" fmla="*/ 5506920 w 5506560"/>
                <a:gd name="textAreaTop" fmla="*/ 0 h 634680"/>
                <a:gd name="textAreaBottom" fmla="*/ 635040 h 634680"/>
              </a:gdLst>
              <a:ahLst/>
              <a:cxnLst/>
              <a:rect l="textAreaLeft" t="textAreaTop" r="textAreaRight" b="textAreaBottom"/>
              <a:pathLst>
                <a:path w="7342387" h="846932">
                  <a:moveTo>
                    <a:pt x="0" y="0"/>
                  </a:moveTo>
                  <a:lnTo>
                    <a:pt x="7342387" y="0"/>
                  </a:lnTo>
                  <a:lnTo>
                    <a:pt x="7342387" y="846932"/>
                  </a:lnTo>
                  <a:lnTo>
                    <a:pt x="0" y="84693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TextBox 52"/>
            <p:cNvSpPr/>
            <p:nvPr/>
          </p:nvSpPr>
          <p:spPr>
            <a:xfrm>
              <a:off x="4732560" y="6499800"/>
              <a:ext cx="5506560" cy="68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500"/>
                </a:lnSpc>
              </a:pPr>
              <a:r>
                <a:rPr lang="en-US" sz="156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Generates scores for each resume based on a rule-based algorithm.</a:t>
              </a:r>
              <a:endParaRPr lang="en-IN" sz="156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0" name="Group 53"/>
          <p:cNvGrpSpPr/>
          <p:nvPr/>
        </p:nvGrpSpPr>
        <p:grpSpPr>
          <a:xfrm>
            <a:off x="4633200" y="7371360"/>
            <a:ext cx="5704920" cy="14040"/>
            <a:chOff x="4633200" y="7371360"/>
            <a:chExt cx="5704920" cy="14040"/>
          </a:xfrm>
        </p:grpSpPr>
        <p:sp>
          <p:nvSpPr>
            <p:cNvPr id="341" name="Freeform 54"/>
            <p:cNvSpPr/>
            <p:nvPr/>
          </p:nvSpPr>
          <p:spPr>
            <a:xfrm>
              <a:off x="4633200" y="7371360"/>
              <a:ext cx="5704920" cy="14040"/>
            </a:xfrm>
            <a:custGeom>
              <a:avLst/>
              <a:gdLst>
                <a:gd name="textAreaLeft" fmla="*/ 0 w 5704920"/>
                <a:gd name="textAreaRight" fmla="*/ 5705280 w 5704920"/>
                <a:gd name="textAreaTop" fmla="*/ 0 h 14040"/>
                <a:gd name="textAreaBottom" fmla="*/ 14400 h 14040"/>
              </a:gdLst>
              <a:ahLst/>
              <a:cxnLst/>
              <a:rect l="textAreaLeft" t="textAreaTop" r="textAreaRight" b="textAreaBottom"/>
              <a:pathLst>
                <a:path w="7607046" h="19050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7597521" y="0"/>
                  </a:lnTo>
                  <a:cubicBezTo>
                    <a:pt x="7602727" y="0"/>
                    <a:pt x="7607046" y="4318"/>
                    <a:pt x="7607046" y="9525"/>
                  </a:cubicBezTo>
                  <a:cubicBezTo>
                    <a:pt x="7607046" y="14732"/>
                    <a:pt x="7602727" y="19050"/>
                    <a:pt x="7597521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2" name="Group 55"/>
          <p:cNvGrpSpPr/>
          <p:nvPr/>
        </p:nvGrpSpPr>
        <p:grpSpPr>
          <a:xfrm>
            <a:off x="987480" y="7477560"/>
            <a:ext cx="4731840" cy="1787760"/>
            <a:chOff x="987480" y="7477560"/>
            <a:chExt cx="4731840" cy="1787760"/>
          </a:xfrm>
        </p:grpSpPr>
        <p:sp>
          <p:nvSpPr>
            <p:cNvPr id="343" name="Freeform 56"/>
            <p:cNvSpPr/>
            <p:nvPr/>
          </p:nvSpPr>
          <p:spPr>
            <a:xfrm>
              <a:off x="992160" y="7482600"/>
              <a:ext cx="4722480" cy="1778400"/>
            </a:xfrm>
            <a:custGeom>
              <a:avLst/>
              <a:gdLst>
                <a:gd name="textAreaLeft" fmla="*/ 0 w 4722480"/>
                <a:gd name="textAreaRight" fmla="*/ 4722840 w 4722480"/>
                <a:gd name="textAreaTop" fmla="*/ 0 h 1778400"/>
                <a:gd name="textAreaBottom" fmla="*/ 1778760 h 1778400"/>
              </a:gdLst>
              <a:ahLst/>
              <a:cxnLst/>
              <a:rect l="textAreaLeft" t="textAreaTop" r="textAreaRight" b="textAreaBottom"/>
              <a:pathLst>
                <a:path w="6297041" h="2371471">
                  <a:moveTo>
                    <a:pt x="0" y="111125"/>
                  </a:moveTo>
                  <a:cubicBezTo>
                    <a:pt x="0" y="49784"/>
                    <a:pt x="49911" y="0"/>
                    <a:pt x="111506" y="0"/>
                  </a:cubicBezTo>
                  <a:lnTo>
                    <a:pt x="6185535" y="0"/>
                  </a:lnTo>
                  <a:cubicBezTo>
                    <a:pt x="6247130" y="0"/>
                    <a:pt x="6297041" y="49784"/>
                    <a:pt x="6297041" y="111125"/>
                  </a:cubicBezTo>
                  <a:lnTo>
                    <a:pt x="6297041" y="2260346"/>
                  </a:lnTo>
                  <a:cubicBezTo>
                    <a:pt x="6297041" y="2321687"/>
                    <a:pt x="6247130" y="2371471"/>
                    <a:pt x="6185535" y="2371471"/>
                  </a:cubicBezTo>
                  <a:lnTo>
                    <a:pt x="111506" y="2371471"/>
                  </a:lnTo>
                  <a:cubicBezTo>
                    <a:pt x="49911" y="2371471"/>
                    <a:pt x="0" y="2321687"/>
                    <a:pt x="0" y="2260346"/>
                  </a:cubicBezTo>
                  <a:close/>
                </a:path>
              </a:pathLst>
            </a:custGeom>
            <a:solidFill>
              <a:srgbClr val="d2d9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Freeform 57"/>
            <p:cNvSpPr/>
            <p:nvPr/>
          </p:nvSpPr>
          <p:spPr>
            <a:xfrm>
              <a:off x="987480" y="7477560"/>
              <a:ext cx="4731840" cy="1787760"/>
            </a:xfrm>
            <a:custGeom>
              <a:avLst/>
              <a:gdLst>
                <a:gd name="textAreaLeft" fmla="*/ 0 w 4731840"/>
                <a:gd name="textAreaRight" fmla="*/ 4732200 w 4731840"/>
                <a:gd name="textAreaTop" fmla="*/ 0 h 1787760"/>
                <a:gd name="textAreaBottom" fmla="*/ 1788120 h 1787760"/>
              </a:gdLst>
              <a:ahLst/>
              <a:cxnLst/>
              <a:rect l="textAreaLeft" t="textAreaTop" r="textAreaRight" b="textAreaBottom"/>
              <a:pathLst>
                <a:path w="6309741" h="2384171">
                  <a:moveTo>
                    <a:pt x="0" y="117475"/>
                  </a:moveTo>
                  <a:cubicBezTo>
                    <a:pt x="0" y="52578"/>
                    <a:pt x="52832" y="0"/>
                    <a:pt x="117856" y="0"/>
                  </a:cubicBezTo>
                  <a:lnTo>
                    <a:pt x="6191885" y="0"/>
                  </a:lnTo>
                  <a:lnTo>
                    <a:pt x="6191885" y="6350"/>
                  </a:lnTo>
                  <a:lnTo>
                    <a:pt x="6191885" y="0"/>
                  </a:lnTo>
                  <a:cubicBezTo>
                    <a:pt x="6256909" y="0"/>
                    <a:pt x="6309741" y="52578"/>
                    <a:pt x="6309741" y="117475"/>
                  </a:cubicBezTo>
                  <a:lnTo>
                    <a:pt x="6303391" y="117475"/>
                  </a:lnTo>
                  <a:lnTo>
                    <a:pt x="6309741" y="117475"/>
                  </a:lnTo>
                  <a:lnTo>
                    <a:pt x="6309741" y="2266696"/>
                  </a:lnTo>
                  <a:lnTo>
                    <a:pt x="6303391" y="2266696"/>
                  </a:lnTo>
                  <a:lnTo>
                    <a:pt x="6309741" y="2266696"/>
                  </a:lnTo>
                  <a:cubicBezTo>
                    <a:pt x="6309741" y="2331593"/>
                    <a:pt x="6256909" y="2384171"/>
                    <a:pt x="6191885" y="2384171"/>
                  </a:cubicBezTo>
                  <a:lnTo>
                    <a:pt x="6191885" y="2377821"/>
                  </a:lnTo>
                  <a:lnTo>
                    <a:pt x="6191885" y="2384171"/>
                  </a:lnTo>
                  <a:lnTo>
                    <a:pt x="117856" y="2384171"/>
                  </a:lnTo>
                  <a:lnTo>
                    <a:pt x="117856" y="2377821"/>
                  </a:lnTo>
                  <a:lnTo>
                    <a:pt x="117856" y="2384171"/>
                  </a:lnTo>
                  <a:cubicBezTo>
                    <a:pt x="52832" y="2384171"/>
                    <a:pt x="0" y="2331593"/>
                    <a:pt x="0" y="2266696"/>
                  </a:cubicBezTo>
                  <a:lnTo>
                    <a:pt x="0" y="117475"/>
                  </a:lnTo>
                  <a:lnTo>
                    <a:pt x="6350" y="117475"/>
                  </a:lnTo>
                  <a:lnTo>
                    <a:pt x="0" y="117475"/>
                  </a:lnTo>
                  <a:moveTo>
                    <a:pt x="12700" y="117475"/>
                  </a:moveTo>
                  <a:lnTo>
                    <a:pt x="12700" y="2266696"/>
                  </a:lnTo>
                  <a:lnTo>
                    <a:pt x="6350" y="2266696"/>
                  </a:lnTo>
                  <a:lnTo>
                    <a:pt x="12700" y="2266696"/>
                  </a:lnTo>
                  <a:cubicBezTo>
                    <a:pt x="12700" y="2324608"/>
                    <a:pt x="59817" y="2371471"/>
                    <a:pt x="117856" y="2371471"/>
                  </a:cubicBezTo>
                  <a:lnTo>
                    <a:pt x="6191885" y="2371471"/>
                  </a:lnTo>
                  <a:cubicBezTo>
                    <a:pt x="6250051" y="2371471"/>
                    <a:pt x="6297041" y="2324481"/>
                    <a:pt x="6297041" y="2266696"/>
                  </a:cubicBezTo>
                  <a:lnTo>
                    <a:pt x="6297041" y="117475"/>
                  </a:lnTo>
                  <a:cubicBezTo>
                    <a:pt x="6297041" y="59563"/>
                    <a:pt x="6249924" y="12700"/>
                    <a:pt x="6191885" y="12700"/>
                  </a:cubicBezTo>
                  <a:lnTo>
                    <a:pt x="117856" y="12700"/>
                  </a:lnTo>
                  <a:lnTo>
                    <a:pt x="117856" y="6350"/>
                  </a:lnTo>
                  <a:lnTo>
                    <a:pt x="117856" y="12700"/>
                  </a:lnTo>
                  <a:cubicBezTo>
                    <a:pt x="59817" y="12700"/>
                    <a:pt x="12700" y="59690"/>
                    <a:pt x="12700" y="117475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5" name="Group 58"/>
          <p:cNvGrpSpPr/>
          <p:nvPr/>
        </p:nvGrpSpPr>
        <p:grpSpPr>
          <a:xfrm>
            <a:off x="3214080" y="8133120"/>
            <a:ext cx="278640" cy="412920"/>
            <a:chOff x="3214080" y="8133120"/>
            <a:chExt cx="278640" cy="412920"/>
          </a:xfrm>
        </p:grpSpPr>
        <p:sp>
          <p:nvSpPr>
            <p:cNvPr id="346" name="Freeform 59"/>
            <p:cNvSpPr/>
            <p:nvPr/>
          </p:nvSpPr>
          <p:spPr>
            <a:xfrm>
              <a:off x="3214080" y="8197200"/>
              <a:ext cx="278640" cy="34848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348480"/>
                <a:gd name="textAreaBottom" fmla="*/ 348840 h 348480"/>
              </a:gdLst>
              <a:ahLst/>
              <a:cxnLst/>
              <a:rect l="textAreaLeft" t="textAreaTop" r="textAreaRight" b="textAreaBottom"/>
              <a:pathLst>
                <a:path w="372070" h="465138">
                  <a:moveTo>
                    <a:pt x="0" y="0"/>
                  </a:moveTo>
                  <a:lnTo>
                    <a:pt x="372070" y="0"/>
                  </a:lnTo>
                  <a:lnTo>
                    <a:pt x="372070" y="465138"/>
                  </a:lnTo>
                  <a:lnTo>
                    <a:pt x="0" y="46513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TextBox 60"/>
            <p:cNvSpPr/>
            <p:nvPr/>
          </p:nvSpPr>
          <p:spPr>
            <a:xfrm>
              <a:off x="3214080" y="8133120"/>
              <a:ext cx="278640" cy="41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ts val="3501"/>
                </a:lnSpc>
              </a:pPr>
              <a:r>
                <a:rPr lang="en-US" sz="2190" b="0" u="none" strike="noStrike">
                  <a:solidFill>
                    <a:srgbClr val="404155"/>
                  </a:solidFill>
                  <a:effectLst/>
                  <a:uFillTx/>
                  <a:latin typeface="Corben"/>
                  <a:ea typeface="Corben"/>
                </a:rPr>
                <a:t>4</a:t>
              </a:r>
              <a:endParaRPr lang="en-IN" sz="219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8" name="Group 61"/>
          <p:cNvGrpSpPr/>
          <p:nvPr/>
        </p:nvGrpSpPr>
        <p:grpSpPr>
          <a:xfrm>
            <a:off x="5913360" y="7463520"/>
            <a:ext cx="3457080" cy="428760"/>
            <a:chOff x="5913360" y="7463520"/>
            <a:chExt cx="3457080" cy="428760"/>
          </a:xfrm>
        </p:grpSpPr>
        <p:sp>
          <p:nvSpPr>
            <p:cNvPr id="349" name="Freeform 62"/>
            <p:cNvSpPr/>
            <p:nvPr/>
          </p:nvSpPr>
          <p:spPr>
            <a:xfrm>
              <a:off x="5913360" y="7477560"/>
              <a:ext cx="3457080" cy="414360"/>
            </a:xfrm>
            <a:custGeom>
              <a:avLst/>
              <a:gdLst>
                <a:gd name="textAreaLeft" fmla="*/ 0 w 3457080"/>
                <a:gd name="textAreaRight" fmla="*/ 3457440 w 3457080"/>
                <a:gd name="textAreaTop" fmla="*/ 0 h 414360"/>
                <a:gd name="textAreaBottom" fmla="*/ 414720 h 414360"/>
              </a:gdLst>
              <a:ahLst/>
              <a:cxnLst/>
              <a:rect l="textAreaLeft" t="textAreaTop" r="textAreaRight" b="textAreaBottom"/>
              <a:pathLst>
                <a:path w="4609706" h="553109">
                  <a:moveTo>
                    <a:pt x="0" y="0"/>
                  </a:moveTo>
                  <a:lnTo>
                    <a:pt x="4609706" y="0"/>
                  </a:lnTo>
                  <a:lnTo>
                    <a:pt x="4609706" y="553109"/>
                  </a:lnTo>
                  <a:lnTo>
                    <a:pt x="0" y="553109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TextBox 63"/>
            <p:cNvSpPr/>
            <p:nvPr/>
          </p:nvSpPr>
          <p:spPr>
            <a:xfrm>
              <a:off x="5913360" y="7463520"/>
              <a:ext cx="3457080" cy="42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563"/>
                </a:lnSpc>
              </a:pPr>
              <a:r>
                <a:rPr lang="en-US" sz="204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Filtering &amp; Downloading</a:t>
              </a:r>
              <a:endParaRPr lang="en-IN" sz="204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1" name="Group 64"/>
          <p:cNvGrpSpPr/>
          <p:nvPr/>
        </p:nvGrpSpPr>
        <p:grpSpPr>
          <a:xfrm>
            <a:off x="5913360" y="8060040"/>
            <a:ext cx="4325760" cy="1002600"/>
            <a:chOff x="5913360" y="8060040"/>
            <a:chExt cx="4325760" cy="1002600"/>
          </a:xfrm>
        </p:grpSpPr>
        <p:sp>
          <p:nvSpPr>
            <p:cNvPr id="352" name="Freeform 65"/>
            <p:cNvSpPr/>
            <p:nvPr/>
          </p:nvSpPr>
          <p:spPr>
            <a:xfrm>
              <a:off x="5913360" y="8110080"/>
              <a:ext cx="4325760" cy="952560"/>
            </a:xfrm>
            <a:custGeom>
              <a:avLst/>
              <a:gdLst>
                <a:gd name="textAreaLeft" fmla="*/ 0 w 4325760"/>
                <a:gd name="textAreaRight" fmla="*/ 4326120 w 4325760"/>
                <a:gd name="textAreaTop" fmla="*/ 0 h 952560"/>
                <a:gd name="textAreaBottom" fmla="*/ 952920 h 952560"/>
              </a:gdLst>
              <a:ahLst/>
              <a:cxnLst/>
              <a:rect l="textAreaLeft" t="textAreaTop" r="textAreaRight" b="textAreaBottom"/>
              <a:pathLst>
                <a:path w="5767983" h="1270397">
                  <a:moveTo>
                    <a:pt x="0" y="0"/>
                  </a:moveTo>
                  <a:lnTo>
                    <a:pt x="5767983" y="0"/>
                  </a:lnTo>
                  <a:lnTo>
                    <a:pt x="5767983" y="1270397"/>
                  </a:lnTo>
                  <a:lnTo>
                    <a:pt x="0" y="127039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TextBox 66"/>
            <p:cNvSpPr/>
            <p:nvPr/>
          </p:nvSpPr>
          <p:spPr>
            <a:xfrm>
              <a:off x="5913360" y="8060040"/>
              <a:ext cx="4325760" cy="100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500"/>
                </a:lnSpc>
              </a:pPr>
              <a:r>
                <a:rPr lang="en-US" sz="156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Filters resumes by criteria such as score, experience, and role, and allows downloading of the selected data in CSV format.</a:t>
              </a:r>
              <a:endParaRPr lang="en-IN" sz="156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Freeform 2" descr="preencoded.png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5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356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7" name="Group 5"/>
          <p:cNvGrpSpPr/>
          <p:nvPr/>
        </p:nvGrpSpPr>
        <p:grpSpPr>
          <a:xfrm>
            <a:off x="992160" y="617400"/>
            <a:ext cx="7088040" cy="1471680"/>
            <a:chOff x="992160" y="617400"/>
            <a:chExt cx="7088040" cy="1471680"/>
          </a:xfrm>
        </p:grpSpPr>
        <p:sp>
          <p:nvSpPr>
            <p:cNvPr id="358" name="Freeform 6"/>
            <p:cNvSpPr/>
            <p:nvPr/>
          </p:nvSpPr>
          <p:spPr>
            <a:xfrm>
              <a:off x="992160" y="631800"/>
              <a:ext cx="7088040" cy="1457280"/>
            </a:xfrm>
            <a:custGeom>
              <a:avLst/>
              <a:gdLst>
                <a:gd name="textAreaLeft" fmla="*/ 0 w 7088040"/>
                <a:gd name="textAreaRight" fmla="*/ 7088400 w 7088040"/>
                <a:gd name="textAreaTop" fmla="*/ 0 h 1457280"/>
                <a:gd name="textAreaBottom" fmla="*/ 1457640 h 1457280"/>
              </a:gdLst>
              <a:ahLst/>
              <a:cxnLst/>
              <a:rect l="textAreaLeft" t="textAreaTop" r="textAreaRight" b="textAreaBottom"/>
              <a:pathLst>
                <a:path w="9450984" h="1943528">
                  <a:moveTo>
                    <a:pt x="0" y="0"/>
                  </a:moveTo>
                  <a:lnTo>
                    <a:pt x="9450984" y="0"/>
                  </a:lnTo>
                  <a:lnTo>
                    <a:pt x="9450984" y="1943528"/>
                  </a:lnTo>
                  <a:lnTo>
                    <a:pt x="0" y="194352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TextBox 7"/>
            <p:cNvSpPr/>
            <p:nvPr/>
          </p:nvSpPr>
          <p:spPr>
            <a:xfrm>
              <a:off x="992160" y="617400"/>
              <a:ext cx="7088040" cy="147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5862"/>
                </a:lnSpc>
              </a:pPr>
              <a:r>
                <a:rPr lang="en-US" sz="4700" b="0" u="none" strike="noStrike">
                  <a:solidFill>
                    <a:srgbClr val="1b1b27"/>
                  </a:solidFill>
                  <a:effectLst/>
                  <a:uFillTx/>
                  <a:latin typeface="Corben"/>
                  <a:ea typeface="Corben"/>
                </a:rPr>
                <a:t>ADMIN MODULE</a:t>
              </a:r>
              <a:endParaRPr lang="en-IN" sz="4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0" name="Group 8"/>
          <p:cNvGrpSpPr/>
          <p:nvPr/>
        </p:nvGrpSpPr>
        <p:grpSpPr>
          <a:xfrm>
            <a:off x="992160" y="2325240"/>
            <a:ext cx="16303320" cy="985320"/>
            <a:chOff x="992160" y="2325240"/>
            <a:chExt cx="16303320" cy="985320"/>
          </a:xfrm>
        </p:grpSpPr>
        <p:sp>
          <p:nvSpPr>
            <p:cNvPr id="361" name="Freeform 9"/>
            <p:cNvSpPr/>
            <p:nvPr/>
          </p:nvSpPr>
          <p:spPr>
            <a:xfrm>
              <a:off x="992160" y="2403720"/>
              <a:ext cx="16303320" cy="906840"/>
            </a:xfrm>
            <a:custGeom>
              <a:avLst/>
              <a:gdLst>
                <a:gd name="textAreaLeft" fmla="*/ 0 w 16303320"/>
                <a:gd name="textAreaRight" fmla="*/ 16303680 w 16303320"/>
                <a:gd name="textAreaTop" fmla="*/ 0 h 906840"/>
                <a:gd name="textAreaBottom" fmla="*/ 907200 h 906840"/>
              </a:gdLst>
              <a:ahLst/>
              <a:cxnLst/>
              <a:rect l="textAreaLeft" t="textAreaTop" r="textAreaRight" b="textAreaBottom"/>
              <a:pathLst>
                <a:path w="21738034" h="1209675">
                  <a:moveTo>
                    <a:pt x="0" y="0"/>
                  </a:moveTo>
                  <a:lnTo>
                    <a:pt x="21738034" y="0"/>
                  </a:lnTo>
                  <a:lnTo>
                    <a:pt x="21738034" y="1209675"/>
                  </a:lnTo>
                  <a:lnTo>
                    <a:pt x="0" y="120967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TextBox 10"/>
            <p:cNvSpPr/>
            <p:nvPr/>
          </p:nvSpPr>
          <p:spPr>
            <a:xfrm>
              <a:off x="992160" y="2325240"/>
              <a:ext cx="16303320" cy="985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563"/>
                </a:lnSpc>
              </a:pPr>
              <a:r>
                <a:rPr lang="en-US" sz="219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Overview: This module allows admin to manage user data, oversee system operations, and analyze feedback to optimize platform performance.</a:t>
              </a:r>
              <a:endParaRPr lang="en-IN" sz="219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3" name="Group 11"/>
          <p:cNvGrpSpPr/>
          <p:nvPr/>
        </p:nvGrpSpPr>
        <p:grpSpPr>
          <a:xfrm>
            <a:off x="2321640" y="4274640"/>
            <a:ext cx="3543840" cy="794520"/>
            <a:chOff x="2321640" y="4274640"/>
            <a:chExt cx="3543840" cy="794520"/>
          </a:xfrm>
        </p:grpSpPr>
        <p:sp>
          <p:nvSpPr>
            <p:cNvPr id="364" name="Freeform 12"/>
            <p:cNvSpPr/>
            <p:nvPr/>
          </p:nvSpPr>
          <p:spPr>
            <a:xfrm>
              <a:off x="2321640" y="4303440"/>
              <a:ext cx="3543840" cy="765720"/>
            </a:xfrm>
            <a:custGeom>
              <a:avLst/>
              <a:gdLst>
                <a:gd name="textAreaLeft" fmla="*/ 0 w 3543840"/>
                <a:gd name="textAreaRight" fmla="*/ 3544200 w 3543840"/>
                <a:gd name="textAreaTop" fmla="*/ 0 h 765720"/>
                <a:gd name="textAreaBottom" fmla="*/ 766080 h 765720"/>
              </a:gdLst>
              <a:ahLst/>
              <a:cxnLst/>
              <a:rect l="textAreaLeft" t="textAreaTop" r="textAreaRight" b="textAreaBottom"/>
              <a:pathLst>
                <a:path w="4725392" h="1021358">
                  <a:moveTo>
                    <a:pt x="0" y="0"/>
                  </a:moveTo>
                  <a:lnTo>
                    <a:pt x="4725392" y="0"/>
                  </a:lnTo>
                  <a:lnTo>
                    <a:pt x="4725392" y="1021358"/>
                  </a:lnTo>
                  <a:lnTo>
                    <a:pt x="0" y="102135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TextBox 13"/>
            <p:cNvSpPr/>
            <p:nvPr/>
          </p:nvSpPr>
          <p:spPr>
            <a:xfrm>
              <a:off x="2321640" y="4274640"/>
              <a:ext cx="3543840" cy="79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r" defTabSz="914400">
                <a:lnSpc>
                  <a:spcPts val="3436"/>
                </a:lnSpc>
              </a:pPr>
              <a:r>
                <a:rPr lang="en-US" sz="275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Admin Login</a:t>
              </a:r>
              <a:endParaRPr lang="en-IN" sz="27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6" name="Group 14"/>
          <p:cNvGrpSpPr/>
          <p:nvPr/>
        </p:nvGrpSpPr>
        <p:grpSpPr>
          <a:xfrm>
            <a:off x="992160" y="4837680"/>
            <a:ext cx="4872960" cy="532080"/>
            <a:chOff x="992160" y="4837680"/>
            <a:chExt cx="4872960" cy="532080"/>
          </a:xfrm>
        </p:grpSpPr>
        <p:sp>
          <p:nvSpPr>
            <p:cNvPr id="367" name="Freeform 15"/>
            <p:cNvSpPr/>
            <p:nvPr/>
          </p:nvSpPr>
          <p:spPr>
            <a:xfrm>
              <a:off x="992160" y="4916520"/>
              <a:ext cx="4872960" cy="453240"/>
            </a:xfrm>
            <a:custGeom>
              <a:avLst/>
              <a:gdLst>
                <a:gd name="textAreaLeft" fmla="*/ 0 w 4872960"/>
                <a:gd name="textAreaRight" fmla="*/ 4873320 w 4872960"/>
                <a:gd name="textAreaTop" fmla="*/ 0 h 453240"/>
                <a:gd name="textAreaBottom" fmla="*/ 453600 h 453240"/>
              </a:gdLst>
              <a:ahLst/>
              <a:cxnLst/>
              <a:rect l="textAreaLeft" t="textAreaTop" r="textAreaRight" b="textAreaBottom"/>
              <a:pathLst>
                <a:path w="6497837" h="604838">
                  <a:moveTo>
                    <a:pt x="0" y="0"/>
                  </a:moveTo>
                  <a:lnTo>
                    <a:pt x="6497837" y="0"/>
                  </a:lnTo>
                  <a:lnTo>
                    <a:pt x="6497837" y="604838"/>
                  </a:lnTo>
                  <a:lnTo>
                    <a:pt x="0" y="60483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TextBox 16"/>
            <p:cNvSpPr/>
            <p:nvPr/>
          </p:nvSpPr>
          <p:spPr>
            <a:xfrm>
              <a:off x="992160" y="4837680"/>
              <a:ext cx="4872960" cy="53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r" defTabSz="914400">
                <a:lnSpc>
                  <a:spcPts val="3563"/>
                </a:lnSpc>
              </a:pPr>
              <a:r>
                <a:rPr lang="en-US" sz="219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Secure access for administrators.</a:t>
              </a:r>
              <a:endParaRPr lang="en-IN" sz="219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9" name="Freeform 17" descr="preencoded.png"/>
          <p:cNvSpPr/>
          <p:nvPr/>
        </p:nvSpPr>
        <p:spPr>
          <a:xfrm>
            <a:off x="6290640" y="3629880"/>
            <a:ext cx="5706000" cy="5706000"/>
          </a:xfrm>
          <a:custGeom>
            <a:avLst/>
            <a:gdLst>
              <a:gd name="textAreaLeft" fmla="*/ 0 w 5706000"/>
              <a:gd name="textAreaRight" fmla="*/ 5706360 w 5706000"/>
              <a:gd name="textAreaTop" fmla="*/ 0 h 5706000"/>
              <a:gd name="textAreaBottom" fmla="*/ 5706360 h 5706000"/>
            </a:gdLst>
            <a:ahLst/>
            <a:cxnLst/>
            <a:rect l="textAreaLeft" t="textAreaTop" r="textAreaRight" b="textAreaBottom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Freeform 18" descr="preencoded.png"/>
          <p:cNvSpPr/>
          <p:nvPr/>
        </p:nvSpPr>
        <p:spPr>
          <a:xfrm>
            <a:off x="7783560" y="4583880"/>
            <a:ext cx="423720" cy="529920"/>
          </a:xfrm>
          <a:custGeom>
            <a:avLst/>
            <a:gdLst>
              <a:gd name="textAreaLeft" fmla="*/ 0 w 423720"/>
              <a:gd name="textAreaRight" fmla="*/ 424080 w 423720"/>
              <a:gd name="textAreaTop" fmla="*/ 0 h 529920"/>
              <a:gd name="textAreaBottom" fmla="*/ 530280 h 529920"/>
            </a:gdLst>
            <a:ahLst/>
            <a:cxnLst/>
            <a:rect l="textAreaLeft" t="textAreaTop" r="textAreaRight" b="textAreaBottom"/>
            <a:pathLst>
              <a:path w="424160" h="530275">
                <a:moveTo>
                  <a:pt x="0" y="0"/>
                </a:moveTo>
                <a:lnTo>
                  <a:pt x="424160" y="0"/>
                </a:lnTo>
                <a:lnTo>
                  <a:pt x="424160" y="530275"/>
                </a:lnTo>
                <a:lnTo>
                  <a:pt x="0" y="5302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1" name="Group 19"/>
          <p:cNvGrpSpPr/>
          <p:nvPr/>
        </p:nvGrpSpPr>
        <p:grpSpPr>
          <a:xfrm>
            <a:off x="12422160" y="4047840"/>
            <a:ext cx="3543840" cy="582840"/>
            <a:chOff x="12422160" y="4047840"/>
            <a:chExt cx="3543840" cy="582840"/>
          </a:xfrm>
        </p:grpSpPr>
        <p:sp>
          <p:nvSpPr>
            <p:cNvPr id="372" name="Freeform 20"/>
            <p:cNvSpPr/>
            <p:nvPr/>
          </p:nvSpPr>
          <p:spPr>
            <a:xfrm>
              <a:off x="12422160" y="4076640"/>
              <a:ext cx="3543840" cy="554040"/>
            </a:xfrm>
            <a:custGeom>
              <a:avLst/>
              <a:gdLst>
                <a:gd name="textAreaLeft" fmla="*/ 0 w 3543840"/>
                <a:gd name="textAreaRight" fmla="*/ 3544200 w 3543840"/>
                <a:gd name="textAreaTop" fmla="*/ 0 h 554040"/>
                <a:gd name="textAreaBottom" fmla="*/ 554400 h 554040"/>
              </a:gdLst>
              <a:ahLst/>
              <a:cxnLst/>
              <a:rect l="textAreaLeft" t="textAreaTop" r="textAreaRight" b="textAreaBottom"/>
              <a:pathLst>
                <a:path w="4725392" h="738985">
                  <a:moveTo>
                    <a:pt x="0" y="0"/>
                  </a:moveTo>
                  <a:lnTo>
                    <a:pt x="4725392" y="0"/>
                  </a:lnTo>
                  <a:lnTo>
                    <a:pt x="4725392" y="738985"/>
                  </a:lnTo>
                  <a:lnTo>
                    <a:pt x="0" y="73898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3" name="TextBox 21"/>
            <p:cNvSpPr/>
            <p:nvPr/>
          </p:nvSpPr>
          <p:spPr>
            <a:xfrm>
              <a:off x="12422160" y="4047840"/>
              <a:ext cx="3543840" cy="58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436"/>
                </a:lnSpc>
              </a:pPr>
              <a:r>
                <a:rPr lang="en-US" sz="275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Data Management</a:t>
              </a:r>
              <a:endParaRPr lang="en-IN" sz="27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4" name="Group 22"/>
          <p:cNvGrpSpPr/>
          <p:nvPr/>
        </p:nvGrpSpPr>
        <p:grpSpPr>
          <a:xfrm>
            <a:off x="12422160" y="4610880"/>
            <a:ext cx="4873320" cy="985680"/>
            <a:chOff x="12422160" y="4610880"/>
            <a:chExt cx="4873320" cy="985680"/>
          </a:xfrm>
        </p:grpSpPr>
        <p:sp>
          <p:nvSpPr>
            <p:cNvPr id="375" name="Freeform 23"/>
            <p:cNvSpPr/>
            <p:nvPr/>
          </p:nvSpPr>
          <p:spPr>
            <a:xfrm>
              <a:off x="12422160" y="4689720"/>
              <a:ext cx="4873320" cy="906840"/>
            </a:xfrm>
            <a:custGeom>
              <a:avLst/>
              <a:gdLst>
                <a:gd name="textAreaLeft" fmla="*/ 0 w 4873320"/>
                <a:gd name="textAreaRight" fmla="*/ 4873680 w 4873320"/>
                <a:gd name="textAreaTop" fmla="*/ 0 h 906840"/>
                <a:gd name="textAreaBottom" fmla="*/ 907200 h 906840"/>
              </a:gdLst>
              <a:ahLst/>
              <a:cxnLst/>
              <a:rect l="textAreaLeft" t="textAreaTop" r="textAreaRight" b="textAreaBottom"/>
              <a:pathLst>
                <a:path w="6498035" h="1209675">
                  <a:moveTo>
                    <a:pt x="0" y="0"/>
                  </a:moveTo>
                  <a:lnTo>
                    <a:pt x="6498035" y="0"/>
                  </a:lnTo>
                  <a:lnTo>
                    <a:pt x="6498035" y="1209675"/>
                  </a:lnTo>
                  <a:lnTo>
                    <a:pt x="0" y="120967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TextBox 24"/>
            <p:cNvSpPr/>
            <p:nvPr/>
          </p:nvSpPr>
          <p:spPr>
            <a:xfrm>
              <a:off x="12422160" y="4610880"/>
              <a:ext cx="4873320" cy="985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563"/>
                </a:lnSpc>
              </a:pPr>
              <a:r>
                <a:rPr lang="en-US" sz="219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Manages both user and recruiter data.</a:t>
              </a:r>
              <a:endParaRPr lang="en-IN" sz="219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7" name="Freeform 25" descr="preencoded.png"/>
          <p:cNvSpPr/>
          <p:nvPr/>
        </p:nvSpPr>
        <p:spPr>
          <a:xfrm>
            <a:off x="6290640" y="3629880"/>
            <a:ext cx="5706000" cy="5706000"/>
          </a:xfrm>
          <a:custGeom>
            <a:avLst/>
            <a:gdLst>
              <a:gd name="textAreaLeft" fmla="*/ 0 w 5706000"/>
              <a:gd name="textAreaRight" fmla="*/ 5706360 w 5706000"/>
              <a:gd name="textAreaTop" fmla="*/ 0 h 5706000"/>
              <a:gd name="textAreaBottom" fmla="*/ 5706360 h 5706000"/>
            </a:gdLst>
            <a:ahLst/>
            <a:cxnLst/>
            <a:rect l="textAreaLeft" t="textAreaTop" r="textAreaRight" b="textAreaBottom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Freeform 26" descr="preencoded.png"/>
          <p:cNvSpPr/>
          <p:nvPr/>
        </p:nvSpPr>
        <p:spPr>
          <a:xfrm>
            <a:off x="10565640" y="5069520"/>
            <a:ext cx="423720" cy="529920"/>
          </a:xfrm>
          <a:custGeom>
            <a:avLst/>
            <a:gdLst>
              <a:gd name="textAreaLeft" fmla="*/ 0 w 423720"/>
              <a:gd name="textAreaRight" fmla="*/ 424080 w 423720"/>
              <a:gd name="textAreaTop" fmla="*/ 0 h 529920"/>
              <a:gd name="textAreaBottom" fmla="*/ 530280 h 529920"/>
            </a:gdLst>
            <a:ahLst/>
            <a:cxnLst/>
            <a:rect l="textAreaLeft" t="textAreaTop" r="textAreaRight" b="textAreaBottom"/>
            <a:pathLst>
              <a:path w="424160" h="530275">
                <a:moveTo>
                  <a:pt x="0" y="0"/>
                </a:moveTo>
                <a:lnTo>
                  <a:pt x="424160" y="0"/>
                </a:lnTo>
                <a:lnTo>
                  <a:pt x="424160" y="530275"/>
                </a:lnTo>
                <a:lnTo>
                  <a:pt x="0" y="5302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9" name="Group 27"/>
          <p:cNvGrpSpPr/>
          <p:nvPr/>
        </p:nvGrpSpPr>
        <p:grpSpPr>
          <a:xfrm>
            <a:off x="12422160" y="7113600"/>
            <a:ext cx="3543840" cy="582840"/>
            <a:chOff x="12422160" y="7113600"/>
            <a:chExt cx="3543840" cy="582840"/>
          </a:xfrm>
        </p:grpSpPr>
        <p:sp>
          <p:nvSpPr>
            <p:cNvPr id="380" name="Freeform 28"/>
            <p:cNvSpPr/>
            <p:nvPr/>
          </p:nvSpPr>
          <p:spPr>
            <a:xfrm>
              <a:off x="12422160" y="7142400"/>
              <a:ext cx="3543840" cy="554040"/>
            </a:xfrm>
            <a:custGeom>
              <a:avLst/>
              <a:gdLst>
                <a:gd name="textAreaLeft" fmla="*/ 0 w 3543840"/>
                <a:gd name="textAreaRight" fmla="*/ 3544200 w 3543840"/>
                <a:gd name="textAreaTop" fmla="*/ 0 h 554040"/>
                <a:gd name="textAreaBottom" fmla="*/ 554400 h 554040"/>
              </a:gdLst>
              <a:ahLst/>
              <a:cxnLst/>
              <a:rect l="textAreaLeft" t="textAreaTop" r="textAreaRight" b="textAreaBottom"/>
              <a:pathLst>
                <a:path w="4725392" h="738985">
                  <a:moveTo>
                    <a:pt x="0" y="0"/>
                  </a:moveTo>
                  <a:lnTo>
                    <a:pt x="4725392" y="0"/>
                  </a:lnTo>
                  <a:lnTo>
                    <a:pt x="4725392" y="738985"/>
                  </a:lnTo>
                  <a:lnTo>
                    <a:pt x="0" y="73898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TextBox 29"/>
            <p:cNvSpPr/>
            <p:nvPr/>
          </p:nvSpPr>
          <p:spPr>
            <a:xfrm>
              <a:off x="12422160" y="7113600"/>
              <a:ext cx="3543840" cy="58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436"/>
                </a:lnSpc>
              </a:pPr>
              <a:r>
                <a:rPr lang="en-US" sz="275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Feedback Analysis</a:t>
              </a:r>
              <a:endParaRPr lang="en-IN" sz="27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2" name="Group 30"/>
          <p:cNvGrpSpPr/>
          <p:nvPr/>
        </p:nvGrpSpPr>
        <p:grpSpPr>
          <a:xfrm>
            <a:off x="12422160" y="7676640"/>
            <a:ext cx="4873320" cy="985320"/>
            <a:chOff x="12422160" y="7676640"/>
            <a:chExt cx="4873320" cy="985320"/>
          </a:xfrm>
        </p:grpSpPr>
        <p:sp>
          <p:nvSpPr>
            <p:cNvPr id="383" name="Freeform 31"/>
            <p:cNvSpPr/>
            <p:nvPr/>
          </p:nvSpPr>
          <p:spPr>
            <a:xfrm>
              <a:off x="12422160" y="7755120"/>
              <a:ext cx="4873320" cy="906840"/>
            </a:xfrm>
            <a:custGeom>
              <a:avLst/>
              <a:gdLst>
                <a:gd name="textAreaLeft" fmla="*/ 0 w 4873320"/>
                <a:gd name="textAreaRight" fmla="*/ 4873680 w 4873320"/>
                <a:gd name="textAreaTop" fmla="*/ 0 h 906840"/>
                <a:gd name="textAreaBottom" fmla="*/ 907200 h 906840"/>
              </a:gdLst>
              <a:ahLst/>
              <a:cxnLst/>
              <a:rect l="textAreaLeft" t="textAreaTop" r="textAreaRight" b="textAreaBottom"/>
              <a:pathLst>
                <a:path w="6498035" h="1209675">
                  <a:moveTo>
                    <a:pt x="0" y="0"/>
                  </a:moveTo>
                  <a:lnTo>
                    <a:pt x="6498035" y="0"/>
                  </a:lnTo>
                  <a:lnTo>
                    <a:pt x="6498035" y="1209675"/>
                  </a:lnTo>
                  <a:lnTo>
                    <a:pt x="0" y="120967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TextBox 32"/>
            <p:cNvSpPr/>
            <p:nvPr/>
          </p:nvSpPr>
          <p:spPr>
            <a:xfrm>
              <a:off x="12422160" y="7676640"/>
              <a:ext cx="4873320" cy="985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563"/>
                </a:lnSpc>
              </a:pPr>
              <a:r>
                <a:rPr lang="en-US" sz="219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Views and analyzes user feedback, ratings, and system performance.</a:t>
              </a:r>
              <a:endParaRPr lang="en-IN" sz="219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5" name="Freeform 33" descr="preencoded.png"/>
          <p:cNvSpPr/>
          <p:nvPr/>
        </p:nvSpPr>
        <p:spPr>
          <a:xfrm>
            <a:off x="6290640" y="3629880"/>
            <a:ext cx="5706000" cy="5706000"/>
          </a:xfrm>
          <a:custGeom>
            <a:avLst/>
            <a:gdLst>
              <a:gd name="textAreaLeft" fmla="*/ 0 w 5706000"/>
              <a:gd name="textAreaRight" fmla="*/ 5706360 w 5706000"/>
              <a:gd name="textAreaTop" fmla="*/ 0 h 5706000"/>
              <a:gd name="textAreaBottom" fmla="*/ 5706360 h 5706000"/>
            </a:gdLst>
            <a:ahLst/>
            <a:cxnLst/>
            <a:rect l="textAreaLeft" t="textAreaTop" r="textAreaRight" b="textAreaBottom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Freeform 34" descr="preencoded.png"/>
          <p:cNvSpPr/>
          <p:nvPr/>
        </p:nvSpPr>
        <p:spPr>
          <a:xfrm>
            <a:off x="10080000" y="7851600"/>
            <a:ext cx="423720" cy="529920"/>
          </a:xfrm>
          <a:custGeom>
            <a:avLst/>
            <a:gdLst>
              <a:gd name="textAreaLeft" fmla="*/ 0 w 423720"/>
              <a:gd name="textAreaRight" fmla="*/ 424080 w 423720"/>
              <a:gd name="textAreaTop" fmla="*/ 0 h 529920"/>
              <a:gd name="textAreaBottom" fmla="*/ 530280 h 529920"/>
            </a:gdLst>
            <a:ahLst/>
            <a:cxnLst/>
            <a:rect l="textAreaLeft" t="textAreaTop" r="textAreaRight" b="textAreaBottom"/>
            <a:pathLst>
              <a:path w="424160" h="530275">
                <a:moveTo>
                  <a:pt x="0" y="0"/>
                </a:moveTo>
                <a:lnTo>
                  <a:pt x="424160" y="0"/>
                </a:lnTo>
                <a:lnTo>
                  <a:pt x="424160" y="530275"/>
                </a:lnTo>
                <a:lnTo>
                  <a:pt x="0" y="5302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7" name="Group 35"/>
          <p:cNvGrpSpPr/>
          <p:nvPr/>
        </p:nvGrpSpPr>
        <p:grpSpPr>
          <a:xfrm>
            <a:off x="2321640" y="6886800"/>
            <a:ext cx="3543840" cy="582840"/>
            <a:chOff x="2321640" y="6886800"/>
            <a:chExt cx="3543840" cy="582840"/>
          </a:xfrm>
        </p:grpSpPr>
        <p:sp>
          <p:nvSpPr>
            <p:cNvPr id="388" name="Freeform 36"/>
            <p:cNvSpPr/>
            <p:nvPr/>
          </p:nvSpPr>
          <p:spPr>
            <a:xfrm>
              <a:off x="2321640" y="6915600"/>
              <a:ext cx="3543840" cy="554040"/>
            </a:xfrm>
            <a:custGeom>
              <a:avLst/>
              <a:gdLst>
                <a:gd name="textAreaLeft" fmla="*/ 0 w 3543840"/>
                <a:gd name="textAreaRight" fmla="*/ 3544200 w 3543840"/>
                <a:gd name="textAreaTop" fmla="*/ 0 h 554040"/>
                <a:gd name="textAreaBottom" fmla="*/ 554400 h 554040"/>
              </a:gdLst>
              <a:ahLst/>
              <a:cxnLst/>
              <a:rect l="textAreaLeft" t="textAreaTop" r="textAreaRight" b="textAreaBottom"/>
              <a:pathLst>
                <a:path w="4725392" h="738985">
                  <a:moveTo>
                    <a:pt x="0" y="0"/>
                  </a:moveTo>
                  <a:lnTo>
                    <a:pt x="4725392" y="0"/>
                  </a:lnTo>
                  <a:lnTo>
                    <a:pt x="4725392" y="738985"/>
                  </a:lnTo>
                  <a:lnTo>
                    <a:pt x="0" y="73898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TextBox 37"/>
            <p:cNvSpPr/>
            <p:nvPr/>
          </p:nvSpPr>
          <p:spPr>
            <a:xfrm>
              <a:off x="2321640" y="6886800"/>
              <a:ext cx="3543840" cy="58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r" defTabSz="914400">
                <a:lnSpc>
                  <a:spcPts val="3436"/>
                </a:lnSpc>
              </a:pPr>
              <a:r>
                <a:rPr lang="en-US" sz="275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Data Insights</a:t>
              </a:r>
              <a:endParaRPr lang="en-IN" sz="27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0" name="Group 38"/>
          <p:cNvGrpSpPr/>
          <p:nvPr/>
        </p:nvGrpSpPr>
        <p:grpSpPr>
          <a:xfrm>
            <a:off x="992160" y="7449840"/>
            <a:ext cx="4872960" cy="1439280"/>
            <a:chOff x="992160" y="7449840"/>
            <a:chExt cx="4872960" cy="1439280"/>
          </a:xfrm>
        </p:grpSpPr>
        <p:sp>
          <p:nvSpPr>
            <p:cNvPr id="391" name="Freeform 39"/>
            <p:cNvSpPr/>
            <p:nvPr/>
          </p:nvSpPr>
          <p:spPr>
            <a:xfrm>
              <a:off x="992160" y="7528320"/>
              <a:ext cx="4872960" cy="1360440"/>
            </a:xfrm>
            <a:custGeom>
              <a:avLst/>
              <a:gdLst>
                <a:gd name="textAreaLeft" fmla="*/ 0 w 4872960"/>
                <a:gd name="textAreaRight" fmla="*/ 4873320 w 4872960"/>
                <a:gd name="textAreaTop" fmla="*/ 0 h 1360440"/>
                <a:gd name="textAreaBottom" fmla="*/ 1360800 h 1360440"/>
              </a:gdLst>
              <a:ahLst/>
              <a:cxnLst/>
              <a:rect l="textAreaLeft" t="textAreaTop" r="textAreaRight" b="textAreaBottom"/>
              <a:pathLst>
                <a:path w="6497837" h="1814513">
                  <a:moveTo>
                    <a:pt x="0" y="0"/>
                  </a:moveTo>
                  <a:lnTo>
                    <a:pt x="6497837" y="0"/>
                  </a:lnTo>
                  <a:lnTo>
                    <a:pt x="6497837" y="1814513"/>
                  </a:lnTo>
                  <a:lnTo>
                    <a:pt x="0" y="181451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TextBox 40"/>
            <p:cNvSpPr/>
            <p:nvPr/>
          </p:nvSpPr>
          <p:spPr>
            <a:xfrm>
              <a:off x="992160" y="7449840"/>
              <a:ext cx="4872960" cy="143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r" defTabSz="914400">
                <a:lnSpc>
                  <a:spcPts val="3563"/>
                </a:lnSpc>
              </a:pPr>
              <a:r>
                <a:rPr lang="en-US" sz="219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Generates visualizations and insights based on the collected data.</a:t>
              </a:r>
              <a:endParaRPr lang="en-IN" sz="219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3" name="Freeform 41" descr="preencoded.png"/>
          <p:cNvSpPr/>
          <p:nvPr/>
        </p:nvSpPr>
        <p:spPr>
          <a:xfrm>
            <a:off x="6290640" y="3629880"/>
            <a:ext cx="5706000" cy="5706000"/>
          </a:xfrm>
          <a:custGeom>
            <a:avLst/>
            <a:gdLst>
              <a:gd name="textAreaLeft" fmla="*/ 0 w 5706000"/>
              <a:gd name="textAreaRight" fmla="*/ 5706360 w 5706000"/>
              <a:gd name="textAreaTop" fmla="*/ 0 h 5706000"/>
              <a:gd name="textAreaBottom" fmla="*/ 5706360 h 5706000"/>
            </a:gdLst>
            <a:ahLst/>
            <a:cxnLst/>
            <a:rect l="textAreaLeft" t="textAreaTop" r="textAreaRight" b="textAreaBottom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Freeform 42" descr="preencoded.png"/>
          <p:cNvSpPr/>
          <p:nvPr/>
        </p:nvSpPr>
        <p:spPr>
          <a:xfrm>
            <a:off x="7297920" y="7365960"/>
            <a:ext cx="423720" cy="529920"/>
          </a:xfrm>
          <a:custGeom>
            <a:avLst/>
            <a:gdLst>
              <a:gd name="textAreaLeft" fmla="*/ 0 w 423720"/>
              <a:gd name="textAreaRight" fmla="*/ 424080 w 423720"/>
              <a:gd name="textAreaTop" fmla="*/ 0 h 529920"/>
              <a:gd name="textAreaBottom" fmla="*/ 530280 h 529920"/>
            </a:gdLst>
            <a:ahLst/>
            <a:cxnLst/>
            <a:rect l="textAreaLeft" t="textAreaTop" r="textAreaRight" b="textAreaBottom"/>
            <a:pathLst>
              <a:path w="424160" h="530275">
                <a:moveTo>
                  <a:pt x="0" y="0"/>
                </a:moveTo>
                <a:lnTo>
                  <a:pt x="424159" y="0"/>
                </a:lnTo>
                <a:lnTo>
                  <a:pt x="424159" y="530275"/>
                </a:lnTo>
                <a:lnTo>
                  <a:pt x="0" y="5302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Freeform 2" descr="preencoded.png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6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397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8" name="Group 5"/>
          <p:cNvGrpSpPr/>
          <p:nvPr/>
        </p:nvGrpSpPr>
        <p:grpSpPr>
          <a:xfrm>
            <a:off x="1028880" y="501840"/>
            <a:ext cx="7482600" cy="1401480"/>
            <a:chOff x="1028880" y="501840"/>
            <a:chExt cx="7482600" cy="1401480"/>
          </a:xfrm>
        </p:grpSpPr>
        <p:sp>
          <p:nvSpPr>
            <p:cNvPr id="399" name="Freeform 6"/>
            <p:cNvSpPr/>
            <p:nvPr/>
          </p:nvSpPr>
          <p:spPr>
            <a:xfrm>
              <a:off x="1028880" y="523080"/>
              <a:ext cx="7482600" cy="1379880"/>
            </a:xfrm>
            <a:custGeom>
              <a:avLst/>
              <a:gdLst>
                <a:gd name="textAreaLeft" fmla="*/ 0 w 7482600"/>
                <a:gd name="textAreaRight" fmla="*/ 7482960 w 7482600"/>
                <a:gd name="textAreaTop" fmla="*/ 0 h 1379880"/>
                <a:gd name="textAreaBottom" fmla="*/ 1380240 h 1379880"/>
              </a:gdLst>
              <a:ahLst/>
              <a:cxnLst/>
              <a:rect l="textAreaLeft" t="textAreaTop" r="textAreaRight" b="textAreaBottom"/>
              <a:pathLst>
                <a:path w="9977138" h="1840507">
                  <a:moveTo>
                    <a:pt x="0" y="0"/>
                  </a:moveTo>
                  <a:lnTo>
                    <a:pt x="9977138" y="0"/>
                  </a:lnTo>
                  <a:lnTo>
                    <a:pt x="9977138" y="1840507"/>
                  </a:lnTo>
                  <a:lnTo>
                    <a:pt x="0" y="1840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TextBox 7"/>
            <p:cNvSpPr/>
            <p:nvPr/>
          </p:nvSpPr>
          <p:spPr>
            <a:xfrm>
              <a:off x="1028880" y="501840"/>
              <a:ext cx="7482600" cy="140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5930"/>
                </a:lnSpc>
              </a:pPr>
              <a:r>
                <a:rPr lang="en-US" sz="4700" b="0" u="none" strike="noStrike">
                  <a:solidFill>
                    <a:srgbClr val="1b1b27"/>
                  </a:solidFill>
                  <a:effectLst/>
                  <a:uFillTx/>
                  <a:latin typeface="Corben"/>
                  <a:ea typeface="Corben"/>
                </a:rPr>
                <a:t>FEEDBACK MODULE</a:t>
              </a:r>
              <a:endParaRPr lang="en-IN" sz="4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1" name="Group 8"/>
          <p:cNvGrpSpPr/>
          <p:nvPr/>
        </p:nvGrpSpPr>
        <p:grpSpPr>
          <a:xfrm>
            <a:off x="992160" y="2184480"/>
            <a:ext cx="16303320" cy="933120"/>
            <a:chOff x="992160" y="2184480"/>
            <a:chExt cx="16303320" cy="933120"/>
          </a:xfrm>
        </p:grpSpPr>
        <p:sp>
          <p:nvSpPr>
            <p:cNvPr id="402" name="Freeform 9"/>
            <p:cNvSpPr/>
            <p:nvPr/>
          </p:nvSpPr>
          <p:spPr>
            <a:xfrm>
              <a:off x="992160" y="2255760"/>
              <a:ext cx="16303320" cy="861480"/>
            </a:xfrm>
            <a:custGeom>
              <a:avLst/>
              <a:gdLst>
                <a:gd name="textAreaLeft" fmla="*/ 0 w 16303320"/>
                <a:gd name="textAreaRight" fmla="*/ 16303680 w 16303320"/>
                <a:gd name="textAreaTop" fmla="*/ 0 h 861480"/>
                <a:gd name="textAreaBottom" fmla="*/ 861840 h 861480"/>
              </a:gdLst>
              <a:ahLst/>
              <a:cxnLst/>
              <a:rect l="textAreaLeft" t="textAreaTop" r="textAreaRight" b="textAreaBottom"/>
              <a:pathLst>
                <a:path w="21738034" h="1149350">
                  <a:moveTo>
                    <a:pt x="0" y="0"/>
                  </a:moveTo>
                  <a:lnTo>
                    <a:pt x="21738034" y="0"/>
                  </a:lnTo>
                  <a:lnTo>
                    <a:pt x="21738034" y="1149350"/>
                  </a:lnTo>
                  <a:lnTo>
                    <a:pt x="0" y="11493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TextBox 10"/>
            <p:cNvSpPr/>
            <p:nvPr/>
          </p:nvSpPr>
          <p:spPr>
            <a:xfrm>
              <a:off x="992160" y="2184480"/>
              <a:ext cx="16303320" cy="93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373"/>
                </a:lnSpc>
              </a:pPr>
              <a:r>
                <a:rPr lang="en-US" sz="206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Overview: This module enables users to share feedback and ratings, view past comments, and analyze user satisfaction to help improve the platform.</a:t>
              </a:r>
              <a:endParaRPr lang="en-IN" sz="206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4" name="Group 11"/>
          <p:cNvGrpSpPr/>
          <p:nvPr/>
        </p:nvGrpSpPr>
        <p:grpSpPr>
          <a:xfrm>
            <a:off x="9124920" y="4155120"/>
            <a:ext cx="37800" cy="5256000"/>
            <a:chOff x="9124920" y="4155120"/>
            <a:chExt cx="37800" cy="5256000"/>
          </a:xfrm>
        </p:grpSpPr>
        <p:sp>
          <p:nvSpPr>
            <p:cNvPr id="405" name="Freeform 12"/>
            <p:cNvSpPr/>
            <p:nvPr/>
          </p:nvSpPr>
          <p:spPr>
            <a:xfrm>
              <a:off x="9124920" y="4155120"/>
              <a:ext cx="37800" cy="525600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5256000"/>
                <a:gd name="textAreaBottom" fmla="*/ 5256360 h 5256000"/>
              </a:gdLst>
              <a:ahLst/>
              <a:cxnLst/>
              <a:rect l="textAreaLeft" t="textAreaTop" r="textAreaRight" b="textAreaBottom"/>
              <a:pathLst>
                <a:path w="50800" h="700836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6982968"/>
                  </a:lnTo>
                  <a:cubicBezTo>
                    <a:pt x="50800" y="6996938"/>
                    <a:pt x="39370" y="7008368"/>
                    <a:pt x="25400" y="7008368"/>
                  </a:cubicBezTo>
                  <a:cubicBezTo>
                    <a:pt x="11430" y="7008368"/>
                    <a:pt x="0" y="6996938"/>
                    <a:pt x="0" y="6982968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6" name="Group 13"/>
          <p:cNvGrpSpPr/>
          <p:nvPr/>
        </p:nvGrpSpPr>
        <p:grpSpPr>
          <a:xfrm>
            <a:off x="8071200" y="4438800"/>
            <a:ext cx="807480" cy="37800"/>
            <a:chOff x="8071200" y="4438800"/>
            <a:chExt cx="807480" cy="37800"/>
          </a:xfrm>
        </p:grpSpPr>
        <p:sp>
          <p:nvSpPr>
            <p:cNvPr id="407" name="Freeform 14"/>
            <p:cNvSpPr/>
            <p:nvPr/>
          </p:nvSpPr>
          <p:spPr>
            <a:xfrm>
              <a:off x="8071200" y="4438800"/>
              <a:ext cx="807480" cy="37800"/>
            </a:xfrm>
            <a:custGeom>
              <a:avLst/>
              <a:gdLst>
                <a:gd name="textAreaLeft" fmla="*/ 0 w 807480"/>
                <a:gd name="textAreaRight" fmla="*/ 807840 w 8074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077341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51941" y="0"/>
                  </a:lnTo>
                  <a:cubicBezTo>
                    <a:pt x="1065911" y="0"/>
                    <a:pt x="1077341" y="11430"/>
                    <a:pt x="1077341" y="25400"/>
                  </a:cubicBezTo>
                  <a:cubicBezTo>
                    <a:pt x="1077341" y="39370"/>
                    <a:pt x="1065911" y="50800"/>
                    <a:pt x="1051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840" bIns="-684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8" name="Group 15"/>
          <p:cNvGrpSpPr/>
          <p:nvPr/>
        </p:nvGrpSpPr>
        <p:grpSpPr>
          <a:xfrm>
            <a:off x="8836200" y="4150080"/>
            <a:ext cx="615240" cy="615240"/>
            <a:chOff x="8836200" y="4150080"/>
            <a:chExt cx="615240" cy="615240"/>
          </a:xfrm>
        </p:grpSpPr>
        <p:sp>
          <p:nvSpPr>
            <p:cNvPr id="409" name="Freeform 16"/>
            <p:cNvSpPr/>
            <p:nvPr/>
          </p:nvSpPr>
          <p:spPr>
            <a:xfrm>
              <a:off x="8840880" y="4155120"/>
              <a:ext cx="605880" cy="605880"/>
            </a:xfrm>
            <a:custGeom>
              <a:avLst/>
              <a:gdLst>
                <a:gd name="textAreaLeft" fmla="*/ 0 w 605880"/>
                <a:gd name="textAreaRight" fmla="*/ 606240 w 60588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808101" h="808101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657225" y="0"/>
                  </a:lnTo>
                  <a:cubicBezTo>
                    <a:pt x="740537" y="0"/>
                    <a:pt x="808101" y="67564"/>
                    <a:pt x="808101" y="150876"/>
                  </a:cubicBezTo>
                  <a:lnTo>
                    <a:pt x="808101" y="657225"/>
                  </a:lnTo>
                  <a:cubicBezTo>
                    <a:pt x="808101" y="740537"/>
                    <a:pt x="740537" y="808101"/>
                    <a:pt x="657225" y="808101"/>
                  </a:cubicBezTo>
                  <a:lnTo>
                    <a:pt x="150876" y="808101"/>
                  </a:lnTo>
                  <a:cubicBezTo>
                    <a:pt x="67564" y="808101"/>
                    <a:pt x="0" y="740537"/>
                    <a:pt x="0" y="657225"/>
                  </a:cubicBezTo>
                  <a:close/>
                </a:path>
              </a:pathLst>
            </a:custGeom>
            <a:solidFill>
              <a:srgbClr val="d2d9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Freeform 17"/>
            <p:cNvSpPr/>
            <p:nvPr/>
          </p:nvSpPr>
          <p:spPr>
            <a:xfrm>
              <a:off x="8836200" y="4150080"/>
              <a:ext cx="615240" cy="615240"/>
            </a:xfrm>
            <a:custGeom>
              <a:avLst/>
              <a:gdLst>
                <a:gd name="textAreaLeft" fmla="*/ 0 w 615240"/>
                <a:gd name="textAreaRight" fmla="*/ 615600 w 615240"/>
                <a:gd name="textAreaTop" fmla="*/ 0 h 615240"/>
                <a:gd name="textAreaBottom" fmla="*/ 615600 h 615240"/>
              </a:gdLst>
              <a:ahLst/>
              <a:cxnLst/>
              <a:rect l="textAreaLeft" t="textAreaTop" r="textAreaRight" b="textAreaBottom"/>
              <a:pathLst>
                <a:path w="820801" h="820801">
                  <a:moveTo>
                    <a:pt x="0" y="157226"/>
                  </a:moveTo>
                  <a:cubicBezTo>
                    <a:pt x="0" y="70358"/>
                    <a:pt x="70358" y="0"/>
                    <a:pt x="157226" y="0"/>
                  </a:cubicBezTo>
                  <a:lnTo>
                    <a:pt x="663575" y="0"/>
                  </a:lnTo>
                  <a:lnTo>
                    <a:pt x="663575" y="6350"/>
                  </a:lnTo>
                  <a:lnTo>
                    <a:pt x="663575" y="0"/>
                  </a:lnTo>
                  <a:lnTo>
                    <a:pt x="663575" y="6350"/>
                  </a:lnTo>
                  <a:lnTo>
                    <a:pt x="663575" y="0"/>
                  </a:lnTo>
                  <a:cubicBezTo>
                    <a:pt x="750443" y="0"/>
                    <a:pt x="820801" y="70358"/>
                    <a:pt x="820801" y="157226"/>
                  </a:cubicBezTo>
                  <a:lnTo>
                    <a:pt x="814451" y="157226"/>
                  </a:lnTo>
                  <a:lnTo>
                    <a:pt x="820801" y="157226"/>
                  </a:lnTo>
                  <a:lnTo>
                    <a:pt x="820801" y="663575"/>
                  </a:lnTo>
                  <a:lnTo>
                    <a:pt x="814451" y="663575"/>
                  </a:lnTo>
                  <a:lnTo>
                    <a:pt x="820801" y="663575"/>
                  </a:lnTo>
                  <a:cubicBezTo>
                    <a:pt x="820801" y="750443"/>
                    <a:pt x="750443" y="820801"/>
                    <a:pt x="663575" y="820801"/>
                  </a:cubicBezTo>
                  <a:lnTo>
                    <a:pt x="663575" y="814451"/>
                  </a:lnTo>
                  <a:lnTo>
                    <a:pt x="663575" y="820801"/>
                  </a:lnTo>
                  <a:lnTo>
                    <a:pt x="157226" y="820801"/>
                  </a:lnTo>
                  <a:lnTo>
                    <a:pt x="157226" y="814451"/>
                  </a:lnTo>
                  <a:lnTo>
                    <a:pt x="157226" y="820801"/>
                  </a:lnTo>
                  <a:cubicBezTo>
                    <a:pt x="70358" y="820801"/>
                    <a:pt x="0" y="750316"/>
                    <a:pt x="0" y="663575"/>
                  </a:cubicBezTo>
                  <a:lnTo>
                    <a:pt x="0" y="157226"/>
                  </a:lnTo>
                  <a:lnTo>
                    <a:pt x="6350" y="157226"/>
                  </a:lnTo>
                  <a:lnTo>
                    <a:pt x="0" y="157226"/>
                  </a:lnTo>
                  <a:moveTo>
                    <a:pt x="12700" y="157226"/>
                  </a:moveTo>
                  <a:lnTo>
                    <a:pt x="12700" y="663575"/>
                  </a:lnTo>
                  <a:lnTo>
                    <a:pt x="6350" y="663575"/>
                  </a:lnTo>
                  <a:lnTo>
                    <a:pt x="12700" y="663575"/>
                  </a:lnTo>
                  <a:cubicBezTo>
                    <a:pt x="12700" y="743331"/>
                    <a:pt x="77343" y="808101"/>
                    <a:pt x="157226" y="808101"/>
                  </a:cubicBezTo>
                  <a:lnTo>
                    <a:pt x="663575" y="808101"/>
                  </a:lnTo>
                  <a:cubicBezTo>
                    <a:pt x="743331" y="808101"/>
                    <a:pt x="808101" y="743458"/>
                    <a:pt x="808101" y="663575"/>
                  </a:cubicBezTo>
                  <a:lnTo>
                    <a:pt x="808101" y="157226"/>
                  </a:lnTo>
                  <a:cubicBezTo>
                    <a:pt x="808101" y="77343"/>
                    <a:pt x="743331" y="12700"/>
                    <a:pt x="663575" y="12700"/>
                  </a:cubicBezTo>
                  <a:lnTo>
                    <a:pt x="157226" y="12700"/>
                  </a:lnTo>
                  <a:lnTo>
                    <a:pt x="157226" y="6350"/>
                  </a:lnTo>
                  <a:lnTo>
                    <a:pt x="157226" y="12700"/>
                  </a:lnTo>
                  <a:cubicBezTo>
                    <a:pt x="77343" y="12700"/>
                    <a:pt x="12700" y="77343"/>
                    <a:pt x="12700" y="157226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1" name="Freeform 18" descr="preencoded.png"/>
          <p:cNvSpPr/>
          <p:nvPr/>
        </p:nvSpPr>
        <p:spPr>
          <a:xfrm>
            <a:off x="8942040" y="4205520"/>
            <a:ext cx="403560" cy="504720"/>
          </a:xfrm>
          <a:custGeom>
            <a:avLst/>
            <a:gdLst>
              <a:gd name="textAreaLeft" fmla="*/ 0 w 403560"/>
              <a:gd name="textAreaRight" fmla="*/ 403920 w 403560"/>
              <a:gd name="textAreaTop" fmla="*/ 0 h 504720"/>
              <a:gd name="textAreaBottom" fmla="*/ 505080 h 504720"/>
            </a:gdLst>
            <a:ahLst/>
            <a:cxnLst/>
            <a:rect l="textAreaLeft" t="textAreaTop" r="textAreaRight" b="textAreaBottom"/>
            <a:pathLst>
              <a:path w="403920" h="504974">
                <a:moveTo>
                  <a:pt x="0" y="0"/>
                </a:moveTo>
                <a:lnTo>
                  <a:pt x="403920" y="0"/>
                </a:lnTo>
                <a:lnTo>
                  <a:pt x="403920" y="504974"/>
                </a:lnTo>
                <a:lnTo>
                  <a:pt x="0" y="5049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2" name="Group 19"/>
          <p:cNvGrpSpPr/>
          <p:nvPr/>
        </p:nvGrpSpPr>
        <p:grpSpPr>
          <a:xfrm>
            <a:off x="4430160" y="3993480"/>
            <a:ext cx="3366720" cy="716760"/>
            <a:chOff x="4430160" y="3993480"/>
            <a:chExt cx="3366720" cy="716760"/>
          </a:xfrm>
        </p:grpSpPr>
        <p:sp>
          <p:nvSpPr>
            <p:cNvPr id="413" name="Freeform 20"/>
            <p:cNvSpPr/>
            <p:nvPr/>
          </p:nvSpPr>
          <p:spPr>
            <a:xfrm>
              <a:off x="4430160" y="4021920"/>
              <a:ext cx="3366720" cy="688320"/>
            </a:xfrm>
            <a:custGeom>
              <a:avLst/>
              <a:gdLst>
                <a:gd name="textAreaLeft" fmla="*/ 0 w 3366720"/>
                <a:gd name="textAreaRight" fmla="*/ 3367080 w 3366720"/>
                <a:gd name="textAreaTop" fmla="*/ 0 h 688320"/>
                <a:gd name="textAreaBottom" fmla="*/ 688680 h 688320"/>
              </a:gdLst>
              <a:ahLst/>
              <a:cxnLst/>
              <a:rect l="textAreaLeft" t="textAreaTop" r="textAreaRight" b="textAreaBottom"/>
              <a:pathLst>
                <a:path w="4489252" h="918050">
                  <a:moveTo>
                    <a:pt x="0" y="0"/>
                  </a:moveTo>
                  <a:lnTo>
                    <a:pt x="4489252" y="0"/>
                  </a:lnTo>
                  <a:lnTo>
                    <a:pt x="4489252" y="918050"/>
                  </a:lnTo>
                  <a:lnTo>
                    <a:pt x="0" y="9180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TextBox 21"/>
            <p:cNvSpPr/>
            <p:nvPr/>
          </p:nvSpPr>
          <p:spPr>
            <a:xfrm>
              <a:off x="4430160" y="3993480"/>
              <a:ext cx="3366720" cy="71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r" defTabSz="914400">
                <a:lnSpc>
                  <a:spcPts val="3311"/>
                </a:lnSpc>
              </a:pPr>
              <a:r>
                <a:rPr lang="en-US" sz="262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Rating Analysis</a:t>
              </a:r>
              <a:endParaRPr lang="en-IN" sz="262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5" name="Group 22"/>
          <p:cNvGrpSpPr/>
          <p:nvPr/>
        </p:nvGrpSpPr>
        <p:grpSpPr>
          <a:xfrm>
            <a:off x="992160" y="4758480"/>
            <a:ext cx="6804720" cy="933120"/>
            <a:chOff x="992160" y="4758480"/>
            <a:chExt cx="6804720" cy="933120"/>
          </a:xfrm>
        </p:grpSpPr>
        <p:sp>
          <p:nvSpPr>
            <p:cNvPr id="416" name="Freeform 23"/>
            <p:cNvSpPr/>
            <p:nvPr/>
          </p:nvSpPr>
          <p:spPr>
            <a:xfrm>
              <a:off x="992160" y="4829760"/>
              <a:ext cx="6804720" cy="861480"/>
            </a:xfrm>
            <a:custGeom>
              <a:avLst/>
              <a:gdLst>
                <a:gd name="textAreaLeft" fmla="*/ 0 w 6804720"/>
                <a:gd name="textAreaRight" fmla="*/ 6805080 w 6804720"/>
                <a:gd name="textAreaTop" fmla="*/ 0 h 861480"/>
                <a:gd name="textAreaBottom" fmla="*/ 861840 h 861480"/>
              </a:gdLst>
              <a:ahLst/>
              <a:cxnLst/>
              <a:rect l="textAreaLeft" t="textAreaTop" r="textAreaRight" b="textAreaBottom"/>
              <a:pathLst>
                <a:path w="9073357" h="1149350">
                  <a:moveTo>
                    <a:pt x="0" y="0"/>
                  </a:moveTo>
                  <a:lnTo>
                    <a:pt x="9073357" y="0"/>
                  </a:lnTo>
                  <a:lnTo>
                    <a:pt x="9073357" y="1149350"/>
                  </a:lnTo>
                  <a:lnTo>
                    <a:pt x="0" y="11493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TextBox 24"/>
            <p:cNvSpPr/>
            <p:nvPr/>
          </p:nvSpPr>
          <p:spPr>
            <a:xfrm>
              <a:off x="992160" y="4758480"/>
              <a:ext cx="6804720" cy="93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r" defTabSz="914400">
                <a:lnSpc>
                  <a:spcPts val="3373"/>
                </a:lnSpc>
              </a:pPr>
              <a:r>
                <a:rPr lang="en-US" sz="206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Analyzes user feedback and ratings, with insights presented in the form of pie charts.</a:t>
              </a:r>
              <a:endParaRPr lang="en-IN" sz="206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8" name="Group 25"/>
          <p:cNvGrpSpPr/>
          <p:nvPr/>
        </p:nvGrpSpPr>
        <p:grpSpPr>
          <a:xfrm>
            <a:off x="9408960" y="6054840"/>
            <a:ext cx="807480" cy="37800"/>
            <a:chOff x="9408960" y="6054840"/>
            <a:chExt cx="807480" cy="37800"/>
          </a:xfrm>
        </p:grpSpPr>
        <p:sp>
          <p:nvSpPr>
            <p:cNvPr id="419" name="Freeform 26"/>
            <p:cNvSpPr/>
            <p:nvPr/>
          </p:nvSpPr>
          <p:spPr>
            <a:xfrm>
              <a:off x="9408960" y="6054840"/>
              <a:ext cx="807480" cy="37800"/>
            </a:xfrm>
            <a:custGeom>
              <a:avLst/>
              <a:gdLst>
                <a:gd name="textAreaLeft" fmla="*/ 0 w 807480"/>
                <a:gd name="textAreaRight" fmla="*/ 807840 w 8074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077341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51941" y="0"/>
                  </a:lnTo>
                  <a:cubicBezTo>
                    <a:pt x="1065911" y="0"/>
                    <a:pt x="1077341" y="11430"/>
                    <a:pt x="1077341" y="25400"/>
                  </a:cubicBezTo>
                  <a:cubicBezTo>
                    <a:pt x="1077341" y="39370"/>
                    <a:pt x="1065911" y="50800"/>
                    <a:pt x="1051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840" bIns="-684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0" name="Group 27"/>
          <p:cNvGrpSpPr/>
          <p:nvPr/>
        </p:nvGrpSpPr>
        <p:grpSpPr>
          <a:xfrm>
            <a:off x="8836200" y="5766120"/>
            <a:ext cx="615240" cy="615240"/>
            <a:chOff x="8836200" y="5766120"/>
            <a:chExt cx="615240" cy="615240"/>
          </a:xfrm>
        </p:grpSpPr>
        <p:sp>
          <p:nvSpPr>
            <p:cNvPr id="421" name="Freeform 28"/>
            <p:cNvSpPr/>
            <p:nvPr/>
          </p:nvSpPr>
          <p:spPr>
            <a:xfrm>
              <a:off x="8840880" y="5770800"/>
              <a:ext cx="605880" cy="605880"/>
            </a:xfrm>
            <a:custGeom>
              <a:avLst/>
              <a:gdLst>
                <a:gd name="textAreaLeft" fmla="*/ 0 w 605880"/>
                <a:gd name="textAreaRight" fmla="*/ 606240 w 60588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808101" h="808101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657225" y="0"/>
                  </a:lnTo>
                  <a:cubicBezTo>
                    <a:pt x="740537" y="0"/>
                    <a:pt x="808101" y="67564"/>
                    <a:pt x="808101" y="150876"/>
                  </a:cubicBezTo>
                  <a:lnTo>
                    <a:pt x="808101" y="657225"/>
                  </a:lnTo>
                  <a:cubicBezTo>
                    <a:pt x="808101" y="740537"/>
                    <a:pt x="740537" y="808101"/>
                    <a:pt x="657225" y="808101"/>
                  </a:cubicBezTo>
                  <a:lnTo>
                    <a:pt x="150876" y="808101"/>
                  </a:lnTo>
                  <a:cubicBezTo>
                    <a:pt x="67564" y="808101"/>
                    <a:pt x="0" y="740537"/>
                    <a:pt x="0" y="657225"/>
                  </a:cubicBezTo>
                  <a:close/>
                </a:path>
              </a:pathLst>
            </a:custGeom>
            <a:solidFill>
              <a:srgbClr val="d2d9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Freeform 29"/>
            <p:cNvSpPr/>
            <p:nvPr/>
          </p:nvSpPr>
          <p:spPr>
            <a:xfrm>
              <a:off x="8836200" y="5766120"/>
              <a:ext cx="615240" cy="615240"/>
            </a:xfrm>
            <a:custGeom>
              <a:avLst/>
              <a:gdLst>
                <a:gd name="textAreaLeft" fmla="*/ 0 w 615240"/>
                <a:gd name="textAreaRight" fmla="*/ 615600 w 615240"/>
                <a:gd name="textAreaTop" fmla="*/ 0 h 615240"/>
                <a:gd name="textAreaBottom" fmla="*/ 615600 h 615240"/>
              </a:gdLst>
              <a:ahLst/>
              <a:cxnLst/>
              <a:rect l="textAreaLeft" t="textAreaTop" r="textAreaRight" b="textAreaBottom"/>
              <a:pathLst>
                <a:path w="820801" h="820801">
                  <a:moveTo>
                    <a:pt x="0" y="157226"/>
                  </a:moveTo>
                  <a:cubicBezTo>
                    <a:pt x="0" y="70358"/>
                    <a:pt x="70358" y="0"/>
                    <a:pt x="157226" y="0"/>
                  </a:cubicBezTo>
                  <a:lnTo>
                    <a:pt x="663575" y="0"/>
                  </a:lnTo>
                  <a:lnTo>
                    <a:pt x="663575" y="6350"/>
                  </a:lnTo>
                  <a:lnTo>
                    <a:pt x="663575" y="0"/>
                  </a:lnTo>
                  <a:lnTo>
                    <a:pt x="663575" y="6350"/>
                  </a:lnTo>
                  <a:lnTo>
                    <a:pt x="663575" y="0"/>
                  </a:lnTo>
                  <a:cubicBezTo>
                    <a:pt x="750443" y="0"/>
                    <a:pt x="820801" y="70358"/>
                    <a:pt x="820801" y="157226"/>
                  </a:cubicBezTo>
                  <a:lnTo>
                    <a:pt x="814451" y="157226"/>
                  </a:lnTo>
                  <a:lnTo>
                    <a:pt x="820801" y="157226"/>
                  </a:lnTo>
                  <a:lnTo>
                    <a:pt x="820801" y="663575"/>
                  </a:lnTo>
                  <a:lnTo>
                    <a:pt x="814451" y="663575"/>
                  </a:lnTo>
                  <a:lnTo>
                    <a:pt x="820801" y="663575"/>
                  </a:lnTo>
                  <a:cubicBezTo>
                    <a:pt x="820801" y="750443"/>
                    <a:pt x="750443" y="820801"/>
                    <a:pt x="663575" y="820801"/>
                  </a:cubicBezTo>
                  <a:lnTo>
                    <a:pt x="663575" y="814451"/>
                  </a:lnTo>
                  <a:lnTo>
                    <a:pt x="663575" y="820801"/>
                  </a:lnTo>
                  <a:lnTo>
                    <a:pt x="157226" y="820801"/>
                  </a:lnTo>
                  <a:lnTo>
                    <a:pt x="157226" y="814451"/>
                  </a:lnTo>
                  <a:lnTo>
                    <a:pt x="157226" y="820801"/>
                  </a:lnTo>
                  <a:cubicBezTo>
                    <a:pt x="70358" y="820801"/>
                    <a:pt x="0" y="750316"/>
                    <a:pt x="0" y="663575"/>
                  </a:cubicBezTo>
                  <a:lnTo>
                    <a:pt x="0" y="157226"/>
                  </a:lnTo>
                  <a:lnTo>
                    <a:pt x="6350" y="157226"/>
                  </a:lnTo>
                  <a:lnTo>
                    <a:pt x="0" y="157226"/>
                  </a:lnTo>
                  <a:moveTo>
                    <a:pt x="12700" y="157226"/>
                  </a:moveTo>
                  <a:lnTo>
                    <a:pt x="12700" y="663575"/>
                  </a:lnTo>
                  <a:lnTo>
                    <a:pt x="6350" y="663575"/>
                  </a:lnTo>
                  <a:lnTo>
                    <a:pt x="12700" y="663575"/>
                  </a:lnTo>
                  <a:cubicBezTo>
                    <a:pt x="12700" y="743331"/>
                    <a:pt x="77343" y="808101"/>
                    <a:pt x="157226" y="808101"/>
                  </a:cubicBezTo>
                  <a:lnTo>
                    <a:pt x="663575" y="808101"/>
                  </a:lnTo>
                  <a:cubicBezTo>
                    <a:pt x="743331" y="808101"/>
                    <a:pt x="808101" y="743458"/>
                    <a:pt x="808101" y="663575"/>
                  </a:cubicBezTo>
                  <a:lnTo>
                    <a:pt x="808101" y="157226"/>
                  </a:lnTo>
                  <a:cubicBezTo>
                    <a:pt x="808101" y="77343"/>
                    <a:pt x="743331" y="12700"/>
                    <a:pt x="663575" y="12700"/>
                  </a:cubicBezTo>
                  <a:lnTo>
                    <a:pt x="157226" y="12700"/>
                  </a:lnTo>
                  <a:lnTo>
                    <a:pt x="157226" y="6350"/>
                  </a:lnTo>
                  <a:lnTo>
                    <a:pt x="157226" y="12700"/>
                  </a:lnTo>
                  <a:cubicBezTo>
                    <a:pt x="77343" y="12700"/>
                    <a:pt x="12700" y="77343"/>
                    <a:pt x="12700" y="157226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3" name="Freeform 30" descr="preencoded.png"/>
          <p:cNvSpPr/>
          <p:nvPr/>
        </p:nvSpPr>
        <p:spPr>
          <a:xfrm>
            <a:off x="8942040" y="5821560"/>
            <a:ext cx="403560" cy="504720"/>
          </a:xfrm>
          <a:custGeom>
            <a:avLst/>
            <a:gdLst>
              <a:gd name="textAreaLeft" fmla="*/ 0 w 403560"/>
              <a:gd name="textAreaRight" fmla="*/ 403920 w 403560"/>
              <a:gd name="textAreaTop" fmla="*/ 0 h 504720"/>
              <a:gd name="textAreaBottom" fmla="*/ 505080 h 504720"/>
            </a:gdLst>
            <a:ahLst/>
            <a:cxnLst/>
            <a:rect l="textAreaLeft" t="textAreaTop" r="textAreaRight" b="textAreaBottom"/>
            <a:pathLst>
              <a:path w="403920" h="504974">
                <a:moveTo>
                  <a:pt x="0" y="0"/>
                </a:moveTo>
                <a:lnTo>
                  <a:pt x="403920" y="0"/>
                </a:lnTo>
                <a:lnTo>
                  <a:pt x="403920" y="504974"/>
                </a:lnTo>
                <a:lnTo>
                  <a:pt x="0" y="5049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4" name="Group 31"/>
          <p:cNvGrpSpPr/>
          <p:nvPr/>
        </p:nvGrpSpPr>
        <p:grpSpPr>
          <a:xfrm>
            <a:off x="10464480" y="5609520"/>
            <a:ext cx="3366720" cy="716760"/>
            <a:chOff x="10464480" y="5609520"/>
            <a:chExt cx="3366720" cy="716760"/>
          </a:xfrm>
        </p:grpSpPr>
        <p:sp>
          <p:nvSpPr>
            <p:cNvPr id="425" name="Freeform 32"/>
            <p:cNvSpPr/>
            <p:nvPr/>
          </p:nvSpPr>
          <p:spPr>
            <a:xfrm>
              <a:off x="10464480" y="5637960"/>
              <a:ext cx="3366720" cy="688320"/>
            </a:xfrm>
            <a:custGeom>
              <a:avLst/>
              <a:gdLst>
                <a:gd name="textAreaLeft" fmla="*/ 0 w 3366720"/>
                <a:gd name="textAreaRight" fmla="*/ 3367080 w 3366720"/>
                <a:gd name="textAreaTop" fmla="*/ 0 h 688320"/>
                <a:gd name="textAreaBottom" fmla="*/ 688680 h 688320"/>
              </a:gdLst>
              <a:ahLst/>
              <a:cxnLst/>
              <a:rect l="textAreaLeft" t="textAreaTop" r="textAreaRight" b="textAreaBottom"/>
              <a:pathLst>
                <a:path w="4489252" h="918050">
                  <a:moveTo>
                    <a:pt x="0" y="0"/>
                  </a:moveTo>
                  <a:lnTo>
                    <a:pt x="4489252" y="0"/>
                  </a:lnTo>
                  <a:lnTo>
                    <a:pt x="4489252" y="918050"/>
                  </a:lnTo>
                  <a:lnTo>
                    <a:pt x="0" y="9180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TextBox 33"/>
            <p:cNvSpPr/>
            <p:nvPr/>
          </p:nvSpPr>
          <p:spPr>
            <a:xfrm>
              <a:off x="10464480" y="5609520"/>
              <a:ext cx="3366720" cy="71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311"/>
                </a:lnSpc>
              </a:pPr>
              <a:r>
                <a:rPr lang="en-US" sz="262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Past Feedback View</a:t>
              </a:r>
              <a:endParaRPr lang="en-IN" sz="262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7" name="Group 34"/>
          <p:cNvGrpSpPr/>
          <p:nvPr/>
        </p:nvGrpSpPr>
        <p:grpSpPr>
          <a:xfrm>
            <a:off x="10490760" y="6374160"/>
            <a:ext cx="6804720" cy="502200"/>
            <a:chOff x="10490760" y="6374160"/>
            <a:chExt cx="6804720" cy="502200"/>
          </a:xfrm>
        </p:grpSpPr>
        <p:sp>
          <p:nvSpPr>
            <p:cNvPr id="428" name="Freeform 35"/>
            <p:cNvSpPr/>
            <p:nvPr/>
          </p:nvSpPr>
          <p:spPr>
            <a:xfrm>
              <a:off x="10490760" y="6445800"/>
              <a:ext cx="6804720" cy="430560"/>
            </a:xfrm>
            <a:custGeom>
              <a:avLst/>
              <a:gdLst>
                <a:gd name="textAreaLeft" fmla="*/ 0 w 6804720"/>
                <a:gd name="textAreaRight" fmla="*/ 6805080 w 6804720"/>
                <a:gd name="textAreaTop" fmla="*/ 0 h 430560"/>
                <a:gd name="textAreaBottom" fmla="*/ 430920 h 430560"/>
              </a:gdLst>
              <a:ahLst/>
              <a:cxnLst/>
              <a:rect l="textAreaLeft" t="textAreaTop" r="textAreaRight" b="textAreaBottom"/>
              <a:pathLst>
                <a:path w="9073357" h="574675">
                  <a:moveTo>
                    <a:pt x="0" y="0"/>
                  </a:moveTo>
                  <a:lnTo>
                    <a:pt x="9073357" y="0"/>
                  </a:lnTo>
                  <a:lnTo>
                    <a:pt x="9073357" y="574675"/>
                  </a:lnTo>
                  <a:lnTo>
                    <a:pt x="0" y="574675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9" name="TextBox 36"/>
            <p:cNvSpPr/>
            <p:nvPr/>
          </p:nvSpPr>
          <p:spPr>
            <a:xfrm>
              <a:off x="10490760" y="6374160"/>
              <a:ext cx="6804720" cy="50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373"/>
                </a:lnSpc>
              </a:pPr>
              <a:r>
                <a:rPr lang="en-US" sz="206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Allows users to view historical feedback and ratings.</a:t>
              </a:r>
              <a:endParaRPr lang="en-IN" sz="206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0" name="Group 37"/>
          <p:cNvGrpSpPr/>
          <p:nvPr/>
        </p:nvGrpSpPr>
        <p:grpSpPr>
          <a:xfrm>
            <a:off x="8071200" y="7447680"/>
            <a:ext cx="807480" cy="37800"/>
            <a:chOff x="8071200" y="7447680"/>
            <a:chExt cx="807480" cy="37800"/>
          </a:xfrm>
        </p:grpSpPr>
        <p:sp>
          <p:nvSpPr>
            <p:cNvPr id="431" name="Freeform 38"/>
            <p:cNvSpPr/>
            <p:nvPr/>
          </p:nvSpPr>
          <p:spPr>
            <a:xfrm>
              <a:off x="8071200" y="7447680"/>
              <a:ext cx="807480" cy="37800"/>
            </a:xfrm>
            <a:custGeom>
              <a:avLst/>
              <a:gdLst>
                <a:gd name="textAreaLeft" fmla="*/ 0 w 807480"/>
                <a:gd name="textAreaRight" fmla="*/ 807840 w 8074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077341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51941" y="0"/>
                  </a:lnTo>
                  <a:cubicBezTo>
                    <a:pt x="1065911" y="0"/>
                    <a:pt x="1077341" y="11430"/>
                    <a:pt x="1077341" y="25400"/>
                  </a:cubicBezTo>
                  <a:cubicBezTo>
                    <a:pt x="1077341" y="39370"/>
                    <a:pt x="1065911" y="50800"/>
                    <a:pt x="1051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840" bIns="-684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2" name="Group 39"/>
          <p:cNvGrpSpPr/>
          <p:nvPr/>
        </p:nvGrpSpPr>
        <p:grpSpPr>
          <a:xfrm>
            <a:off x="8836200" y="7158960"/>
            <a:ext cx="615240" cy="615240"/>
            <a:chOff x="8836200" y="7158960"/>
            <a:chExt cx="615240" cy="615240"/>
          </a:xfrm>
        </p:grpSpPr>
        <p:sp>
          <p:nvSpPr>
            <p:cNvPr id="433" name="Freeform 40"/>
            <p:cNvSpPr/>
            <p:nvPr/>
          </p:nvSpPr>
          <p:spPr>
            <a:xfrm>
              <a:off x="8840880" y="7164000"/>
              <a:ext cx="605880" cy="605880"/>
            </a:xfrm>
            <a:custGeom>
              <a:avLst/>
              <a:gdLst>
                <a:gd name="textAreaLeft" fmla="*/ 0 w 605880"/>
                <a:gd name="textAreaRight" fmla="*/ 606240 w 60588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808101" h="808101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657225" y="0"/>
                  </a:lnTo>
                  <a:cubicBezTo>
                    <a:pt x="740537" y="0"/>
                    <a:pt x="808101" y="67564"/>
                    <a:pt x="808101" y="150876"/>
                  </a:cubicBezTo>
                  <a:lnTo>
                    <a:pt x="808101" y="657225"/>
                  </a:lnTo>
                  <a:cubicBezTo>
                    <a:pt x="808101" y="740537"/>
                    <a:pt x="740537" y="808101"/>
                    <a:pt x="657225" y="808101"/>
                  </a:cubicBezTo>
                  <a:lnTo>
                    <a:pt x="150876" y="808101"/>
                  </a:lnTo>
                  <a:cubicBezTo>
                    <a:pt x="67564" y="808101"/>
                    <a:pt x="0" y="740537"/>
                    <a:pt x="0" y="657225"/>
                  </a:cubicBezTo>
                  <a:close/>
                </a:path>
              </a:pathLst>
            </a:custGeom>
            <a:solidFill>
              <a:srgbClr val="d2d9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Freeform 41"/>
            <p:cNvSpPr/>
            <p:nvPr/>
          </p:nvSpPr>
          <p:spPr>
            <a:xfrm>
              <a:off x="8836200" y="7158960"/>
              <a:ext cx="615240" cy="615240"/>
            </a:xfrm>
            <a:custGeom>
              <a:avLst/>
              <a:gdLst>
                <a:gd name="textAreaLeft" fmla="*/ 0 w 615240"/>
                <a:gd name="textAreaRight" fmla="*/ 615600 w 615240"/>
                <a:gd name="textAreaTop" fmla="*/ 0 h 615240"/>
                <a:gd name="textAreaBottom" fmla="*/ 615600 h 615240"/>
              </a:gdLst>
              <a:ahLst/>
              <a:cxnLst/>
              <a:rect l="textAreaLeft" t="textAreaTop" r="textAreaRight" b="textAreaBottom"/>
              <a:pathLst>
                <a:path w="820801" h="820801">
                  <a:moveTo>
                    <a:pt x="0" y="157226"/>
                  </a:moveTo>
                  <a:cubicBezTo>
                    <a:pt x="0" y="70358"/>
                    <a:pt x="70358" y="0"/>
                    <a:pt x="157226" y="0"/>
                  </a:cubicBezTo>
                  <a:lnTo>
                    <a:pt x="663575" y="0"/>
                  </a:lnTo>
                  <a:lnTo>
                    <a:pt x="663575" y="6350"/>
                  </a:lnTo>
                  <a:lnTo>
                    <a:pt x="663575" y="0"/>
                  </a:lnTo>
                  <a:lnTo>
                    <a:pt x="663575" y="6350"/>
                  </a:lnTo>
                  <a:lnTo>
                    <a:pt x="663575" y="0"/>
                  </a:lnTo>
                  <a:cubicBezTo>
                    <a:pt x="750443" y="0"/>
                    <a:pt x="820801" y="70358"/>
                    <a:pt x="820801" y="157226"/>
                  </a:cubicBezTo>
                  <a:lnTo>
                    <a:pt x="814451" y="157226"/>
                  </a:lnTo>
                  <a:lnTo>
                    <a:pt x="820801" y="157226"/>
                  </a:lnTo>
                  <a:lnTo>
                    <a:pt x="820801" y="663575"/>
                  </a:lnTo>
                  <a:lnTo>
                    <a:pt x="814451" y="663575"/>
                  </a:lnTo>
                  <a:lnTo>
                    <a:pt x="820801" y="663575"/>
                  </a:lnTo>
                  <a:cubicBezTo>
                    <a:pt x="820801" y="750443"/>
                    <a:pt x="750443" y="820801"/>
                    <a:pt x="663575" y="820801"/>
                  </a:cubicBezTo>
                  <a:lnTo>
                    <a:pt x="663575" y="814451"/>
                  </a:lnTo>
                  <a:lnTo>
                    <a:pt x="663575" y="820801"/>
                  </a:lnTo>
                  <a:lnTo>
                    <a:pt x="157226" y="820801"/>
                  </a:lnTo>
                  <a:lnTo>
                    <a:pt x="157226" y="814451"/>
                  </a:lnTo>
                  <a:lnTo>
                    <a:pt x="157226" y="820801"/>
                  </a:lnTo>
                  <a:cubicBezTo>
                    <a:pt x="70358" y="820801"/>
                    <a:pt x="0" y="750316"/>
                    <a:pt x="0" y="663575"/>
                  </a:cubicBezTo>
                  <a:lnTo>
                    <a:pt x="0" y="157226"/>
                  </a:lnTo>
                  <a:lnTo>
                    <a:pt x="6350" y="157226"/>
                  </a:lnTo>
                  <a:lnTo>
                    <a:pt x="0" y="157226"/>
                  </a:lnTo>
                  <a:moveTo>
                    <a:pt x="12700" y="157226"/>
                  </a:moveTo>
                  <a:lnTo>
                    <a:pt x="12700" y="663575"/>
                  </a:lnTo>
                  <a:lnTo>
                    <a:pt x="6350" y="663575"/>
                  </a:lnTo>
                  <a:lnTo>
                    <a:pt x="12700" y="663575"/>
                  </a:lnTo>
                  <a:cubicBezTo>
                    <a:pt x="12700" y="743331"/>
                    <a:pt x="77343" y="808101"/>
                    <a:pt x="157226" y="808101"/>
                  </a:cubicBezTo>
                  <a:lnTo>
                    <a:pt x="663575" y="808101"/>
                  </a:lnTo>
                  <a:cubicBezTo>
                    <a:pt x="743331" y="808101"/>
                    <a:pt x="808101" y="743458"/>
                    <a:pt x="808101" y="663575"/>
                  </a:cubicBezTo>
                  <a:lnTo>
                    <a:pt x="808101" y="157226"/>
                  </a:lnTo>
                  <a:cubicBezTo>
                    <a:pt x="808101" y="77343"/>
                    <a:pt x="743331" y="12700"/>
                    <a:pt x="663575" y="12700"/>
                  </a:cubicBezTo>
                  <a:lnTo>
                    <a:pt x="157226" y="12700"/>
                  </a:lnTo>
                  <a:lnTo>
                    <a:pt x="157226" y="6350"/>
                  </a:lnTo>
                  <a:lnTo>
                    <a:pt x="157226" y="12700"/>
                  </a:lnTo>
                  <a:cubicBezTo>
                    <a:pt x="77343" y="12700"/>
                    <a:pt x="12700" y="77343"/>
                    <a:pt x="12700" y="157226"/>
                  </a:cubicBezTo>
                  <a:close/>
                </a:path>
              </a:pathLst>
            </a:custGeom>
            <a:solidFill>
              <a:srgbClr val="b8b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5" name="Freeform 42" descr="preencoded.png"/>
          <p:cNvSpPr/>
          <p:nvPr/>
        </p:nvSpPr>
        <p:spPr>
          <a:xfrm>
            <a:off x="8942040" y="7214400"/>
            <a:ext cx="403560" cy="504720"/>
          </a:xfrm>
          <a:custGeom>
            <a:avLst/>
            <a:gdLst>
              <a:gd name="textAreaLeft" fmla="*/ 0 w 403560"/>
              <a:gd name="textAreaRight" fmla="*/ 403920 w 403560"/>
              <a:gd name="textAreaTop" fmla="*/ 0 h 504720"/>
              <a:gd name="textAreaBottom" fmla="*/ 505080 h 504720"/>
            </a:gdLst>
            <a:ahLst/>
            <a:cxnLst/>
            <a:rect l="textAreaLeft" t="textAreaTop" r="textAreaRight" b="textAreaBottom"/>
            <a:pathLst>
              <a:path w="403920" h="504974">
                <a:moveTo>
                  <a:pt x="0" y="0"/>
                </a:moveTo>
                <a:lnTo>
                  <a:pt x="403920" y="0"/>
                </a:lnTo>
                <a:lnTo>
                  <a:pt x="403920" y="504973"/>
                </a:lnTo>
                <a:lnTo>
                  <a:pt x="0" y="5049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36" name="Group 43"/>
          <p:cNvGrpSpPr/>
          <p:nvPr/>
        </p:nvGrpSpPr>
        <p:grpSpPr>
          <a:xfrm>
            <a:off x="3363120" y="7057440"/>
            <a:ext cx="4433760" cy="717120"/>
            <a:chOff x="3363120" y="7057440"/>
            <a:chExt cx="4433760" cy="717120"/>
          </a:xfrm>
        </p:grpSpPr>
        <p:sp>
          <p:nvSpPr>
            <p:cNvPr id="437" name="Freeform 44"/>
            <p:cNvSpPr/>
            <p:nvPr/>
          </p:nvSpPr>
          <p:spPr>
            <a:xfrm>
              <a:off x="3363120" y="7086240"/>
              <a:ext cx="4433760" cy="688320"/>
            </a:xfrm>
            <a:custGeom>
              <a:avLst/>
              <a:gdLst>
                <a:gd name="textAreaLeft" fmla="*/ 0 w 4433760"/>
                <a:gd name="textAreaRight" fmla="*/ 4434120 w 4433760"/>
                <a:gd name="textAreaTop" fmla="*/ 0 h 688320"/>
                <a:gd name="textAreaBottom" fmla="*/ 688680 h 688320"/>
              </a:gdLst>
              <a:ahLst/>
              <a:cxnLst/>
              <a:rect l="textAreaLeft" t="textAreaTop" r="textAreaRight" b="textAreaBottom"/>
              <a:pathLst>
                <a:path w="5912075" h="918050">
                  <a:moveTo>
                    <a:pt x="0" y="0"/>
                  </a:moveTo>
                  <a:lnTo>
                    <a:pt x="5912075" y="0"/>
                  </a:lnTo>
                  <a:lnTo>
                    <a:pt x="5912075" y="918050"/>
                  </a:lnTo>
                  <a:lnTo>
                    <a:pt x="0" y="9180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TextBox 45"/>
            <p:cNvSpPr/>
            <p:nvPr/>
          </p:nvSpPr>
          <p:spPr>
            <a:xfrm>
              <a:off x="3363120" y="7057440"/>
              <a:ext cx="4433760" cy="71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r" defTabSz="914400">
                <a:lnSpc>
                  <a:spcPts val="3311"/>
                </a:lnSpc>
              </a:pPr>
              <a:r>
                <a:rPr lang="en-US" sz="262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Feedback Submission</a:t>
              </a:r>
              <a:endParaRPr lang="en-IN" sz="262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9" name="Group 46"/>
          <p:cNvGrpSpPr/>
          <p:nvPr/>
        </p:nvGrpSpPr>
        <p:grpSpPr>
          <a:xfrm>
            <a:off x="1028880" y="7827120"/>
            <a:ext cx="6804720" cy="933120"/>
            <a:chOff x="1028880" y="7827120"/>
            <a:chExt cx="6804720" cy="933120"/>
          </a:xfrm>
        </p:grpSpPr>
        <p:sp>
          <p:nvSpPr>
            <p:cNvPr id="440" name="Freeform 47"/>
            <p:cNvSpPr/>
            <p:nvPr/>
          </p:nvSpPr>
          <p:spPr>
            <a:xfrm>
              <a:off x="1028880" y="7898400"/>
              <a:ext cx="6804720" cy="861480"/>
            </a:xfrm>
            <a:custGeom>
              <a:avLst/>
              <a:gdLst>
                <a:gd name="textAreaLeft" fmla="*/ 0 w 6804720"/>
                <a:gd name="textAreaRight" fmla="*/ 6805080 w 6804720"/>
                <a:gd name="textAreaTop" fmla="*/ 0 h 861480"/>
                <a:gd name="textAreaBottom" fmla="*/ 861840 h 861480"/>
              </a:gdLst>
              <a:ahLst/>
              <a:cxnLst/>
              <a:rect l="textAreaLeft" t="textAreaTop" r="textAreaRight" b="textAreaBottom"/>
              <a:pathLst>
                <a:path w="9073357" h="1149350">
                  <a:moveTo>
                    <a:pt x="0" y="0"/>
                  </a:moveTo>
                  <a:lnTo>
                    <a:pt x="9073357" y="0"/>
                  </a:lnTo>
                  <a:lnTo>
                    <a:pt x="9073357" y="1149350"/>
                  </a:lnTo>
                  <a:lnTo>
                    <a:pt x="0" y="11493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TextBox 48"/>
            <p:cNvSpPr/>
            <p:nvPr/>
          </p:nvSpPr>
          <p:spPr>
            <a:xfrm>
              <a:off x="1028880" y="7827120"/>
              <a:ext cx="6804720" cy="93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r" defTabSz="914400">
                <a:lnSpc>
                  <a:spcPts val="3373"/>
                </a:lnSpc>
              </a:pPr>
              <a:r>
                <a:rPr lang="en-US" sz="206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Users can submit feedback with ratings and detailed comments.</a:t>
              </a:r>
              <a:endParaRPr lang="en-IN" sz="206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Freeform 2" descr="preencoded.png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43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444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5" name="Group 5"/>
          <p:cNvGrpSpPr/>
          <p:nvPr/>
        </p:nvGrpSpPr>
        <p:grpSpPr>
          <a:xfrm>
            <a:off x="992160" y="264960"/>
            <a:ext cx="6024600" cy="1244520"/>
            <a:chOff x="992160" y="264960"/>
            <a:chExt cx="6024600" cy="1244520"/>
          </a:xfrm>
        </p:grpSpPr>
        <p:sp>
          <p:nvSpPr>
            <p:cNvPr id="446" name="Freeform 6"/>
            <p:cNvSpPr/>
            <p:nvPr/>
          </p:nvSpPr>
          <p:spPr>
            <a:xfrm>
              <a:off x="992160" y="279360"/>
              <a:ext cx="6024600" cy="1230120"/>
            </a:xfrm>
            <a:custGeom>
              <a:avLst/>
              <a:gdLst>
                <a:gd name="textAreaLeft" fmla="*/ 0 w 6024600"/>
                <a:gd name="textAreaRight" fmla="*/ 6024960 w 6024600"/>
                <a:gd name="textAreaTop" fmla="*/ 0 h 1230120"/>
                <a:gd name="textAreaBottom" fmla="*/ 1230480 h 1230120"/>
              </a:gdLst>
              <a:ahLst/>
              <a:cxnLst/>
              <a:rect l="textAreaLeft" t="textAreaTop" r="textAreaRight" b="textAreaBottom"/>
              <a:pathLst>
                <a:path w="8033345" h="1640651">
                  <a:moveTo>
                    <a:pt x="0" y="0"/>
                  </a:moveTo>
                  <a:lnTo>
                    <a:pt x="8033345" y="0"/>
                  </a:lnTo>
                  <a:lnTo>
                    <a:pt x="8033345" y="1640651"/>
                  </a:lnTo>
                  <a:lnTo>
                    <a:pt x="0" y="1640651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TextBox 7"/>
            <p:cNvSpPr/>
            <p:nvPr/>
          </p:nvSpPr>
          <p:spPr>
            <a:xfrm>
              <a:off x="992160" y="264960"/>
              <a:ext cx="6024600" cy="12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5890"/>
                </a:lnSpc>
              </a:pPr>
              <a:r>
                <a:rPr lang="en-US" sz="4700" b="0" u="none" strike="noStrike">
                  <a:solidFill>
                    <a:srgbClr val="1b1b27"/>
                  </a:solidFill>
                  <a:effectLst/>
                  <a:uFillTx/>
                  <a:latin typeface="Corben"/>
                  <a:ea typeface="Corben"/>
                </a:rPr>
                <a:t>ALGORITHM</a:t>
              </a:r>
              <a:endParaRPr lang="en-IN" sz="4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8" name="Group 8"/>
          <p:cNvGrpSpPr/>
          <p:nvPr/>
        </p:nvGrpSpPr>
        <p:grpSpPr>
          <a:xfrm>
            <a:off x="1028880" y="1793160"/>
            <a:ext cx="16303320" cy="849240"/>
            <a:chOff x="1028880" y="1793160"/>
            <a:chExt cx="16303320" cy="849240"/>
          </a:xfrm>
        </p:grpSpPr>
        <p:sp>
          <p:nvSpPr>
            <p:cNvPr id="449" name="Freeform 9"/>
            <p:cNvSpPr/>
            <p:nvPr/>
          </p:nvSpPr>
          <p:spPr>
            <a:xfrm>
              <a:off x="1028880" y="1871640"/>
              <a:ext cx="16303320" cy="770400"/>
            </a:xfrm>
            <a:custGeom>
              <a:avLst/>
              <a:gdLst>
                <a:gd name="textAreaLeft" fmla="*/ 0 w 16303320"/>
                <a:gd name="textAreaRight" fmla="*/ 16303680 w 16303320"/>
                <a:gd name="textAreaTop" fmla="*/ 0 h 770400"/>
                <a:gd name="textAreaBottom" fmla="*/ 770760 h 770400"/>
              </a:gdLst>
              <a:ahLst/>
              <a:cxnLst/>
              <a:rect l="textAreaLeft" t="textAreaTop" r="textAreaRight" b="textAreaBottom"/>
              <a:pathLst>
                <a:path w="21738034" h="1027907">
                  <a:moveTo>
                    <a:pt x="0" y="0"/>
                  </a:moveTo>
                  <a:lnTo>
                    <a:pt x="21738034" y="0"/>
                  </a:lnTo>
                  <a:lnTo>
                    <a:pt x="21738034" y="1027907"/>
                  </a:lnTo>
                  <a:lnTo>
                    <a:pt x="0" y="10279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0" name="TextBox 10"/>
            <p:cNvSpPr/>
            <p:nvPr/>
          </p:nvSpPr>
          <p:spPr>
            <a:xfrm>
              <a:off x="1028880" y="1793160"/>
              <a:ext cx="16303320" cy="84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99"/>
                </a:lnSpc>
              </a:pPr>
              <a:r>
                <a:rPr lang="en-US" sz="18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Overview: This module uses two key techniques – a rule-based algorithm for scoring resumes and NLP to extract data from resumes, helping to automate and improve resume evaluation.</a:t>
              </a:r>
              <a:endParaRPr lang="en-IN" sz="18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1" name="Freeform 11" descr="preencoded.png"/>
          <p:cNvSpPr/>
          <p:nvPr/>
        </p:nvSpPr>
        <p:spPr>
          <a:xfrm>
            <a:off x="992160" y="3242880"/>
            <a:ext cx="8151480" cy="963720"/>
          </a:xfrm>
          <a:custGeom>
            <a:avLst/>
            <a:gdLst>
              <a:gd name="textAreaLeft" fmla="*/ 0 w 8151480"/>
              <a:gd name="textAreaRight" fmla="*/ 8151840 w 8151480"/>
              <a:gd name="textAreaTop" fmla="*/ 0 h 963720"/>
              <a:gd name="textAreaBottom" fmla="*/ 964080 h 963720"/>
            </a:gdLst>
            <a:ahLst/>
            <a:cxnLst/>
            <a:rect l="textAreaLeft" t="textAreaTop" r="textAreaRight" b="textAreaBottom"/>
            <a:pathLst>
              <a:path w="8151762" h="963960">
                <a:moveTo>
                  <a:pt x="0" y="0"/>
                </a:moveTo>
                <a:lnTo>
                  <a:pt x="8151762" y="0"/>
                </a:lnTo>
                <a:lnTo>
                  <a:pt x="8151762" y="963960"/>
                </a:lnTo>
                <a:lnTo>
                  <a:pt x="0" y="9639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2" name="Group 12"/>
          <p:cNvGrpSpPr/>
          <p:nvPr/>
        </p:nvGrpSpPr>
        <p:grpSpPr>
          <a:xfrm>
            <a:off x="1233360" y="4539600"/>
            <a:ext cx="3135240" cy="634680"/>
            <a:chOff x="1233360" y="4539600"/>
            <a:chExt cx="3135240" cy="634680"/>
          </a:xfrm>
        </p:grpSpPr>
        <p:sp>
          <p:nvSpPr>
            <p:cNvPr id="453" name="Freeform 13"/>
            <p:cNvSpPr/>
            <p:nvPr/>
          </p:nvSpPr>
          <p:spPr>
            <a:xfrm>
              <a:off x="1233360" y="4568400"/>
              <a:ext cx="3135240" cy="605880"/>
            </a:xfrm>
            <a:custGeom>
              <a:avLst/>
              <a:gdLst>
                <a:gd name="textAreaLeft" fmla="*/ 0 w 3135240"/>
                <a:gd name="textAreaRight" fmla="*/ 3135600 w 313524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4180682" h="808507">
                  <a:moveTo>
                    <a:pt x="0" y="0"/>
                  </a:moveTo>
                  <a:lnTo>
                    <a:pt x="4180682" y="0"/>
                  </a:lnTo>
                  <a:lnTo>
                    <a:pt x="4180682" y="808507"/>
                  </a:lnTo>
                  <a:lnTo>
                    <a:pt x="0" y="808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4" name="TextBox 14"/>
            <p:cNvSpPr/>
            <p:nvPr/>
          </p:nvSpPr>
          <p:spPr>
            <a:xfrm>
              <a:off x="1233360" y="4539600"/>
              <a:ext cx="3135240" cy="63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37"/>
                </a:lnSpc>
              </a:pPr>
              <a:r>
                <a:rPr lang="en-US" sz="23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Rule-Based Algorithm</a:t>
              </a:r>
              <a:endParaRPr lang="en-IN" sz="23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5" name="Group 15"/>
          <p:cNvGrpSpPr/>
          <p:nvPr/>
        </p:nvGrpSpPr>
        <p:grpSpPr>
          <a:xfrm>
            <a:off x="1233360" y="5203440"/>
            <a:ext cx="7669440" cy="463680"/>
            <a:chOff x="1233360" y="5203440"/>
            <a:chExt cx="7669440" cy="463680"/>
          </a:xfrm>
        </p:grpSpPr>
        <p:sp>
          <p:nvSpPr>
            <p:cNvPr id="456" name="Freeform 16"/>
            <p:cNvSpPr/>
            <p:nvPr/>
          </p:nvSpPr>
          <p:spPr>
            <a:xfrm>
              <a:off x="1233360" y="5281920"/>
              <a:ext cx="7669440" cy="385200"/>
            </a:xfrm>
            <a:custGeom>
              <a:avLst/>
              <a:gdLst>
                <a:gd name="textAreaLeft" fmla="*/ 0 w 7669440"/>
                <a:gd name="textAreaRight" fmla="*/ 7669800 w 7669440"/>
                <a:gd name="textAreaTop" fmla="*/ 0 h 385200"/>
                <a:gd name="textAreaBottom" fmla="*/ 385560 h 385200"/>
              </a:gdLst>
              <a:ahLst/>
              <a:cxnLst/>
              <a:rect l="textAreaLeft" t="textAreaTop" r="textAreaRight" b="textAreaBottom"/>
              <a:pathLst>
                <a:path w="10226477" h="513953">
                  <a:moveTo>
                    <a:pt x="0" y="0"/>
                  </a:moveTo>
                  <a:lnTo>
                    <a:pt x="10226477" y="0"/>
                  </a:lnTo>
                  <a:lnTo>
                    <a:pt x="10226477" y="513953"/>
                  </a:lnTo>
                  <a:lnTo>
                    <a:pt x="0" y="5139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7" name="TextBox 17"/>
            <p:cNvSpPr/>
            <p:nvPr/>
          </p:nvSpPr>
          <p:spPr>
            <a:xfrm>
              <a:off x="1233360" y="5203440"/>
              <a:ext cx="7669440" cy="46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99"/>
                </a:lnSpc>
              </a:pPr>
              <a:r>
                <a:rPr lang="en-US" sz="18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Evaluates resumes using predefined criteria.</a:t>
              </a:r>
              <a:endParaRPr lang="en-IN" sz="18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8" name="Freeform 18" descr="preencoded.png"/>
          <p:cNvSpPr/>
          <p:nvPr/>
        </p:nvSpPr>
        <p:spPr>
          <a:xfrm>
            <a:off x="9144000" y="3242880"/>
            <a:ext cx="8151480" cy="963720"/>
          </a:xfrm>
          <a:custGeom>
            <a:avLst/>
            <a:gdLst>
              <a:gd name="textAreaLeft" fmla="*/ 0 w 8151480"/>
              <a:gd name="textAreaRight" fmla="*/ 8151840 w 8151480"/>
              <a:gd name="textAreaTop" fmla="*/ 0 h 963720"/>
              <a:gd name="textAreaBottom" fmla="*/ 964080 h 963720"/>
            </a:gdLst>
            <a:ahLst/>
            <a:cxnLst/>
            <a:rect l="textAreaLeft" t="textAreaTop" r="textAreaRight" b="textAreaBottom"/>
            <a:pathLst>
              <a:path w="8151762" h="963960">
                <a:moveTo>
                  <a:pt x="0" y="0"/>
                </a:moveTo>
                <a:lnTo>
                  <a:pt x="8151762" y="0"/>
                </a:lnTo>
                <a:lnTo>
                  <a:pt x="8151762" y="963960"/>
                </a:lnTo>
                <a:lnTo>
                  <a:pt x="0" y="9639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9" name="Group 19"/>
          <p:cNvGrpSpPr/>
          <p:nvPr/>
        </p:nvGrpSpPr>
        <p:grpSpPr>
          <a:xfrm>
            <a:off x="9384840" y="4539600"/>
            <a:ext cx="3834720" cy="499680"/>
            <a:chOff x="9384840" y="4539600"/>
            <a:chExt cx="3834720" cy="499680"/>
          </a:xfrm>
        </p:grpSpPr>
        <p:sp>
          <p:nvSpPr>
            <p:cNvPr id="460" name="Freeform 20"/>
            <p:cNvSpPr/>
            <p:nvPr/>
          </p:nvSpPr>
          <p:spPr>
            <a:xfrm>
              <a:off x="9384840" y="4568400"/>
              <a:ext cx="3834720" cy="470880"/>
            </a:xfrm>
            <a:custGeom>
              <a:avLst/>
              <a:gdLst>
                <a:gd name="textAreaLeft" fmla="*/ 0 w 3834720"/>
                <a:gd name="textAreaRight" fmla="*/ 3835080 w 3834720"/>
                <a:gd name="textAreaTop" fmla="*/ 0 h 470880"/>
                <a:gd name="textAreaBottom" fmla="*/ 471240 h 470880"/>
              </a:gdLst>
              <a:ahLst/>
              <a:cxnLst/>
              <a:rect l="textAreaLeft" t="textAreaTop" r="textAreaRight" b="textAreaBottom"/>
              <a:pathLst>
                <a:path w="5113239" h="628202">
                  <a:moveTo>
                    <a:pt x="0" y="0"/>
                  </a:moveTo>
                  <a:lnTo>
                    <a:pt x="5113239" y="0"/>
                  </a:lnTo>
                  <a:lnTo>
                    <a:pt x="5113239" y="628202"/>
                  </a:lnTo>
                  <a:lnTo>
                    <a:pt x="0" y="62820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TextBox 21"/>
            <p:cNvSpPr/>
            <p:nvPr/>
          </p:nvSpPr>
          <p:spPr>
            <a:xfrm>
              <a:off x="9384840" y="4539600"/>
              <a:ext cx="3834720" cy="49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37"/>
                </a:lnSpc>
              </a:pPr>
              <a:r>
                <a:rPr lang="en-US" sz="231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Key Factors Evaluated</a:t>
              </a:r>
              <a:endParaRPr lang="en-IN" sz="23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2" name="Group 22"/>
          <p:cNvGrpSpPr/>
          <p:nvPr/>
        </p:nvGrpSpPr>
        <p:grpSpPr>
          <a:xfrm>
            <a:off x="9384840" y="5227560"/>
            <a:ext cx="7669440" cy="632520"/>
            <a:chOff x="9384840" y="5227560"/>
            <a:chExt cx="7669440" cy="632520"/>
          </a:xfrm>
        </p:grpSpPr>
        <p:sp>
          <p:nvSpPr>
            <p:cNvPr id="463" name="Freeform 23"/>
            <p:cNvSpPr/>
            <p:nvPr/>
          </p:nvSpPr>
          <p:spPr>
            <a:xfrm>
              <a:off x="9384840" y="5306040"/>
              <a:ext cx="7669440" cy="553680"/>
            </a:xfrm>
            <a:custGeom>
              <a:avLst/>
              <a:gdLst>
                <a:gd name="textAreaLeft" fmla="*/ 0 w 7669440"/>
                <a:gd name="textAreaRight" fmla="*/ 7669800 w 7669440"/>
                <a:gd name="textAreaTop" fmla="*/ 0 h 553680"/>
                <a:gd name="textAreaBottom" fmla="*/ 554040 h 553680"/>
              </a:gdLst>
              <a:ahLst/>
              <a:cxnLst/>
              <a:rect l="textAreaLeft" t="textAreaTop" r="textAreaRight" b="textAreaBottom"/>
              <a:pathLst>
                <a:path w="10226477" h="738834">
                  <a:moveTo>
                    <a:pt x="0" y="0"/>
                  </a:moveTo>
                  <a:lnTo>
                    <a:pt x="10226477" y="0"/>
                  </a:lnTo>
                  <a:lnTo>
                    <a:pt x="10226477" y="738834"/>
                  </a:lnTo>
                  <a:lnTo>
                    <a:pt x="0" y="73883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TextBox 24"/>
            <p:cNvSpPr/>
            <p:nvPr/>
          </p:nvSpPr>
          <p:spPr>
            <a:xfrm>
              <a:off x="9384840" y="5227560"/>
              <a:ext cx="7669440" cy="63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99"/>
                </a:lnSpc>
              </a:pPr>
              <a:r>
                <a:rPr lang="en-US" sz="18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Objective, education, experience, skills, certifications, and projects.</a:t>
              </a:r>
              <a:endParaRPr lang="en-IN" sz="18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5" name="Freeform 25" descr="preencoded.png"/>
          <p:cNvSpPr/>
          <p:nvPr/>
        </p:nvSpPr>
        <p:spPr>
          <a:xfrm>
            <a:off x="992160" y="6462720"/>
            <a:ext cx="8151480" cy="963720"/>
          </a:xfrm>
          <a:custGeom>
            <a:avLst/>
            <a:gdLst>
              <a:gd name="textAreaLeft" fmla="*/ 0 w 8151480"/>
              <a:gd name="textAreaRight" fmla="*/ 8151840 w 8151480"/>
              <a:gd name="textAreaTop" fmla="*/ 0 h 963720"/>
              <a:gd name="textAreaBottom" fmla="*/ 964080 h 963720"/>
            </a:gdLst>
            <a:ahLst/>
            <a:cxnLst/>
            <a:rect l="textAreaLeft" t="textAreaTop" r="textAreaRight" b="textAreaBottom"/>
            <a:pathLst>
              <a:path w="8151762" h="963960">
                <a:moveTo>
                  <a:pt x="0" y="0"/>
                </a:moveTo>
                <a:lnTo>
                  <a:pt x="8151762" y="0"/>
                </a:lnTo>
                <a:lnTo>
                  <a:pt x="8151762" y="963961"/>
                </a:lnTo>
                <a:lnTo>
                  <a:pt x="0" y="9639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66" name="Group 26"/>
          <p:cNvGrpSpPr/>
          <p:nvPr/>
        </p:nvGrpSpPr>
        <p:grpSpPr>
          <a:xfrm>
            <a:off x="1233360" y="7759440"/>
            <a:ext cx="4173480" cy="499680"/>
            <a:chOff x="1233360" y="7759440"/>
            <a:chExt cx="4173480" cy="499680"/>
          </a:xfrm>
        </p:grpSpPr>
        <p:sp>
          <p:nvSpPr>
            <p:cNvPr id="467" name="Freeform 27"/>
            <p:cNvSpPr/>
            <p:nvPr/>
          </p:nvSpPr>
          <p:spPr>
            <a:xfrm>
              <a:off x="1233360" y="7788240"/>
              <a:ext cx="4173480" cy="470880"/>
            </a:xfrm>
            <a:custGeom>
              <a:avLst/>
              <a:gdLst>
                <a:gd name="textAreaLeft" fmla="*/ 0 w 4173480"/>
                <a:gd name="textAreaRight" fmla="*/ 4173840 w 4173480"/>
                <a:gd name="textAreaTop" fmla="*/ 0 h 470880"/>
                <a:gd name="textAreaBottom" fmla="*/ 471240 h 470880"/>
              </a:gdLst>
              <a:ahLst/>
              <a:cxnLst/>
              <a:rect l="textAreaLeft" t="textAreaTop" r="textAreaRight" b="textAreaBottom"/>
              <a:pathLst>
                <a:path w="5565180" h="628202">
                  <a:moveTo>
                    <a:pt x="0" y="0"/>
                  </a:moveTo>
                  <a:lnTo>
                    <a:pt x="5565180" y="0"/>
                  </a:lnTo>
                  <a:lnTo>
                    <a:pt x="5565180" y="628202"/>
                  </a:lnTo>
                  <a:lnTo>
                    <a:pt x="0" y="62820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TextBox 28"/>
            <p:cNvSpPr/>
            <p:nvPr/>
          </p:nvSpPr>
          <p:spPr>
            <a:xfrm>
              <a:off x="1233360" y="7759440"/>
              <a:ext cx="4173480" cy="49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37"/>
                </a:lnSpc>
              </a:pPr>
              <a:r>
                <a:rPr lang="en-US" sz="23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Natural Language Processing</a:t>
              </a:r>
              <a:endParaRPr lang="en-IN" sz="23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9" name="Group 29"/>
          <p:cNvGrpSpPr/>
          <p:nvPr/>
        </p:nvGrpSpPr>
        <p:grpSpPr>
          <a:xfrm>
            <a:off x="1233360" y="8542800"/>
            <a:ext cx="7669440" cy="849240"/>
            <a:chOff x="1233360" y="8542800"/>
            <a:chExt cx="7669440" cy="849240"/>
          </a:xfrm>
        </p:grpSpPr>
        <p:sp>
          <p:nvSpPr>
            <p:cNvPr id="470" name="Freeform 30"/>
            <p:cNvSpPr/>
            <p:nvPr/>
          </p:nvSpPr>
          <p:spPr>
            <a:xfrm>
              <a:off x="1233360" y="8621280"/>
              <a:ext cx="7669440" cy="770400"/>
            </a:xfrm>
            <a:custGeom>
              <a:avLst/>
              <a:gdLst>
                <a:gd name="textAreaLeft" fmla="*/ 0 w 7669440"/>
                <a:gd name="textAreaRight" fmla="*/ 7669800 w 7669440"/>
                <a:gd name="textAreaTop" fmla="*/ 0 h 770400"/>
                <a:gd name="textAreaBottom" fmla="*/ 770760 h 770400"/>
              </a:gdLst>
              <a:ahLst/>
              <a:cxnLst/>
              <a:rect l="textAreaLeft" t="textAreaTop" r="textAreaRight" b="textAreaBottom"/>
              <a:pathLst>
                <a:path w="10226477" h="1027907">
                  <a:moveTo>
                    <a:pt x="0" y="0"/>
                  </a:moveTo>
                  <a:lnTo>
                    <a:pt x="10226477" y="0"/>
                  </a:lnTo>
                  <a:lnTo>
                    <a:pt x="10226477" y="1027907"/>
                  </a:lnTo>
                  <a:lnTo>
                    <a:pt x="0" y="10279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TextBox 31"/>
            <p:cNvSpPr/>
            <p:nvPr/>
          </p:nvSpPr>
          <p:spPr>
            <a:xfrm>
              <a:off x="1233360" y="8542800"/>
              <a:ext cx="7669440" cy="84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99"/>
                </a:lnSpc>
              </a:pPr>
              <a:r>
                <a:rPr lang="en-US" sz="18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Utilizes NLP techniques to extract structured data from unstructured resume text.</a:t>
              </a:r>
              <a:endParaRPr lang="en-IN" sz="18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2" name="Freeform 32" descr="preencoded.png"/>
          <p:cNvSpPr/>
          <p:nvPr/>
        </p:nvSpPr>
        <p:spPr>
          <a:xfrm>
            <a:off x="9144000" y="6462720"/>
            <a:ext cx="8151480" cy="963720"/>
          </a:xfrm>
          <a:custGeom>
            <a:avLst/>
            <a:gdLst>
              <a:gd name="textAreaLeft" fmla="*/ 0 w 8151480"/>
              <a:gd name="textAreaRight" fmla="*/ 8151840 w 8151480"/>
              <a:gd name="textAreaTop" fmla="*/ 0 h 963720"/>
              <a:gd name="textAreaBottom" fmla="*/ 964080 h 963720"/>
            </a:gdLst>
            <a:ahLst/>
            <a:cxnLst/>
            <a:rect l="textAreaLeft" t="textAreaTop" r="textAreaRight" b="textAreaBottom"/>
            <a:pathLst>
              <a:path w="8151762" h="963960">
                <a:moveTo>
                  <a:pt x="0" y="0"/>
                </a:moveTo>
                <a:lnTo>
                  <a:pt x="8151762" y="0"/>
                </a:lnTo>
                <a:lnTo>
                  <a:pt x="8151762" y="963961"/>
                </a:lnTo>
                <a:lnTo>
                  <a:pt x="0" y="9639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73" name="Group 33"/>
          <p:cNvGrpSpPr/>
          <p:nvPr/>
        </p:nvGrpSpPr>
        <p:grpSpPr>
          <a:xfrm>
            <a:off x="9384840" y="7759440"/>
            <a:ext cx="3012120" cy="499680"/>
            <a:chOff x="9384840" y="7759440"/>
            <a:chExt cx="3012120" cy="499680"/>
          </a:xfrm>
        </p:grpSpPr>
        <p:sp>
          <p:nvSpPr>
            <p:cNvPr id="474" name="Freeform 34"/>
            <p:cNvSpPr/>
            <p:nvPr/>
          </p:nvSpPr>
          <p:spPr>
            <a:xfrm>
              <a:off x="9384840" y="7788240"/>
              <a:ext cx="3012120" cy="470880"/>
            </a:xfrm>
            <a:custGeom>
              <a:avLst/>
              <a:gdLst>
                <a:gd name="textAreaLeft" fmla="*/ 0 w 3012120"/>
                <a:gd name="textAreaRight" fmla="*/ 3012480 w 3012120"/>
                <a:gd name="textAreaTop" fmla="*/ 0 h 470880"/>
                <a:gd name="textAreaBottom" fmla="*/ 471240 h 470880"/>
              </a:gdLst>
              <a:ahLst/>
              <a:cxnLst/>
              <a:rect l="textAreaLeft" t="textAreaTop" r="textAreaRight" b="textAreaBottom"/>
              <a:pathLst>
                <a:path w="4016573" h="628202">
                  <a:moveTo>
                    <a:pt x="0" y="0"/>
                  </a:moveTo>
                  <a:lnTo>
                    <a:pt x="4016573" y="0"/>
                  </a:lnTo>
                  <a:lnTo>
                    <a:pt x="4016573" y="628202"/>
                  </a:lnTo>
                  <a:lnTo>
                    <a:pt x="0" y="62820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TextBox 35"/>
            <p:cNvSpPr/>
            <p:nvPr/>
          </p:nvSpPr>
          <p:spPr>
            <a:xfrm>
              <a:off x="9384840" y="7759440"/>
              <a:ext cx="3012120" cy="49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37"/>
                </a:lnSpc>
              </a:pPr>
              <a:r>
                <a:rPr lang="en-US" sz="231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Tools Used</a:t>
              </a:r>
              <a:endParaRPr lang="en-IN" sz="23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6" name="Group 36"/>
          <p:cNvGrpSpPr/>
          <p:nvPr/>
        </p:nvGrpSpPr>
        <p:grpSpPr>
          <a:xfrm>
            <a:off x="9384840" y="8542800"/>
            <a:ext cx="7669440" cy="513720"/>
            <a:chOff x="9384840" y="8542800"/>
            <a:chExt cx="7669440" cy="513720"/>
          </a:xfrm>
        </p:grpSpPr>
        <p:sp>
          <p:nvSpPr>
            <p:cNvPr id="477" name="Freeform 37"/>
            <p:cNvSpPr/>
            <p:nvPr/>
          </p:nvSpPr>
          <p:spPr>
            <a:xfrm>
              <a:off x="9384840" y="8621280"/>
              <a:ext cx="7669440" cy="434880"/>
            </a:xfrm>
            <a:custGeom>
              <a:avLst/>
              <a:gdLst>
                <a:gd name="textAreaLeft" fmla="*/ 0 w 7669440"/>
                <a:gd name="textAreaRight" fmla="*/ 7669800 w 7669440"/>
                <a:gd name="textAreaTop" fmla="*/ 0 h 434880"/>
                <a:gd name="textAreaBottom" fmla="*/ 435240 h 434880"/>
              </a:gdLst>
              <a:ahLst/>
              <a:cxnLst/>
              <a:rect l="textAreaLeft" t="textAreaTop" r="textAreaRight" b="textAreaBottom"/>
              <a:pathLst>
                <a:path w="10226477" h="580479">
                  <a:moveTo>
                    <a:pt x="0" y="0"/>
                  </a:moveTo>
                  <a:lnTo>
                    <a:pt x="10226477" y="0"/>
                  </a:lnTo>
                  <a:lnTo>
                    <a:pt x="10226477" y="580479"/>
                  </a:lnTo>
                  <a:lnTo>
                    <a:pt x="0" y="580479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TextBox 38"/>
            <p:cNvSpPr/>
            <p:nvPr/>
          </p:nvSpPr>
          <p:spPr>
            <a:xfrm>
              <a:off x="9384840" y="8542800"/>
              <a:ext cx="7669440" cy="51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99"/>
                </a:lnSpc>
              </a:pPr>
              <a:r>
                <a:rPr lang="en-US" sz="18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Python libraries like Pyresparser, Pdfminer3, and Pandas.</a:t>
              </a:r>
              <a:endParaRPr lang="en-IN" sz="18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Freeform 2" descr="preencoded.png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0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481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2" name="Group 5"/>
          <p:cNvGrpSpPr/>
          <p:nvPr/>
        </p:nvGrpSpPr>
        <p:grpSpPr>
          <a:xfrm>
            <a:off x="991440" y="1021680"/>
            <a:ext cx="9568440" cy="1244520"/>
            <a:chOff x="991440" y="1021680"/>
            <a:chExt cx="9568440" cy="1244520"/>
          </a:xfrm>
        </p:grpSpPr>
        <p:sp>
          <p:nvSpPr>
            <p:cNvPr id="483" name="Freeform 6"/>
            <p:cNvSpPr/>
            <p:nvPr/>
          </p:nvSpPr>
          <p:spPr>
            <a:xfrm>
              <a:off x="991440" y="1036080"/>
              <a:ext cx="9568440" cy="1230120"/>
            </a:xfrm>
            <a:custGeom>
              <a:avLst/>
              <a:gdLst>
                <a:gd name="textAreaLeft" fmla="*/ 0 w 9568440"/>
                <a:gd name="textAreaRight" fmla="*/ 9568800 w 9568440"/>
                <a:gd name="textAreaTop" fmla="*/ 0 h 1230120"/>
                <a:gd name="textAreaBottom" fmla="*/ 1230480 h 1230120"/>
              </a:gdLst>
              <a:ahLst/>
              <a:cxnLst/>
              <a:rect l="textAreaLeft" t="textAreaTop" r="textAreaRight" b="textAreaBottom"/>
              <a:pathLst>
                <a:path w="12758408" h="1640651">
                  <a:moveTo>
                    <a:pt x="0" y="0"/>
                  </a:moveTo>
                  <a:lnTo>
                    <a:pt x="12758408" y="0"/>
                  </a:lnTo>
                  <a:lnTo>
                    <a:pt x="12758408" y="1640651"/>
                  </a:lnTo>
                  <a:lnTo>
                    <a:pt x="0" y="1640651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TextBox 7"/>
            <p:cNvSpPr/>
            <p:nvPr/>
          </p:nvSpPr>
          <p:spPr>
            <a:xfrm>
              <a:off x="991440" y="1021680"/>
              <a:ext cx="9568440" cy="12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5890"/>
                </a:lnSpc>
              </a:pPr>
              <a:r>
                <a:rPr lang="en-US" sz="4700" b="0" u="none" strike="noStrike">
                  <a:solidFill>
                    <a:srgbClr val="1b1b27"/>
                  </a:solidFill>
                  <a:effectLst/>
                  <a:uFillTx/>
                  <a:latin typeface="Corben"/>
                  <a:ea typeface="Corben"/>
                </a:rPr>
                <a:t>FUTURE  ENHANCEMENTS </a:t>
              </a:r>
              <a:endParaRPr lang="en-IN" sz="4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5" name="Freeform 8" descr="preencoded.png"/>
          <p:cNvSpPr/>
          <p:nvPr/>
        </p:nvSpPr>
        <p:spPr>
          <a:xfrm>
            <a:off x="1028880" y="3371400"/>
            <a:ext cx="1203480" cy="1771560"/>
          </a:xfrm>
          <a:custGeom>
            <a:avLst/>
            <a:gdLst>
              <a:gd name="textAreaLeft" fmla="*/ 0 w 1203480"/>
              <a:gd name="textAreaRight" fmla="*/ 1203840 w 1203480"/>
              <a:gd name="textAreaTop" fmla="*/ 0 h 1771560"/>
              <a:gd name="textAreaBottom" fmla="*/ 1771920 h 1771560"/>
            </a:gdLst>
            <a:ahLst/>
            <a:cxnLst/>
            <a:rect l="textAreaLeft" t="textAreaTop" r="textAreaRight" b="textAreaBottom"/>
            <a:pathLst>
              <a:path w="1203871" h="1772096">
                <a:moveTo>
                  <a:pt x="0" y="0"/>
                </a:moveTo>
                <a:lnTo>
                  <a:pt x="1203871" y="0"/>
                </a:lnTo>
                <a:lnTo>
                  <a:pt x="1203871" y="1772096"/>
                </a:lnTo>
                <a:lnTo>
                  <a:pt x="0" y="17720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6" name="Group 9"/>
          <p:cNvGrpSpPr/>
          <p:nvPr/>
        </p:nvGrpSpPr>
        <p:grpSpPr>
          <a:xfrm>
            <a:off x="2556360" y="3342960"/>
            <a:ext cx="4730040" cy="634680"/>
            <a:chOff x="2556360" y="3342960"/>
            <a:chExt cx="4730040" cy="634680"/>
          </a:xfrm>
        </p:grpSpPr>
        <p:sp>
          <p:nvSpPr>
            <p:cNvPr id="487" name="Freeform 10"/>
            <p:cNvSpPr/>
            <p:nvPr/>
          </p:nvSpPr>
          <p:spPr>
            <a:xfrm>
              <a:off x="2556360" y="3371400"/>
              <a:ext cx="4730040" cy="605880"/>
            </a:xfrm>
            <a:custGeom>
              <a:avLst/>
              <a:gdLst>
                <a:gd name="textAreaLeft" fmla="*/ 0 w 4730040"/>
                <a:gd name="textAreaRight" fmla="*/ 4730400 w 473004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6307327" h="808507">
                  <a:moveTo>
                    <a:pt x="0" y="0"/>
                  </a:moveTo>
                  <a:lnTo>
                    <a:pt x="6307327" y="0"/>
                  </a:lnTo>
                  <a:lnTo>
                    <a:pt x="6307327" y="808507"/>
                  </a:lnTo>
                  <a:lnTo>
                    <a:pt x="0" y="808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8" name="TextBox 11"/>
            <p:cNvSpPr/>
            <p:nvPr/>
          </p:nvSpPr>
          <p:spPr>
            <a:xfrm>
              <a:off x="2556360" y="3342960"/>
              <a:ext cx="4730040" cy="63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37"/>
                </a:lnSpc>
              </a:pPr>
              <a:r>
                <a:rPr lang="en-US" sz="23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Structured Resume Template</a:t>
              </a:r>
              <a:endParaRPr lang="en-IN" sz="23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9" name="Group 12"/>
          <p:cNvGrpSpPr/>
          <p:nvPr/>
        </p:nvGrpSpPr>
        <p:grpSpPr>
          <a:xfrm>
            <a:off x="2556360" y="4151160"/>
            <a:ext cx="14740200" cy="911880"/>
            <a:chOff x="2556360" y="4151160"/>
            <a:chExt cx="14740200" cy="911880"/>
          </a:xfrm>
        </p:grpSpPr>
        <p:sp>
          <p:nvSpPr>
            <p:cNvPr id="490" name="Freeform 13"/>
            <p:cNvSpPr/>
            <p:nvPr/>
          </p:nvSpPr>
          <p:spPr>
            <a:xfrm>
              <a:off x="2556360" y="4222800"/>
              <a:ext cx="14740200" cy="840240"/>
            </a:xfrm>
            <a:custGeom>
              <a:avLst/>
              <a:gdLst>
                <a:gd name="textAreaLeft" fmla="*/ 0 w 14740200"/>
                <a:gd name="textAreaRight" fmla="*/ 14740560 w 14740200"/>
                <a:gd name="textAreaTop" fmla="*/ 0 h 840240"/>
                <a:gd name="textAreaBottom" fmla="*/ 840600 h 840240"/>
              </a:gdLst>
              <a:ahLst/>
              <a:cxnLst/>
              <a:rect l="textAreaLeft" t="textAreaTop" r="textAreaRight" b="textAreaBottom"/>
              <a:pathLst>
                <a:path w="19653845" h="1120997">
                  <a:moveTo>
                    <a:pt x="0" y="0"/>
                  </a:moveTo>
                  <a:lnTo>
                    <a:pt x="19653845" y="0"/>
                  </a:lnTo>
                  <a:lnTo>
                    <a:pt x="19653845" y="1120997"/>
                  </a:lnTo>
                  <a:lnTo>
                    <a:pt x="0" y="112099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1" name="TextBox 14"/>
            <p:cNvSpPr/>
            <p:nvPr/>
          </p:nvSpPr>
          <p:spPr>
            <a:xfrm>
              <a:off x="2556360" y="4151160"/>
              <a:ext cx="14740200" cy="91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319"/>
                </a:lnSpc>
              </a:pPr>
              <a:r>
                <a:rPr lang="en-US" sz="20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Future versions will include a built-in template where users can input their details to generate a well-formatted, optimized resume.</a:t>
              </a:r>
              <a:endParaRPr lang="en-IN" sz="20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2" name="Freeform 15" descr="preencoded.png"/>
          <p:cNvSpPr/>
          <p:nvPr/>
        </p:nvSpPr>
        <p:spPr>
          <a:xfrm>
            <a:off x="991440" y="6251040"/>
            <a:ext cx="1203480" cy="1694520"/>
          </a:xfrm>
          <a:custGeom>
            <a:avLst/>
            <a:gdLst>
              <a:gd name="textAreaLeft" fmla="*/ 0 w 1203480"/>
              <a:gd name="textAreaRight" fmla="*/ 1203840 w 1203480"/>
              <a:gd name="textAreaTop" fmla="*/ 0 h 1694520"/>
              <a:gd name="textAreaBottom" fmla="*/ 1694880 h 1694520"/>
            </a:gdLst>
            <a:ahLst/>
            <a:cxnLst/>
            <a:rect l="textAreaLeft" t="textAreaTop" r="textAreaRight" b="textAreaBottom"/>
            <a:pathLst>
              <a:path w="1203871" h="1694778">
                <a:moveTo>
                  <a:pt x="0" y="0"/>
                </a:moveTo>
                <a:lnTo>
                  <a:pt x="1203871" y="0"/>
                </a:lnTo>
                <a:lnTo>
                  <a:pt x="1203871" y="1694777"/>
                </a:lnTo>
                <a:lnTo>
                  <a:pt x="0" y="16947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93" name="Group 16"/>
          <p:cNvGrpSpPr/>
          <p:nvPr/>
        </p:nvGrpSpPr>
        <p:grpSpPr>
          <a:xfrm>
            <a:off x="2556360" y="6222600"/>
            <a:ext cx="4043520" cy="634680"/>
            <a:chOff x="2556360" y="6222600"/>
            <a:chExt cx="4043520" cy="634680"/>
          </a:xfrm>
        </p:grpSpPr>
        <p:sp>
          <p:nvSpPr>
            <p:cNvPr id="494" name="Freeform 17"/>
            <p:cNvSpPr/>
            <p:nvPr/>
          </p:nvSpPr>
          <p:spPr>
            <a:xfrm>
              <a:off x="2556360" y="6251040"/>
              <a:ext cx="4043520" cy="605880"/>
            </a:xfrm>
            <a:custGeom>
              <a:avLst/>
              <a:gdLst>
                <a:gd name="textAreaLeft" fmla="*/ 0 w 4043520"/>
                <a:gd name="textAreaRight" fmla="*/ 4043880 w 404352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5391943" h="808507">
                  <a:moveTo>
                    <a:pt x="0" y="0"/>
                  </a:moveTo>
                  <a:lnTo>
                    <a:pt x="5391943" y="0"/>
                  </a:lnTo>
                  <a:lnTo>
                    <a:pt x="5391943" y="808507"/>
                  </a:lnTo>
                  <a:lnTo>
                    <a:pt x="0" y="80850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5" name="TextBox 18"/>
            <p:cNvSpPr/>
            <p:nvPr/>
          </p:nvSpPr>
          <p:spPr>
            <a:xfrm>
              <a:off x="2556360" y="6222600"/>
              <a:ext cx="4043520" cy="63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937"/>
                </a:lnSpc>
              </a:pPr>
              <a:r>
                <a:rPr lang="en-US" sz="2310" b="1" u="none" strike="noStrike">
                  <a:solidFill>
                    <a:srgbClr val="175880"/>
                  </a:solidFill>
                  <a:effectLst/>
                  <a:uFillTx/>
                  <a:latin typeface="Arimo Bold"/>
                  <a:ea typeface="Arimo Bold"/>
                </a:rPr>
                <a:t>Job Portal Integration</a:t>
              </a:r>
              <a:endParaRPr lang="en-IN" sz="23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96" name="Group 19"/>
          <p:cNvGrpSpPr/>
          <p:nvPr/>
        </p:nvGrpSpPr>
        <p:grpSpPr>
          <a:xfrm>
            <a:off x="2556360" y="7033680"/>
            <a:ext cx="14740200" cy="911880"/>
            <a:chOff x="2556360" y="7033680"/>
            <a:chExt cx="14740200" cy="911880"/>
          </a:xfrm>
        </p:grpSpPr>
        <p:sp>
          <p:nvSpPr>
            <p:cNvPr id="497" name="Freeform 20"/>
            <p:cNvSpPr/>
            <p:nvPr/>
          </p:nvSpPr>
          <p:spPr>
            <a:xfrm>
              <a:off x="2556360" y="7104960"/>
              <a:ext cx="14740200" cy="840240"/>
            </a:xfrm>
            <a:custGeom>
              <a:avLst/>
              <a:gdLst>
                <a:gd name="textAreaLeft" fmla="*/ 0 w 14740200"/>
                <a:gd name="textAreaRight" fmla="*/ 14740560 w 14740200"/>
                <a:gd name="textAreaTop" fmla="*/ 0 h 840240"/>
                <a:gd name="textAreaBottom" fmla="*/ 840600 h 840240"/>
              </a:gdLst>
              <a:ahLst/>
              <a:cxnLst/>
              <a:rect l="textAreaLeft" t="textAreaTop" r="textAreaRight" b="textAreaBottom"/>
              <a:pathLst>
                <a:path w="19653845" h="1120997">
                  <a:moveTo>
                    <a:pt x="0" y="0"/>
                  </a:moveTo>
                  <a:lnTo>
                    <a:pt x="19653845" y="0"/>
                  </a:lnTo>
                  <a:lnTo>
                    <a:pt x="19653845" y="1120997"/>
                  </a:lnTo>
                  <a:lnTo>
                    <a:pt x="0" y="112099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TextBox 21"/>
            <p:cNvSpPr/>
            <p:nvPr/>
          </p:nvSpPr>
          <p:spPr>
            <a:xfrm>
              <a:off x="2556360" y="7033680"/>
              <a:ext cx="14740200" cy="91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319"/>
                </a:lnSpc>
              </a:pPr>
              <a:r>
                <a:rPr lang="en-US" sz="20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The system will integrate job listings from multiple job portals, providing candidates with a wider variety of job opportunities.</a:t>
              </a:r>
              <a:endParaRPr lang="en-IN" sz="20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Freeform 2" descr="preencoded.png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0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501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2" name="Group 5"/>
          <p:cNvGrpSpPr/>
          <p:nvPr/>
        </p:nvGrpSpPr>
        <p:grpSpPr>
          <a:xfrm>
            <a:off x="991440" y="766080"/>
            <a:ext cx="9568440" cy="1244520"/>
            <a:chOff x="991440" y="766080"/>
            <a:chExt cx="9568440" cy="1244520"/>
          </a:xfrm>
        </p:grpSpPr>
        <p:sp>
          <p:nvSpPr>
            <p:cNvPr id="503" name="Freeform 6"/>
            <p:cNvSpPr/>
            <p:nvPr/>
          </p:nvSpPr>
          <p:spPr>
            <a:xfrm>
              <a:off x="991440" y="780480"/>
              <a:ext cx="9568440" cy="1230120"/>
            </a:xfrm>
            <a:custGeom>
              <a:avLst/>
              <a:gdLst>
                <a:gd name="textAreaLeft" fmla="*/ 0 w 9568440"/>
                <a:gd name="textAreaRight" fmla="*/ 9568800 w 9568440"/>
                <a:gd name="textAreaTop" fmla="*/ 0 h 1230120"/>
                <a:gd name="textAreaBottom" fmla="*/ 1230480 h 1230120"/>
              </a:gdLst>
              <a:ahLst/>
              <a:cxnLst/>
              <a:rect l="textAreaLeft" t="textAreaTop" r="textAreaRight" b="textAreaBottom"/>
              <a:pathLst>
                <a:path w="12758408" h="1640651">
                  <a:moveTo>
                    <a:pt x="0" y="0"/>
                  </a:moveTo>
                  <a:lnTo>
                    <a:pt x="12758408" y="0"/>
                  </a:lnTo>
                  <a:lnTo>
                    <a:pt x="12758408" y="1640651"/>
                  </a:lnTo>
                  <a:lnTo>
                    <a:pt x="0" y="1640651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TextBox 7"/>
            <p:cNvSpPr/>
            <p:nvPr/>
          </p:nvSpPr>
          <p:spPr>
            <a:xfrm>
              <a:off x="991440" y="766080"/>
              <a:ext cx="9568440" cy="12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5890"/>
                </a:lnSpc>
              </a:pPr>
              <a:r>
                <a:rPr lang="en-US" sz="4700" b="0" u="none" strike="noStrike">
                  <a:solidFill>
                    <a:srgbClr val="1b1b27"/>
                  </a:solidFill>
                  <a:effectLst/>
                  <a:uFillTx/>
                  <a:latin typeface="Corben"/>
                  <a:ea typeface="Corben"/>
                </a:rPr>
                <a:t> CONCLUSION</a:t>
              </a:r>
              <a:endParaRPr lang="en-IN" sz="4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05" name="Freeform 8" descr="preencoded.png"/>
          <p:cNvSpPr/>
          <p:nvPr/>
        </p:nvSpPr>
        <p:spPr>
          <a:xfrm flipV="1" rot="10800000">
            <a:off x="16657920" y="-783000"/>
            <a:ext cx="1203480" cy="3622680"/>
          </a:xfrm>
          <a:custGeom>
            <a:avLst/>
            <a:gdLst>
              <a:gd name="textAreaLeft" fmla="*/ 0 w 1203480"/>
              <a:gd name="textAreaRight" fmla="*/ 1203840 w 1203480"/>
              <a:gd name="textAreaTop" fmla="*/ -360 h 3622680"/>
              <a:gd name="textAreaBottom" fmla="*/ 3622680 h 3622680"/>
            </a:gdLst>
            <a:ahLst/>
            <a:cxnLst/>
            <a:rect l="textAreaLeft" t="textAreaTop" r="textAreaRight" b="textAreaBottom"/>
            <a:pathLst>
              <a:path w="1203871" h="3623174">
                <a:moveTo>
                  <a:pt x="0" y="3623174"/>
                </a:moveTo>
                <a:lnTo>
                  <a:pt x="1203872" y="3623174"/>
                </a:lnTo>
                <a:lnTo>
                  <a:pt x="1203872" y="0"/>
                </a:lnTo>
                <a:lnTo>
                  <a:pt x="0" y="0"/>
                </a:lnTo>
                <a:lnTo>
                  <a:pt x="0" y="3623174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6" name="Group 9"/>
          <p:cNvGrpSpPr/>
          <p:nvPr/>
        </p:nvGrpSpPr>
        <p:grpSpPr>
          <a:xfrm>
            <a:off x="1592640" y="3071520"/>
            <a:ext cx="14740200" cy="492840"/>
            <a:chOff x="1592640" y="3071520"/>
            <a:chExt cx="14740200" cy="492840"/>
          </a:xfrm>
        </p:grpSpPr>
        <p:sp>
          <p:nvSpPr>
            <p:cNvPr id="507" name="Freeform 10"/>
            <p:cNvSpPr/>
            <p:nvPr/>
          </p:nvSpPr>
          <p:spPr>
            <a:xfrm>
              <a:off x="1592640" y="3143160"/>
              <a:ext cx="14740200" cy="421200"/>
            </a:xfrm>
            <a:custGeom>
              <a:avLst/>
              <a:gdLst>
                <a:gd name="textAreaLeft" fmla="*/ 0 w 14740200"/>
                <a:gd name="textAreaRight" fmla="*/ 14740560 w 14740200"/>
                <a:gd name="textAreaTop" fmla="*/ 0 h 421200"/>
                <a:gd name="textAreaBottom" fmla="*/ 421560 h 421200"/>
              </a:gdLst>
              <a:ahLst/>
              <a:cxnLst/>
              <a:rect l="textAreaLeft" t="textAreaTop" r="textAreaRight" b="textAreaBottom"/>
              <a:pathLst>
                <a:path w="19653845" h="562197">
                  <a:moveTo>
                    <a:pt x="0" y="0"/>
                  </a:moveTo>
                  <a:lnTo>
                    <a:pt x="19653845" y="0"/>
                  </a:lnTo>
                  <a:lnTo>
                    <a:pt x="19653845" y="562197"/>
                  </a:lnTo>
                  <a:lnTo>
                    <a:pt x="0" y="56219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TextBox 11"/>
            <p:cNvSpPr/>
            <p:nvPr/>
          </p:nvSpPr>
          <p:spPr>
            <a:xfrm>
              <a:off x="1592640" y="3071520"/>
              <a:ext cx="14740200" cy="49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447840" lvl="1" indent="-223920" defTabSz="914400">
                <a:lnSpc>
                  <a:spcPts val="3319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The development of the AI Resume Analyzer represents a major advancement in modernizing the hiring process.</a:t>
              </a:r>
              <a:endParaRPr lang="en-IN" sz="20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9" name="Group 12"/>
          <p:cNvGrpSpPr/>
          <p:nvPr/>
        </p:nvGrpSpPr>
        <p:grpSpPr>
          <a:xfrm>
            <a:off x="1592640" y="3978720"/>
            <a:ext cx="14740200" cy="911880"/>
            <a:chOff x="1592640" y="3978720"/>
            <a:chExt cx="14740200" cy="911880"/>
          </a:xfrm>
        </p:grpSpPr>
        <p:sp>
          <p:nvSpPr>
            <p:cNvPr id="510" name="Freeform 13"/>
            <p:cNvSpPr/>
            <p:nvPr/>
          </p:nvSpPr>
          <p:spPr>
            <a:xfrm>
              <a:off x="1592640" y="4050360"/>
              <a:ext cx="14740200" cy="840240"/>
            </a:xfrm>
            <a:custGeom>
              <a:avLst/>
              <a:gdLst>
                <a:gd name="textAreaLeft" fmla="*/ 0 w 14740200"/>
                <a:gd name="textAreaRight" fmla="*/ 14740560 w 14740200"/>
                <a:gd name="textAreaTop" fmla="*/ 0 h 840240"/>
                <a:gd name="textAreaBottom" fmla="*/ 840600 h 840240"/>
              </a:gdLst>
              <a:ahLst/>
              <a:cxnLst/>
              <a:rect l="textAreaLeft" t="textAreaTop" r="textAreaRight" b="textAreaBottom"/>
              <a:pathLst>
                <a:path w="19653845" h="1120997">
                  <a:moveTo>
                    <a:pt x="0" y="0"/>
                  </a:moveTo>
                  <a:lnTo>
                    <a:pt x="19653845" y="0"/>
                  </a:lnTo>
                  <a:lnTo>
                    <a:pt x="19653845" y="1120997"/>
                  </a:lnTo>
                  <a:lnTo>
                    <a:pt x="0" y="112099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TextBox 14"/>
            <p:cNvSpPr/>
            <p:nvPr/>
          </p:nvSpPr>
          <p:spPr>
            <a:xfrm>
              <a:off x="1592640" y="3978720"/>
              <a:ext cx="14740200" cy="91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447840" lvl="1" indent="-223920" defTabSz="914400">
                <a:lnSpc>
                  <a:spcPts val="3319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By utilizing Natural Language Processing (NLP) and Rule-Based Algorithms, the system allows recruiters to evaluate resumes efficiently, with increased accuracy and consistency.</a:t>
              </a:r>
              <a:endParaRPr lang="en-IN" sz="20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2" name="Group 15"/>
          <p:cNvGrpSpPr/>
          <p:nvPr/>
        </p:nvGrpSpPr>
        <p:grpSpPr>
          <a:xfrm>
            <a:off x="1592640" y="5305320"/>
            <a:ext cx="14740200" cy="492840"/>
            <a:chOff x="1592640" y="5305320"/>
            <a:chExt cx="14740200" cy="492840"/>
          </a:xfrm>
        </p:grpSpPr>
        <p:sp>
          <p:nvSpPr>
            <p:cNvPr id="513" name="Freeform 16"/>
            <p:cNvSpPr/>
            <p:nvPr/>
          </p:nvSpPr>
          <p:spPr>
            <a:xfrm>
              <a:off x="1592640" y="5376960"/>
              <a:ext cx="14740200" cy="421200"/>
            </a:xfrm>
            <a:custGeom>
              <a:avLst/>
              <a:gdLst>
                <a:gd name="textAreaLeft" fmla="*/ 0 w 14740200"/>
                <a:gd name="textAreaRight" fmla="*/ 14740560 w 14740200"/>
                <a:gd name="textAreaTop" fmla="*/ 0 h 421200"/>
                <a:gd name="textAreaBottom" fmla="*/ 421560 h 421200"/>
              </a:gdLst>
              <a:ahLst/>
              <a:cxnLst/>
              <a:rect l="textAreaLeft" t="textAreaTop" r="textAreaRight" b="textAreaBottom"/>
              <a:pathLst>
                <a:path w="19653845" h="562197">
                  <a:moveTo>
                    <a:pt x="0" y="0"/>
                  </a:moveTo>
                  <a:lnTo>
                    <a:pt x="19653845" y="0"/>
                  </a:lnTo>
                  <a:lnTo>
                    <a:pt x="19653845" y="562197"/>
                  </a:lnTo>
                  <a:lnTo>
                    <a:pt x="0" y="56219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4" name="TextBox 17"/>
            <p:cNvSpPr/>
            <p:nvPr/>
          </p:nvSpPr>
          <p:spPr>
            <a:xfrm>
              <a:off x="1592640" y="5305320"/>
              <a:ext cx="14740200" cy="49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447840" lvl="1" indent="-223920" defTabSz="914400">
                <a:lnSpc>
                  <a:spcPts val="3319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It ensures a balanced candidate selection process, minimizing biases and promoting equity in hiring decisions.</a:t>
              </a:r>
              <a:endParaRPr lang="en-IN" sz="20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5" name="Group 18"/>
          <p:cNvGrpSpPr/>
          <p:nvPr/>
        </p:nvGrpSpPr>
        <p:grpSpPr>
          <a:xfrm>
            <a:off x="1592640" y="6212880"/>
            <a:ext cx="14740200" cy="911880"/>
            <a:chOff x="1592640" y="6212880"/>
            <a:chExt cx="14740200" cy="911880"/>
          </a:xfrm>
        </p:grpSpPr>
        <p:sp>
          <p:nvSpPr>
            <p:cNvPr id="516" name="Freeform 19"/>
            <p:cNvSpPr/>
            <p:nvPr/>
          </p:nvSpPr>
          <p:spPr>
            <a:xfrm>
              <a:off x="1592640" y="6284160"/>
              <a:ext cx="14740200" cy="840240"/>
            </a:xfrm>
            <a:custGeom>
              <a:avLst/>
              <a:gdLst>
                <a:gd name="textAreaLeft" fmla="*/ 0 w 14740200"/>
                <a:gd name="textAreaRight" fmla="*/ 14740560 w 14740200"/>
                <a:gd name="textAreaTop" fmla="*/ 0 h 840240"/>
                <a:gd name="textAreaBottom" fmla="*/ 840600 h 840240"/>
              </a:gdLst>
              <a:ahLst/>
              <a:cxnLst/>
              <a:rect l="textAreaLeft" t="textAreaTop" r="textAreaRight" b="textAreaBottom"/>
              <a:pathLst>
                <a:path w="19653845" h="1120997">
                  <a:moveTo>
                    <a:pt x="0" y="0"/>
                  </a:moveTo>
                  <a:lnTo>
                    <a:pt x="19653845" y="0"/>
                  </a:lnTo>
                  <a:lnTo>
                    <a:pt x="19653845" y="1120997"/>
                  </a:lnTo>
                  <a:lnTo>
                    <a:pt x="0" y="112099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TextBox 20"/>
            <p:cNvSpPr/>
            <p:nvPr/>
          </p:nvSpPr>
          <p:spPr>
            <a:xfrm>
              <a:off x="1592640" y="6212880"/>
              <a:ext cx="14740200" cy="91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447840" lvl="1" indent="-223920" defTabSz="914400">
                <a:lnSpc>
                  <a:spcPts val="3319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Job seekers benefit from personalized feedback, helping them improve their resumes and boosting their chances of securing jobs.</a:t>
              </a:r>
              <a:endParaRPr lang="en-IN" sz="20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8" name="Group 21"/>
          <p:cNvGrpSpPr/>
          <p:nvPr/>
        </p:nvGrpSpPr>
        <p:grpSpPr>
          <a:xfrm>
            <a:off x="1592640" y="7539120"/>
            <a:ext cx="14740200" cy="911880"/>
            <a:chOff x="1592640" y="7539120"/>
            <a:chExt cx="14740200" cy="911880"/>
          </a:xfrm>
        </p:grpSpPr>
        <p:sp>
          <p:nvSpPr>
            <p:cNvPr id="519" name="Freeform 22"/>
            <p:cNvSpPr/>
            <p:nvPr/>
          </p:nvSpPr>
          <p:spPr>
            <a:xfrm>
              <a:off x="1592640" y="7610760"/>
              <a:ext cx="14740200" cy="840240"/>
            </a:xfrm>
            <a:custGeom>
              <a:avLst/>
              <a:gdLst>
                <a:gd name="textAreaLeft" fmla="*/ 0 w 14740200"/>
                <a:gd name="textAreaRight" fmla="*/ 14740560 w 14740200"/>
                <a:gd name="textAreaTop" fmla="*/ 0 h 840240"/>
                <a:gd name="textAreaBottom" fmla="*/ 840600 h 840240"/>
              </a:gdLst>
              <a:ahLst/>
              <a:cxnLst/>
              <a:rect l="textAreaLeft" t="textAreaTop" r="textAreaRight" b="textAreaBottom"/>
              <a:pathLst>
                <a:path w="19653845" h="1120997">
                  <a:moveTo>
                    <a:pt x="0" y="0"/>
                  </a:moveTo>
                  <a:lnTo>
                    <a:pt x="19653845" y="0"/>
                  </a:lnTo>
                  <a:lnTo>
                    <a:pt x="19653845" y="1120997"/>
                  </a:lnTo>
                  <a:lnTo>
                    <a:pt x="0" y="1120997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0" name="TextBox 23"/>
            <p:cNvSpPr/>
            <p:nvPr/>
          </p:nvSpPr>
          <p:spPr>
            <a:xfrm>
              <a:off x="1592640" y="7539120"/>
              <a:ext cx="14740200" cy="91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447840" lvl="1" indent="-223920" defTabSz="914400">
                <a:lnSpc>
                  <a:spcPts val="3319"/>
                </a:lnSpc>
                <a:buClr>
                  <a:srgbClr val="404155"/>
                </a:buClr>
                <a:buFont typeface="Arial"/>
                <a:buChar char="•"/>
              </a:pPr>
              <a:r>
                <a:rPr lang="en-US" sz="2070" b="1" u="none" strike="noStrike">
                  <a:solidFill>
                    <a:srgbClr val="404155"/>
                  </a:solidFill>
                  <a:effectLst/>
                  <a:uFillTx/>
                  <a:latin typeface="Arimo Bold"/>
                  <a:ea typeface="Arimo Bold"/>
                </a:rPr>
                <a:t>The system creates a bridge between recruiters and candidates, fostering a transparent and data-driven recruitment process.</a:t>
              </a:r>
              <a:endParaRPr lang="en-IN" sz="207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dffd8"/>
            </a:gs>
            <a:gs pos="100000">
              <a:srgbClr val="94b9ff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Freeform 2"/>
          <p:cNvSpPr/>
          <p:nvPr/>
        </p:nvSpPr>
        <p:spPr>
          <a:xfrm>
            <a:off x="6202440" y="2712960"/>
            <a:ext cx="5882400" cy="4860360"/>
          </a:xfrm>
          <a:custGeom>
            <a:avLst/>
            <a:gdLst>
              <a:gd name="textAreaLeft" fmla="*/ 0 w 5882400"/>
              <a:gd name="textAreaRight" fmla="*/ 5882760 w 5882400"/>
              <a:gd name="textAreaTop" fmla="*/ 0 h 4860360"/>
              <a:gd name="textAreaBottom" fmla="*/ 4860720 h 4860360"/>
            </a:gdLst>
            <a:ahLst/>
            <a:cxnLst/>
            <a:rect l="textAreaLeft" t="textAreaTop" r="textAreaRight" b="textAreaBottom"/>
            <a:pathLst>
              <a:path w="5882904" h="4860874">
                <a:moveTo>
                  <a:pt x="0" y="0"/>
                </a:moveTo>
                <a:lnTo>
                  <a:pt x="5882904" y="0"/>
                </a:lnTo>
                <a:lnTo>
                  <a:pt x="5882904" y="4860874"/>
                </a:lnTo>
                <a:lnTo>
                  <a:pt x="0" y="48608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DAGmlpItYCk</dc:identifier>
  <dc:language>en-IN</dc:language>
  <cp:lastModifiedBy/>
  <dcterms:modified xsi:type="dcterms:W3CDTF">2026-01-19T21:17:44Z</dcterms:modified>
  <cp:revision>2</cp:revision>
  <dc:subject/>
  <dc:title>No clear feedback for job seekers.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